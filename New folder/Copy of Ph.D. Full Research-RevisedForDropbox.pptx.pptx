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1.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drawingml.chart+xml" PartName="/ppt/charts/chart1.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drawingml.chartshapes+xml" PartName="/ppt/drawings/drawing1.xml"/>
  <Override ContentType="application/vnd.ms-office.chartstyle+xml" PartName="/ppt/charts/style1.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Lst>
  <p:sldSz cy="6858000" cx="12192000"/>
  <p:notesSz cx="6858000" cy="9144000"/>
  <p:embeddedFontLst>
    <p:embeddedFont>
      <p:font typeface="Cambria Math"/>
      <p:regular r:id="rId9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8" roundtripDataSignature="AMtx7mgQdDSms/UDKN83drUfy6+p3s5yH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9DDE7E-9724-48D9-AE5E-17B0CC1A242E}">
  <a:tblStyle styleId="{339DDE7E-9724-48D9-AE5E-17B0CC1A24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font" Target="fonts/CambriaMath-regular.fntdata"/><Relationship Id="rId96" Type="http://schemas.openxmlformats.org/officeDocument/2006/relationships/slide" Target="slides/slide90.xml"/><Relationship Id="rId11" Type="http://schemas.openxmlformats.org/officeDocument/2006/relationships/slide" Target="slides/slide5.xml"/><Relationship Id="rId10" Type="http://schemas.openxmlformats.org/officeDocument/2006/relationships/slide" Target="slides/slide4.xml"/><Relationship Id="rId98"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r>
              <a:rPr lang="en-US" sz="1400" b="0">
                <a:solidFill>
                  <a:sysClr val="windowText" lastClr="000000"/>
                </a:solidFill>
                <a:latin typeface="Times New Roman" panose="02020603050405020304" pitchFamily="18" charset="0"/>
                <a:cs typeface="Times New Roman" panose="02020603050405020304" pitchFamily="18" charset="0"/>
              </a:rPr>
              <a:t>Mean of CCE% intervals vs Corrosponding Squarcity Index (SI)</a:t>
            </a:r>
          </a:p>
        </c:rich>
      </c:tx>
      <c:layout>
        <c:manualLayout>
          <c:xMode val="edge"/>
          <c:yMode val="edge"/>
          <c:x val="0.17952377946219217"/>
          <c:y val="3.5861491722983446E-2"/>
        </c:manualLayout>
      </c:layout>
      <c:overlay val="0"/>
      <c:spPr>
        <a:noFill/>
        <a:ln>
          <a:noFill/>
        </a:ln>
        <a:effectLst/>
      </c:spPr>
      <c:txPr>
        <a:bodyPr rot="0" spcFirstLastPara="1" vertOverflow="ellipsis" vert="horz" wrap="square" anchor="ctr" anchorCtr="1"/>
        <a:lstStyle/>
        <a:p>
          <a:pPr>
            <a:defRPr sz="1600" b="1" i="0" u="none" strike="noStrike" kern="1200" cap="none" spc="0" normalizeH="0" baseline="0">
              <a:solidFill>
                <a:schemeClr val="dk1">
                  <a:lumMod val="50000"/>
                  <a:lumOff val="50000"/>
                </a:schemeClr>
              </a:solidFill>
              <a:latin typeface="+mj-lt"/>
              <a:ea typeface="+mj-ea"/>
              <a:cs typeface="+mj-cs"/>
            </a:defRPr>
          </a:pPr>
          <a:endParaRPr lang="en-US"/>
        </a:p>
      </c:txPr>
    </c:title>
    <c:autoTitleDeleted val="0"/>
    <c:plotArea>
      <c:layout>
        <c:manualLayout>
          <c:layoutTarget val="inner"/>
          <c:xMode val="edge"/>
          <c:yMode val="edge"/>
          <c:x val="0.18294312846690208"/>
          <c:y val="0.13445578231292518"/>
          <c:w val="0.70394028529992547"/>
          <c:h val="0.71866222079382935"/>
        </c:manualLayout>
      </c:layout>
      <c:scatterChart>
        <c:scatterStyle val="lineMarker"/>
        <c:varyColors val="0"/>
        <c:ser>
          <c:idx val="0"/>
          <c:order val="0"/>
          <c:spPr>
            <a:ln w="25400" cap="rnd">
              <a:noFill/>
              <a:round/>
            </a:ln>
            <a:effectLst/>
          </c:spPr>
          <c:marker>
            <c:symbol val="diamond"/>
            <c:size val="6"/>
            <c:spPr>
              <a:solidFill>
                <a:srgbClr val="FF0000"/>
              </a:solidFill>
              <a:ln w="15875">
                <a:solidFill>
                  <a:schemeClr val="accent1"/>
                </a:solidFill>
                <a:round/>
              </a:ln>
              <a:effectLst/>
            </c:spPr>
          </c:marker>
          <c:xVal>
            <c:numRef>
              <c:f>'Sheet1 CCE'!$Q$94:$Q$97</c:f>
              <c:numCache>
                <c:formatCode>0.00</c:formatCode>
                <c:ptCount val="4"/>
                <c:pt idx="0">
                  <c:v>-0.63</c:v>
                </c:pt>
                <c:pt idx="1">
                  <c:v>-0.56999999999999995</c:v>
                </c:pt>
                <c:pt idx="2">
                  <c:v>-0.45</c:v>
                </c:pt>
                <c:pt idx="3">
                  <c:v>-0.42</c:v>
                </c:pt>
              </c:numCache>
            </c:numRef>
          </c:xVal>
          <c:yVal>
            <c:numRef>
              <c:f>'Sheet1 CCE'!$P$94:$P$97</c:f>
              <c:numCache>
                <c:formatCode>0.00</c:formatCode>
                <c:ptCount val="4"/>
                <c:pt idx="0">
                  <c:v>72.5</c:v>
                </c:pt>
                <c:pt idx="1">
                  <c:v>81.5</c:v>
                </c:pt>
                <c:pt idx="2">
                  <c:v>89.5</c:v>
                </c:pt>
                <c:pt idx="3">
                  <c:v>96</c:v>
                </c:pt>
              </c:numCache>
            </c:numRef>
          </c:yVal>
          <c:smooth val="0"/>
          <c:extLst>
            <c:ext xmlns:c16="http://schemas.microsoft.com/office/drawing/2014/chart" uri="{C3380CC4-5D6E-409C-BE32-E72D297353CC}">
              <c16:uniqueId val="{00000000-634D-4548-9A4A-0CEEEABCCA99}"/>
            </c:ext>
          </c:extLst>
        </c:ser>
        <c:dLbls>
          <c:showLegendKey val="0"/>
          <c:showVal val="0"/>
          <c:showCatName val="0"/>
          <c:showSerName val="0"/>
          <c:showPercent val="0"/>
          <c:showBubbleSize val="0"/>
        </c:dLbls>
        <c:axId val="823391312"/>
        <c:axId val="823384424"/>
      </c:scatterChart>
      <c:valAx>
        <c:axId val="823391312"/>
        <c:scaling>
          <c:orientation val="minMax"/>
          <c:max val="-0.4"/>
          <c:min val="-0.70000000000000007"/>
        </c:scaling>
        <c:delete val="0"/>
        <c:axPos val="b"/>
        <c:majorGridlines>
          <c:spPr>
            <a:ln w="9525" cap="flat" cmpd="sng" algn="ctr">
              <a:solidFill>
                <a:schemeClr val="dk1">
                  <a:lumMod val="15000"/>
                  <a:lumOff val="85000"/>
                </a:schemeClr>
              </a:solidFill>
              <a:round/>
            </a:ln>
            <a:effectLst/>
          </c:spPr>
        </c:majorGridlines>
        <c:title>
          <c:tx>
            <c:rich>
              <a:bodyPr rot="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r>
                  <a:rPr lang="en-US" sz="1200" b="0">
                    <a:solidFill>
                      <a:sysClr val="windowText" lastClr="000000"/>
                    </a:solidFill>
                    <a:latin typeface="Times New Roman" panose="02020603050405020304" pitchFamily="18" charset="0"/>
                    <a:cs typeface="Times New Roman" panose="02020603050405020304" pitchFamily="18" charset="0"/>
                  </a:rPr>
                  <a:t>Squarcity</a:t>
                </a:r>
                <a:r>
                  <a:rPr lang="en-US" sz="1200" b="0" baseline="0">
                    <a:solidFill>
                      <a:sysClr val="windowText" lastClr="000000"/>
                    </a:solidFill>
                    <a:latin typeface="Times New Roman" panose="02020603050405020304" pitchFamily="18" charset="0"/>
                    <a:cs typeface="Times New Roman" panose="02020603050405020304" pitchFamily="18" charset="0"/>
                  </a:rPr>
                  <a:t> Index (SI)</a:t>
                </a:r>
                <a:endParaRPr lang="en-US" sz="1200" b="0">
                  <a:solidFill>
                    <a:sysClr val="windowText" lastClr="000000"/>
                  </a:solidFill>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title>
        <c:numFmt formatCode="0.00" sourceLinked="1"/>
        <c:majorTickMark val="none"/>
        <c:minorTickMark val="none"/>
        <c:tickLblPos val="low"/>
        <c:spPr>
          <a:noFill/>
          <a:ln w="9525" cap="flat" cmpd="sng" algn="ctr">
            <a:solidFill>
              <a:schemeClr val="dk1">
                <a:lumMod val="15000"/>
                <a:lumOff val="85000"/>
                <a:alpha val="54000"/>
              </a:schemeClr>
            </a:solidFill>
            <a:round/>
          </a:ln>
          <a:effectLst/>
        </c:spPr>
        <c:txPr>
          <a:bodyPr rot="-600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crossAx val="823384424"/>
        <c:crosses val="autoZero"/>
        <c:crossBetween val="midCat"/>
      </c:valAx>
      <c:valAx>
        <c:axId val="823384424"/>
        <c:scaling>
          <c:orientation val="minMax"/>
          <c:max val="100"/>
          <c:min val="65"/>
        </c:scaling>
        <c:delete val="0"/>
        <c:axPos val="l"/>
        <c:majorGridlines>
          <c:spPr>
            <a:ln w="9525" cap="flat" cmpd="sng" algn="ctr">
              <a:solidFill>
                <a:schemeClr val="dk1">
                  <a:lumMod val="15000"/>
                  <a:lumOff val="85000"/>
                </a:schemeClr>
              </a:solidFill>
              <a:round/>
            </a:ln>
            <a:effectLst/>
          </c:spPr>
        </c:majorGridlines>
        <c:title>
          <c:tx>
            <c:rich>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rich>
          </c:tx>
          <c:overlay val="0"/>
          <c:spPr>
            <a:noFill/>
            <a:ln>
              <a:noFill/>
            </a:ln>
            <a:effectLst/>
          </c:spPr>
          <c:txPr>
            <a:bodyPr rot="-5400000" spcFirstLastPara="1" vertOverflow="ellipsis" vert="horz"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title>
        <c:numFmt formatCode="0.00" sourceLinked="1"/>
        <c:majorTickMark val="none"/>
        <c:minorTickMark val="none"/>
        <c:tickLblPos val="low"/>
        <c:spPr>
          <a:noFill/>
          <a:ln w="9525" cap="flat" cmpd="sng" algn="ctr">
            <a:solidFill>
              <a:schemeClr val="dk1">
                <a:lumMod val="15000"/>
                <a:lumOff val="85000"/>
                <a:alpha val="54000"/>
              </a:schemeClr>
            </a:solidFill>
            <a:round/>
          </a:ln>
          <a:effectLst/>
        </c:spPr>
        <c:txPr>
          <a:bodyPr rot="0" spcFirstLastPara="1" vertOverflow="ellipsis" wrap="square" anchor="ctr" anchorCtr="1"/>
          <a:lstStyle/>
          <a:p>
            <a:pPr>
              <a:defRPr sz="900" b="1" i="0" u="none" strike="noStrike" kern="1200" baseline="0">
                <a:solidFill>
                  <a:schemeClr val="dk1">
                    <a:lumMod val="65000"/>
                    <a:lumOff val="35000"/>
                  </a:schemeClr>
                </a:solidFill>
                <a:latin typeface="+mn-lt"/>
                <a:ea typeface="+mn-ea"/>
                <a:cs typeface="+mn-cs"/>
              </a:defRPr>
            </a:pPr>
            <a:endParaRPr lang="en-US"/>
          </a:p>
        </c:txPr>
        <c:crossAx val="823391312"/>
        <c:crosses val="autoZero"/>
        <c:crossBetween val="midCat"/>
      </c:valAx>
      <c:spPr>
        <a:pattFill prst="ltDnDiag">
          <a:fgClr>
            <a:schemeClr val="dk1">
              <a:lumMod val="15000"/>
              <a:lumOff val="85000"/>
            </a:schemeClr>
          </a:fgClr>
          <a:bgClr>
            <a:schemeClr val="lt1"/>
          </a:bgClr>
        </a:patt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0">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spPr>
      <a:ln w="9525" cap="flat" cmpd="sng" algn="ctr">
        <a:solidFill>
          <a:schemeClr val="dk1">
            <a:lumMod val="15000"/>
            <a:lumOff val="85000"/>
            <a:alpha val="54000"/>
          </a:schemeClr>
        </a:solidFill>
        <a:round/>
      </a:ln>
    </cs:spPr>
    <cs:defRPr sz="900" kern="1200" cap="none" spc="0" normalizeH="0" baseline="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tx1"/>
    </cs:fontRef>
    <cs:spPr>
      <a:ln w="9525" cap="rnd">
        <a:solidFill>
          <a:schemeClr val="phClr">
            <a:alpha val="50000"/>
          </a:schemeClr>
        </a:solidFill>
        <a:round/>
      </a:ln>
    </cs:spPr>
  </cs:dataPointLine>
  <cs:dataPointMarker>
    <cs:lnRef idx="0">
      <cs:styleClr val="auto"/>
    </cs:lnRef>
    <cs:fillRef idx="0">
      <cs:styleClr val="auto"/>
    </cs:fillRef>
    <cs:effectRef idx="0"/>
    <cs:fontRef idx="minor">
      <a:schemeClr val="dk1"/>
    </cs:fontRef>
    <cs:spPr>
      <a:solidFill>
        <a:schemeClr val="lt1"/>
      </a:solidFill>
      <a:ln w="1587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800"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50000"/>
            <a:lumOff val="50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50000"/>
            <a:lumOff val="50000"/>
          </a:schemeClr>
        </a:solidFill>
        <a:round/>
      </a:ln>
    </cs:spPr>
  </cs:errorBar>
  <cs:floor>
    <cs:lnRef idx="0"/>
    <cs:fillRef idx="0"/>
    <cs:effectRef idx="0"/>
    <cs:fontRef idx="minor">
      <a:schemeClr val="dk1"/>
    </cs:fontRef>
    <cs:spPr>
      <a:pattFill prst="ltDnDiag">
        <a:fgClr>
          <a:schemeClr val="dk1">
            <a:lumMod val="15000"/>
            <a:lumOff val="85000"/>
          </a:schemeClr>
        </a:fgClr>
        <a:bgClr>
          <a:schemeClr val="lt1"/>
        </a:bgClr>
      </a:pattFill>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15000"/>
            <a:lumOff val="85000"/>
          </a:schemeClr>
        </a:solidFill>
        <a:round/>
      </a:ln>
    </cs:spPr>
  </cs:gridlineMinor>
  <cs:hiLoLine>
    <cs:lnRef idx="0"/>
    <cs:fillRef idx="0"/>
    <cs:effectRef idx="0"/>
    <cs:fontRef idx="minor">
      <a:schemeClr val="dk1"/>
    </cs:fontRef>
    <cs:spPr>
      <a:ln w="9525" cap="flat" cmpd="sng" algn="ctr">
        <a:solidFill>
          <a:schemeClr val="dk1">
            <a:lumMod val="35000"/>
            <a:lumOff val="65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pattFill prst="ltDnDiag">
        <a:fgClr>
          <a:schemeClr val="dk1">
            <a:lumMod val="15000"/>
            <a:lumOff val="85000"/>
          </a:schemeClr>
        </a:fgClr>
        <a:bgClr>
          <a:schemeClr val="lt1"/>
        </a:bgClr>
      </a:pattFill>
    </cs:spPr>
  </cs:plotArea>
  <cs:plotArea3D>
    <cs:lnRef idx="0"/>
    <cs:fillRef idx="0"/>
    <cs:effectRef idx="0"/>
    <cs:fontRef idx="minor">
      <a:schemeClr val="dk1"/>
    </cs:fontRef>
    <cs:spPr>
      <a:solidFill>
        <a:schemeClr val="lt1"/>
      </a:solidFill>
    </cs:spPr>
  </cs:plotArea3D>
  <cs:seriesAxis>
    <cs:lnRef idx="0"/>
    <cs:fillRef idx="0"/>
    <cs:effectRef idx="0"/>
    <cs:fontRef idx="minor">
      <a:schemeClr val="dk1">
        <a:lumMod val="65000"/>
        <a:lumOff val="35000"/>
      </a:schemeClr>
    </cs:fontRef>
    <cs:spPr>
      <a:ln w="9525" cap="flat" cmpd="sng" algn="ctr">
        <a:solidFill>
          <a:schemeClr val="dk1">
            <a:lumMod val="15000"/>
            <a:lumOff val="85000"/>
            <a:alpha val="54000"/>
          </a:schemeClr>
        </a:solidFill>
        <a:round/>
      </a:ln>
    </cs:spPr>
    <cs:defRPr sz="900"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ajor">
      <a:schemeClr val="dk1">
        <a:lumMod val="50000"/>
        <a:lumOff val="50000"/>
      </a:schemeClr>
    </cs:fontRef>
    <cs:defRPr sz="1600" b="1" kern="1200" cap="none" spc="0" normalizeH="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cap="flat" cmpd="sng" algn="ctr">
        <a:solidFill>
          <a:schemeClr val="dk1">
            <a:lumMod val="50000"/>
            <a:lumOff val="50000"/>
          </a:schemeClr>
        </a:solidFill>
        <a:round/>
      </a:ln>
    </cs:spPr>
  </cs:upBar>
  <cs:valueAxis>
    <cs:lnRef idx="0"/>
    <cs:fillRef idx="0"/>
    <cs:effectRef idx="0"/>
    <cs:fontRef idx="minor">
      <a:schemeClr val="dk1">
        <a:lumMod val="65000"/>
        <a:lumOff val="35000"/>
      </a:schemeClr>
    </cs:fontRef>
    <cs:spPr>
      <a:ln w="9525" cap="flat" cmpd="sng" algn="ctr">
        <a:solidFill>
          <a:schemeClr val="dk1">
            <a:lumMod val="15000"/>
            <a:lumOff val="85000"/>
            <a:alpha val="54000"/>
          </a:schemeClr>
        </a:solidFill>
        <a:round/>
      </a:ln>
    </cs:spPr>
    <cs:defRPr sz="900" kern="1200"/>
  </cs:valueAxis>
  <cs:wall>
    <cs:lnRef idx="0"/>
    <cs:fillRef idx="0"/>
    <cs:effectRef idx="0"/>
    <cs:fontRef idx="minor">
      <a:schemeClr val="dk1"/>
    </cs:fontRef>
    <cs:spPr>
      <a:pattFill prst="ltDnDiag">
        <a:fgClr>
          <a:schemeClr val="dk1">
            <a:lumMod val="15000"/>
            <a:lumOff val="85000"/>
          </a:schemeClr>
        </a:fgClr>
        <a:bgClr>
          <a:schemeClr val="lt1"/>
        </a:bgClr>
      </a:pattFill>
    </cs:spPr>
  </cs:wall>
</cs:chartStyle>
</file>

<file path=ppt/drawings/drawing1.xml><?xml version="1.0" encoding="utf-8"?>
<c:userShapes xmlns:c="http://schemas.openxmlformats.org/drawingml/2006/chart">
  <cdr:relSizeAnchor xmlns:cdr="http://schemas.openxmlformats.org/drawingml/2006/chartDrawing">
    <cdr:from>
      <cdr:x>0.02026</cdr:x>
      <cdr:y>0.46599</cdr:y>
    </cdr:from>
    <cdr:to>
      <cdr:x>0.10945</cdr:x>
      <cdr:y>0.51432</cdr:y>
    </cdr:to>
    <cdr:sp macro="" textlink="">
      <cdr:nvSpPr>
        <cdr:cNvPr id="4" name="TextBox 3">
          <a:extLst xmlns:a="http://schemas.openxmlformats.org/drawingml/2006/main">
            <a:ext uri="{FF2B5EF4-FFF2-40B4-BE49-F238E27FC236}">
              <a16:creationId xmlns:a16="http://schemas.microsoft.com/office/drawing/2014/main" id="{E0DE935A-C6B5-4C79-BA73-52577CC8E0B7}"/>
            </a:ext>
          </a:extLst>
        </cdr:cNvPr>
        <cdr:cNvSpPr txBox="1"/>
      </cdr:nvSpPr>
      <cdr:spPr>
        <a:xfrm xmlns:a="http://schemas.openxmlformats.org/drawingml/2006/main">
          <a:off x="99082" y="1739931"/>
          <a:ext cx="436080" cy="180434"/>
        </a:xfrm>
        <a:prstGeom xmlns:a="http://schemas.openxmlformats.org/drawingml/2006/main" prst="rect">
          <a:avLst/>
        </a:prstGeom>
        <a:noFill xmlns:a="http://schemas.openxmlformats.org/drawingml/2006/main"/>
      </cdr:spPr>
      <cdr:style>
        <a:lnRef xmlns:a="http://schemas.openxmlformats.org/drawingml/2006/main" idx="0">
          <a:scrgbClr r="0" g="0" b="0"/>
        </a:lnRef>
        <a:fillRef xmlns:a="http://schemas.openxmlformats.org/drawingml/2006/main" idx="0">
          <a:scrgbClr r="0" g="0" b="0"/>
        </a:fillRef>
        <a:effectRef xmlns:a="http://schemas.openxmlformats.org/drawingml/2006/main" idx="0">
          <a:scrgbClr r="0" g="0" b="0"/>
        </a:effectRef>
        <a:fontRef xmlns:a="http://schemas.openxmlformats.org/drawingml/2006/main" idx="minor">
          <a:schemeClr val="tx1"/>
        </a:fontRef>
      </cdr:style>
      <cdr:txBody>
        <a:bodyPr xmlns:a="http://schemas.openxmlformats.org/drawingml/2006/main" wrap="none" lIns="0" tIns="0" rIns="0" bIns="0" rtlCol="0" anchor="t">
          <a:spAutoFit/>
        </a:bodyPr>
        <a:lstStyle xmlns:a="http://schemas.openxmlformats.org/drawingml/2006/main">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xmlns:a="http://schemas.openxmlformats.org/drawingml/2006/main">
          <a:r>
            <a:rPr lang="en-US" sz="1200" i="0">
              <a:latin typeface="Cambria Math" panose="02040503050406030204" pitchFamily="18" charset="0"/>
            </a:rPr>
            <a:t>C</a:t>
          </a:r>
          <a:r>
            <a:rPr lang="en-US" sz="1200" b="0" i="0">
              <a:latin typeface="Cambria Math" panose="02040503050406030204" pitchFamily="18" charset="0"/>
            </a:rPr>
            <a:t>CE%</a:t>
          </a:r>
          <a:endParaRPr lang="en-US" sz="1100" i="0">
            <a:latin typeface="Times New Roman" panose="02020603050405020304" pitchFamily="18" charset="0"/>
            <a:cs typeface="Times New Roman" panose="02020603050405020304" pitchFamily="18" charset="0"/>
          </a:endParaRP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0" name="Google Shape;3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3" name="Google Shape;53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0" name="Google Shape;59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4" name="Google Shape;63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6" name="Google Shape;64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8" name="Google Shape;65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6" name="Google Shape;676;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9" name="Google Shape;839;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7" name="Google Shape;867;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3" name="Google Shape;873;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9" name="Google Shape;879;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5" name="Google Shape;885;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1" name="Google Shape;891;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7" name="Google Shape;89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3" name="Google Shape;903;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9" name="Google Shape;909;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5" name="Google Shape;915;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1" name="Google Shape;921;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7" name="Google Shape;927;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1" name="Shape 931"/>
        <p:cNvGrpSpPr/>
        <p:nvPr/>
      </p:nvGrpSpPr>
      <p:grpSpPr>
        <a:xfrm>
          <a:off x="0" y="0"/>
          <a:ext cx="0" cy="0"/>
          <a:chOff x="0" y="0"/>
          <a:chExt cx="0" cy="0"/>
        </a:xfrm>
      </p:grpSpPr>
      <p:sp>
        <p:nvSpPr>
          <p:cNvPr id="932" name="Google Shape;932;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3" name="Google Shape;933;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9" name="Google Shape;939;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5" name="Google Shape;945;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1" name="Google Shape;951;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5" name="Shape 955"/>
        <p:cNvGrpSpPr/>
        <p:nvPr/>
      </p:nvGrpSpPr>
      <p:grpSpPr>
        <a:xfrm>
          <a:off x="0" y="0"/>
          <a:ext cx="0" cy="0"/>
          <a:chOff x="0" y="0"/>
          <a:chExt cx="0" cy="0"/>
        </a:xfrm>
      </p:grpSpPr>
      <p:sp>
        <p:nvSpPr>
          <p:cNvPr id="956" name="Google Shape;956;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7" name="Google Shape;957;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2" name="Google Shape;972;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0" name="Google Shape;980;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8" name="Google Shape;988;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7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6" name="Google Shape;996;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1" name="Google Shape;1001;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6" name="Google Shape;1006;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8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2" name="Google Shape;1012;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8" name="Google Shape;1018;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4" name="Google Shape;1024;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0" name="Google Shape;1030;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4" name="Shape 1034"/>
        <p:cNvGrpSpPr/>
        <p:nvPr/>
      </p:nvGrpSpPr>
      <p:grpSpPr>
        <a:xfrm>
          <a:off x="0" y="0"/>
          <a:ext cx="0" cy="0"/>
          <a:chOff x="0" y="0"/>
          <a:chExt cx="0" cy="0"/>
        </a:xfrm>
      </p:grpSpPr>
      <p:sp>
        <p:nvSpPr>
          <p:cNvPr id="1035" name="Google Shape;1035;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6" name="Google Shape;103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0" name="Shape 1040"/>
        <p:cNvGrpSpPr/>
        <p:nvPr/>
      </p:nvGrpSpPr>
      <p:grpSpPr>
        <a:xfrm>
          <a:off x="0" y="0"/>
          <a:ext cx="0" cy="0"/>
          <a:chOff x="0" y="0"/>
          <a:chExt cx="0" cy="0"/>
        </a:xfrm>
      </p:grpSpPr>
      <p:sp>
        <p:nvSpPr>
          <p:cNvPr id="1041" name="Google Shape;1041;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2" name="Google Shape;1042;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8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8" name="Google Shape;1048;p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p8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4" name="Google Shape;1054;p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8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0" name="Google Shape;1060;p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9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6" name="Google Shape;1066;p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9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p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9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8" name="Google Shape;1078;p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9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4" name="Google Shape;1084;p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9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0" name="Google Shape;1090;p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9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6" name="Google Shape;1096;p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9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p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1" name="Shape 1111"/>
        <p:cNvGrpSpPr/>
        <p:nvPr/>
      </p:nvGrpSpPr>
      <p:grpSpPr>
        <a:xfrm>
          <a:off x="0" y="0"/>
          <a:ext cx="0" cy="0"/>
          <a:chOff x="0" y="0"/>
          <a:chExt cx="0" cy="0"/>
        </a:xfrm>
      </p:grpSpPr>
      <p:sp>
        <p:nvSpPr>
          <p:cNvPr id="1112" name="Google Shape;1112;p9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3" name="Google Shape;1113;p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9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8" name="Google Shape;1118;p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9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p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10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0" name="Google Shape;1130;p1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10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6" name="Google Shape;1136;p1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p10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2" name="Google Shape;1142;p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5" name="Shape 1145"/>
        <p:cNvGrpSpPr/>
        <p:nvPr/>
      </p:nvGrpSpPr>
      <p:grpSpPr>
        <a:xfrm>
          <a:off x="0" y="0"/>
          <a:ext cx="0" cy="0"/>
          <a:chOff x="0" y="0"/>
          <a:chExt cx="0" cy="0"/>
        </a:xfrm>
      </p:grpSpPr>
      <p:sp>
        <p:nvSpPr>
          <p:cNvPr id="1146" name="Google Shape;1146;p10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7" name="Google Shape;1147;p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10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1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p10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9" name="Google Shape;1159;p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10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5" name="Google Shape;1165;p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 name="Shape 15"/>
        <p:cNvGrpSpPr/>
        <p:nvPr/>
      </p:nvGrpSpPr>
      <p:grpSpPr>
        <a:xfrm>
          <a:off x="0" y="0"/>
          <a:ext cx="0" cy="0"/>
          <a:chOff x="0" y="0"/>
          <a:chExt cx="0" cy="0"/>
        </a:xfrm>
      </p:grpSpPr>
      <p:sp>
        <p:nvSpPr>
          <p:cNvPr id="16" name="Google Shape;16;p1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1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1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1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11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1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1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1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1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2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2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2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2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2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1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1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25"/>
          <p:cNvSpPr/>
          <p:nvPr>
            <p:ph idx="2" type="pic"/>
          </p:nvPr>
        </p:nvSpPr>
        <p:spPr>
          <a:xfrm>
            <a:off x="5183188" y="987425"/>
            <a:ext cx="6172200" cy="4873625"/>
          </a:xfrm>
          <a:prstGeom prst="rect">
            <a:avLst/>
          </a:prstGeom>
          <a:noFill/>
          <a:ln>
            <a:noFill/>
          </a:ln>
        </p:spPr>
      </p:sp>
      <p:sp>
        <p:nvSpPr>
          <p:cNvPr id="68" name="Google Shape;68;p1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1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93" name="Google Shape;93;p1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4" name="Shape 84"/>
        <p:cNvGrpSpPr/>
        <p:nvPr/>
      </p:nvGrpSpPr>
      <p:grpSpPr>
        <a:xfrm>
          <a:off x="0" y="0"/>
          <a:ext cx="0" cy="0"/>
          <a:chOff x="0" y="0"/>
          <a:chExt cx="0" cy="0"/>
        </a:xfrm>
      </p:grpSpPr>
      <p:sp>
        <p:nvSpPr>
          <p:cNvPr id="85" name="Google Shape;85;p1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Calibri"/>
              <a:buNone/>
              <a:defRPr b="0" i="0" sz="44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1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9pPr>
          </a:lstStyle>
          <a:p/>
        </p:txBody>
      </p:sp>
      <p:sp>
        <p:nvSpPr>
          <p:cNvPr id="87" name="Google Shape;87;p1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88" name="Google Shape;88;p1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89" name="Google Shape;89;p1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200" u="none">
                <a:solidFill>
                  <a:schemeClr val="lt1"/>
                </a:solidFill>
                <a:latin typeface="Calibri"/>
                <a:ea typeface="Calibri"/>
                <a:cs typeface="Calibri"/>
                <a:sym typeface="Calibri"/>
              </a:defRPr>
            </a:lvl1pPr>
            <a:lvl2pPr indent="0" lvl="1" marL="0" marR="0" rtl="0" algn="r">
              <a:spcBef>
                <a:spcPts val="0"/>
              </a:spcBef>
              <a:buNone/>
              <a:defRPr b="0" sz="1200" u="none">
                <a:solidFill>
                  <a:schemeClr val="lt1"/>
                </a:solidFill>
                <a:latin typeface="Calibri"/>
                <a:ea typeface="Calibri"/>
                <a:cs typeface="Calibri"/>
                <a:sym typeface="Calibri"/>
              </a:defRPr>
            </a:lvl2pPr>
            <a:lvl3pPr indent="0" lvl="2" marL="0" marR="0" rtl="0" algn="r">
              <a:spcBef>
                <a:spcPts val="0"/>
              </a:spcBef>
              <a:buNone/>
              <a:defRPr b="0" sz="1200" u="none">
                <a:solidFill>
                  <a:schemeClr val="lt1"/>
                </a:solidFill>
                <a:latin typeface="Calibri"/>
                <a:ea typeface="Calibri"/>
                <a:cs typeface="Calibri"/>
                <a:sym typeface="Calibri"/>
              </a:defRPr>
            </a:lvl3pPr>
            <a:lvl4pPr indent="0" lvl="3" marL="0" marR="0" rtl="0" algn="r">
              <a:spcBef>
                <a:spcPts val="0"/>
              </a:spcBef>
              <a:buNone/>
              <a:defRPr b="0" sz="1200" u="none">
                <a:solidFill>
                  <a:schemeClr val="lt1"/>
                </a:solidFill>
                <a:latin typeface="Calibri"/>
                <a:ea typeface="Calibri"/>
                <a:cs typeface="Calibri"/>
                <a:sym typeface="Calibri"/>
              </a:defRPr>
            </a:lvl4pPr>
            <a:lvl5pPr indent="0" lvl="4" marL="0" marR="0" rtl="0" algn="r">
              <a:spcBef>
                <a:spcPts val="0"/>
              </a:spcBef>
              <a:buNone/>
              <a:defRPr b="0" sz="1200" u="none">
                <a:solidFill>
                  <a:schemeClr val="lt1"/>
                </a:solidFill>
                <a:latin typeface="Calibri"/>
                <a:ea typeface="Calibri"/>
                <a:cs typeface="Calibri"/>
                <a:sym typeface="Calibri"/>
              </a:defRPr>
            </a:lvl5pPr>
            <a:lvl6pPr indent="0" lvl="5" marL="0" marR="0" rtl="0" algn="r">
              <a:spcBef>
                <a:spcPts val="0"/>
              </a:spcBef>
              <a:buNone/>
              <a:defRPr b="0" sz="1200" u="none">
                <a:solidFill>
                  <a:schemeClr val="lt1"/>
                </a:solidFill>
                <a:latin typeface="Calibri"/>
                <a:ea typeface="Calibri"/>
                <a:cs typeface="Calibri"/>
                <a:sym typeface="Calibri"/>
              </a:defRPr>
            </a:lvl6pPr>
            <a:lvl7pPr indent="0" lvl="6" marL="0" marR="0" rtl="0" algn="r">
              <a:spcBef>
                <a:spcPts val="0"/>
              </a:spcBef>
              <a:buNone/>
              <a:defRPr b="0" sz="1200" u="none">
                <a:solidFill>
                  <a:schemeClr val="lt1"/>
                </a:solidFill>
                <a:latin typeface="Calibri"/>
                <a:ea typeface="Calibri"/>
                <a:cs typeface="Calibri"/>
                <a:sym typeface="Calibri"/>
              </a:defRPr>
            </a:lvl7pPr>
            <a:lvl8pPr indent="0" lvl="7" marL="0" marR="0" rtl="0" algn="r">
              <a:spcBef>
                <a:spcPts val="0"/>
              </a:spcBef>
              <a:buNone/>
              <a:defRPr b="0" sz="1200" u="none">
                <a:solidFill>
                  <a:schemeClr val="lt1"/>
                </a:solidFill>
                <a:latin typeface="Calibri"/>
                <a:ea typeface="Calibri"/>
                <a:cs typeface="Calibri"/>
                <a:sym typeface="Calibri"/>
              </a:defRPr>
            </a:lvl8pPr>
            <a:lvl9pPr indent="0" lvl="8" marL="0" marR="0" rtl="0" algn="r">
              <a:spcBef>
                <a:spcPts val="0"/>
              </a:spcBef>
              <a:buNone/>
              <a:defRPr b="0" sz="1200" u="non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5.png"/><Relationship Id="rId4" Type="http://schemas.openxmlformats.org/officeDocument/2006/relationships/image" Target="../media/image17.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12.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5.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0" Type="http://schemas.openxmlformats.org/officeDocument/2006/relationships/image" Target="../media/image40.png"/><Relationship Id="rId11" Type="http://schemas.openxmlformats.org/officeDocument/2006/relationships/image" Target="../media/image38.png"/><Relationship Id="rId22" Type="http://schemas.openxmlformats.org/officeDocument/2006/relationships/image" Target="../media/image43.png"/><Relationship Id="rId10" Type="http://schemas.openxmlformats.org/officeDocument/2006/relationships/image" Target="../media/image29.png"/><Relationship Id="rId21" Type="http://schemas.openxmlformats.org/officeDocument/2006/relationships/image" Target="../media/image31.png"/><Relationship Id="rId13" Type="http://schemas.openxmlformats.org/officeDocument/2006/relationships/image" Target="../media/image34.png"/><Relationship Id="rId24" Type="http://schemas.openxmlformats.org/officeDocument/2006/relationships/image" Target="../media/image37.png"/><Relationship Id="rId12" Type="http://schemas.openxmlformats.org/officeDocument/2006/relationships/image" Target="../media/image23.png"/><Relationship Id="rId23" Type="http://schemas.openxmlformats.org/officeDocument/2006/relationships/image" Target="../media/image47.png"/><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32.png"/><Relationship Id="rId15" Type="http://schemas.openxmlformats.org/officeDocument/2006/relationships/image" Target="../media/image39.png"/><Relationship Id="rId14" Type="http://schemas.openxmlformats.org/officeDocument/2006/relationships/image" Target="../media/image33.png"/><Relationship Id="rId17" Type="http://schemas.openxmlformats.org/officeDocument/2006/relationships/image" Target="../media/image36.png"/><Relationship Id="rId16" Type="http://schemas.openxmlformats.org/officeDocument/2006/relationships/image" Target="../media/image26.png"/><Relationship Id="rId5" Type="http://schemas.openxmlformats.org/officeDocument/2006/relationships/image" Target="../media/image16.png"/><Relationship Id="rId19" Type="http://schemas.openxmlformats.org/officeDocument/2006/relationships/image" Target="../media/image42.png"/><Relationship Id="rId6" Type="http://schemas.openxmlformats.org/officeDocument/2006/relationships/image" Target="../media/image18.png"/><Relationship Id="rId18" Type="http://schemas.openxmlformats.org/officeDocument/2006/relationships/image" Target="../media/image41.png"/><Relationship Id="rId7" Type="http://schemas.openxmlformats.org/officeDocument/2006/relationships/image" Target="../media/image30.png"/><Relationship Id="rId8"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9.png"/><Relationship Id="rId4" Type="http://schemas.openxmlformats.org/officeDocument/2006/relationships/image" Target="../media/image46.png"/><Relationship Id="rId5" Type="http://schemas.openxmlformats.org/officeDocument/2006/relationships/image" Target="../media/image4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0" Type="http://schemas.openxmlformats.org/officeDocument/2006/relationships/image" Target="../media/image58.png"/><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8.png"/><Relationship Id="rId4" Type="http://schemas.openxmlformats.org/officeDocument/2006/relationships/image" Target="../media/image50.png"/><Relationship Id="rId9" Type="http://schemas.openxmlformats.org/officeDocument/2006/relationships/image" Target="../media/image56.png"/><Relationship Id="rId5" Type="http://schemas.openxmlformats.org/officeDocument/2006/relationships/image" Target="../media/image53.png"/><Relationship Id="rId6" Type="http://schemas.openxmlformats.org/officeDocument/2006/relationships/image" Target="../media/image52.png"/><Relationship Id="rId7" Type="http://schemas.openxmlformats.org/officeDocument/2006/relationships/image" Target="../media/image44.png"/><Relationship Id="rId8" Type="http://schemas.openxmlformats.org/officeDocument/2006/relationships/image" Target="../media/image5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5.png"/><Relationship Id="rId4" Type="http://schemas.openxmlformats.org/officeDocument/2006/relationships/image" Target="../media/image57.png"/><Relationship Id="rId5" Type="http://schemas.openxmlformats.org/officeDocument/2006/relationships/image" Target="../media/image49.png"/><Relationship Id="rId6" Type="http://schemas.openxmlformats.org/officeDocument/2006/relationships/image" Target="../media/image6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0.png"/><Relationship Id="rId4" Type="http://schemas.openxmlformats.org/officeDocument/2006/relationships/image" Target="../media/image80.png"/><Relationship Id="rId5" Type="http://schemas.openxmlformats.org/officeDocument/2006/relationships/image" Target="../media/image63.png"/><Relationship Id="rId6" Type="http://schemas.openxmlformats.org/officeDocument/2006/relationships/image" Target="../media/image66.png"/><Relationship Id="rId7" Type="http://schemas.openxmlformats.org/officeDocument/2006/relationships/image" Target="../media/image6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7.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69.png"/><Relationship Id="rId7" Type="http://schemas.openxmlformats.org/officeDocument/2006/relationships/image" Target="../media/image6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68.png"/><Relationship Id="rId4" Type="http://schemas.openxmlformats.org/officeDocument/2006/relationships/image" Target="../media/image73.png"/><Relationship Id="rId5" Type="http://schemas.openxmlformats.org/officeDocument/2006/relationships/image" Target="../media/image64.png"/><Relationship Id="rId6" Type="http://schemas.openxmlformats.org/officeDocument/2006/relationships/image" Target="../media/image7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74.png"/><Relationship Id="rId4" Type="http://schemas.openxmlformats.org/officeDocument/2006/relationships/image" Target="../media/image77.png"/><Relationship Id="rId5" Type="http://schemas.openxmlformats.org/officeDocument/2006/relationships/image" Target="../media/image7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8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0" Type="http://schemas.openxmlformats.org/officeDocument/2006/relationships/image" Target="../media/image88.pn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82.png"/><Relationship Id="rId4" Type="http://schemas.openxmlformats.org/officeDocument/2006/relationships/image" Target="../media/image72.png"/><Relationship Id="rId9" Type="http://schemas.openxmlformats.org/officeDocument/2006/relationships/image" Target="../media/image78.png"/><Relationship Id="rId5" Type="http://schemas.openxmlformats.org/officeDocument/2006/relationships/image" Target="../media/image70.png"/><Relationship Id="rId6" Type="http://schemas.openxmlformats.org/officeDocument/2006/relationships/image" Target="../media/image85.png"/><Relationship Id="rId7" Type="http://schemas.openxmlformats.org/officeDocument/2006/relationships/image" Target="../media/image83.png"/><Relationship Id="rId8" Type="http://schemas.openxmlformats.org/officeDocument/2006/relationships/image" Target="../media/image7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82.png"/><Relationship Id="rId4" Type="http://schemas.openxmlformats.org/officeDocument/2006/relationships/image" Target="../media/image72.png"/><Relationship Id="rId5" Type="http://schemas.openxmlformats.org/officeDocument/2006/relationships/image" Target="../media/image85.png"/><Relationship Id="rId6" Type="http://schemas.openxmlformats.org/officeDocument/2006/relationships/image" Target="../media/image83.png"/><Relationship Id="rId7" Type="http://schemas.openxmlformats.org/officeDocument/2006/relationships/image" Target="../media/image71.png"/><Relationship Id="rId8" Type="http://schemas.openxmlformats.org/officeDocument/2006/relationships/image" Target="../media/image7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81.png"/><Relationship Id="rId4" Type="http://schemas.openxmlformats.org/officeDocument/2006/relationships/image" Target="../media/image89.png"/><Relationship Id="rId5" Type="http://schemas.openxmlformats.org/officeDocument/2006/relationships/image" Target="../media/image93.png"/><Relationship Id="rId6" Type="http://schemas.openxmlformats.org/officeDocument/2006/relationships/image" Target="../media/image92.png"/><Relationship Id="rId7" Type="http://schemas.openxmlformats.org/officeDocument/2006/relationships/image" Target="../media/image94.png"/></Relationships>
</file>

<file path=ppt/slides/_rels/slide28.xml.rels><?xml version="1.0" encoding="UTF-8" standalone="yes"?><Relationships xmlns="http://schemas.openxmlformats.org/package/2006/relationships"><Relationship Id="rId11" Type="http://schemas.openxmlformats.org/officeDocument/2006/relationships/image" Target="../media/image102.png"/><Relationship Id="rId10" Type="http://schemas.openxmlformats.org/officeDocument/2006/relationships/image" Target="../media/image99.png"/><Relationship Id="rId13" Type="http://schemas.openxmlformats.org/officeDocument/2006/relationships/image" Target="../media/image108.png"/><Relationship Id="rId12" Type="http://schemas.openxmlformats.org/officeDocument/2006/relationships/image" Target="../media/image105.png"/><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5.png"/><Relationship Id="rId4" Type="http://schemas.openxmlformats.org/officeDocument/2006/relationships/image" Target="../media/image87.png"/><Relationship Id="rId9" Type="http://schemas.openxmlformats.org/officeDocument/2006/relationships/image" Target="../media/image101.png"/><Relationship Id="rId15" Type="http://schemas.openxmlformats.org/officeDocument/2006/relationships/image" Target="../media/image90.png"/><Relationship Id="rId14" Type="http://schemas.openxmlformats.org/officeDocument/2006/relationships/image" Target="../media/image104.png"/><Relationship Id="rId17" Type="http://schemas.openxmlformats.org/officeDocument/2006/relationships/image" Target="../media/image109.png"/><Relationship Id="rId16" Type="http://schemas.openxmlformats.org/officeDocument/2006/relationships/image" Target="../media/image91.png"/><Relationship Id="rId5" Type="http://schemas.openxmlformats.org/officeDocument/2006/relationships/image" Target="../media/image98.png"/><Relationship Id="rId6" Type="http://schemas.openxmlformats.org/officeDocument/2006/relationships/image" Target="../media/image86.png"/><Relationship Id="rId7" Type="http://schemas.openxmlformats.org/officeDocument/2006/relationships/image" Target="../media/image100.png"/><Relationship Id="rId8" Type="http://schemas.openxmlformats.org/officeDocument/2006/relationships/image" Target="../media/image9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6.png"/><Relationship Id="rId4" Type="http://schemas.openxmlformats.org/officeDocument/2006/relationships/image" Target="../media/image107.png"/><Relationship Id="rId5" Type="http://schemas.openxmlformats.org/officeDocument/2006/relationships/image" Target="../media/image111.png"/><Relationship Id="rId6" Type="http://schemas.openxmlformats.org/officeDocument/2006/relationships/image" Target="../media/image112.png"/><Relationship Id="rId7" Type="http://schemas.openxmlformats.org/officeDocument/2006/relationships/image" Target="../media/image9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4.png"/><Relationship Id="rId4" Type="http://schemas.openxmlformats.org/officeDocument/2006/relationships/image" Target="../media/image1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chart" Target="../charts/char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14.png"/><Relationship Id="rId4" Type="http://schemas.openxmlformats.org/officeDocument/2006/relationships/image" Target="../media/image103.png"/><Relationship Id="rId5" Type="http://schemas.openxmlformats.org/officeDocument/2006/relationships/image" Target="../media/image1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19.png"/><Relationship Id="rId4" Type="http://schemas.openxmlformats.org/officeDocument/2006/relationships/image" Target="../media/image116.png"/></Relationships>
</file>

<file path=ppt/slides/_rels/slide38.xml.rels><?xml version="1.0" encoding="UTF-8" standalone="yes"?><Relationships xmlns="http://schemas.openxmlformats.org/package/2006/relationships"><Relationship Id="rId40" Type="http://schemas.openxmlformats.org/officeDocument/2006/relationships/image" Target="../media/image158.png"/><Relationship Id="rId42" Type="http://schemas.openxmlformats.org/officeDocument/2006/relationships/image" Target="../media/image163.png"/><Relationship Id="rId41" Type="http://schemas.openxmlformats.org/officeDocument/2006/relationships/image" Target="../media/image162.png"/><Relationship Id="rId44" Type="http://schemas.openxmlformats.org/officeDocument/2006/relationships/image" Target="../media/image167.png"/><Relationship Id="rId43" Type="http://schemas.openxmlformats.org/officeDocument/2006/relationships/image" Target="../media/image166.png"/><Relationship Id="rId46" Type="http://schemas.openxmlformats.org/officeDocument/2006/relationships/image" Target="../media/image159.png"/><Relationship Id="rId45" Type="http://schemas.openxmlformats.org/officeDocument/2006/relationships/image" Target="../media/image164.png"/><Relationship Id="rId48" Type="http://schemas.openxmlformats.org/officeDocument/2006/relationships/image" Target="../media/image146.png"/><Relationship Id="rId47" Type="http://schemas.openxmlformats.org/officeDocument/2006/relationships/image" Target="../media/image160.png"/><Relationship Id="rId49" Type="http://schemas.openxmlformats.org/officeDocument/2006/relationships/image" Target="../media/image165.png"/><Relationship Id="rId101" Type="http://schemas.openxmlformats.org/officeDocument/2006/relationships/image" Target="../media/image220.png"/><Relationship Id="rId100" Type="http://schemas.openxmlformats.org/officeDocument/2006/relationships/image" Target="../media/image210.png"/><Relationship Id="rId31" Type="http://schemas.openxmlformats.org/officeDocument/2006/relationships/image" Target="../media/image134.png"/><Relationship Id="rId30" Type="http://schemas.openxmlformats.org/officeDocument/2006/relationships/image" Target="../media/image133.png"/><Relationship Id="rId33" Type="http://schemas.openxmlformats.org/officeDocument/2006/relationships/image" Target="../media/image143.png"/><Relationship Id="rId32" Type="http://schemas.openxmlformats.org/officeDocument/2006/relationships/image" Target="../media/image147.png"/><Relationship Id="rId35" Type="http://schemas.openxmlformats.org/officeDocument/2006/relationships/image" Target="../media/image149.png"/><Relationship Id="rId34" Type="http://schemas.openxmlformats.org/officeDocument/2006/relationships/image" Target="../media/image155.png"/><Relationship Id="rId37" Type="http://schemas.openxmlformats.org/officeDocument/2006/relationships/image" Target="../media/image170.png"/><Relationship Id="rId36" Type="http://schemas.openxmlformats.org/officeDocument/2006/relationships/image" Target="../media/image150.png"/><Relationship Id="rId39" Type="http://schemas.openxmlformats.org/officeDocument/2006/relationships/image" Target="../media/image156.png"/><Relationship Id="rId38" Type="http://schemas.openxmlformats.org/officeDocument/2006/relationships/image" Target="../media/image152.png"/><Relationship Id="rId20" Type="http://schemas.openxmlformats.org/officeDocument/2006/relationships/image" Target="../media/image127.png"/><Relationship Id="rId22" Type="http://schemas.openxmlformats.org/officeDocument/2006/relationships/image" Target="../media/image151.png"/><Relationship Id="rId21" Type="http://schemas.openxmlformats.org/officeDocument/2006/relationships/image" Target="../media/image145.png"/><Relationship Id="rId24" Type="http://schemas.openxmlformats.org/officeDocument/2006/relationships/image" Target="../media/image131.png"/><Relationship Id="rId23" Type="http://schemas.openxmlformats.org/officeDocument/2006/relationships/image" Target="../media/image142.png"/><Relationship Id="rId26" Type="http://schemas.openxmlformats.org/officeDocument/2006/relationships/image" Target="../media/image130.png"/><Relationship Id="rId25" Type="http://schemas.openxmlformats.org/officeDocument/2006/relationships/image" Target="../media/image148.png"/><Relationship Id="rId28" Type="http://schemas.openxmlformats.org/officeDocument/2006/relationships/image" Target="../media/image144.png"/><Relationship Id="rId27" Type="http://schemas.openxmlformats.org/officeDocument/2006/relationships/image" Target="../media/image141.png"/><Relationship Id="rId29" Type="http://schemas.openxmlformats.org/officeDocument/2006/relationships/image" Target="../media/image154.png"/><Relationship Id="rId95" Type="http://schemas.openxmlformats.org/officeDocument/2006/relationships/image" Target="../media/image224.png"/><Relationship Id="rId94" Type="http://schemas.openxmlformats.org/officeDocument/2006/relationships/image" Target="../media/image198.png"/><Relationship Id="rId97" Type="http://schemas.openxmlformats.org/officeDocument/2006/relationships/image" Target="../media/image216.png"/><Relationship Id="rId96" Type="http://schemas.openxmlformats.org/officeDocument/2006/relationships/image" Target="../media/image203.png"/><Relationship Id="rId11" Type="http://schemas.openxmlformats.org/officeDocument/2006/relationships/image" Target="../media/image135.png"/><Relationship Id="rId99" Type="http://schemas.openxmlformats.org/officeDocument/2006/relationships/image" Target="../media/image222.png"/><Relationship Id="rId10" Type="http://schemas.openxmlformats.org/officeDocument/2006/relationships/image" Target="../media/image128.png"/><Relationship Id="rId98" Type="http://schemas.openxmlformats.org/officeDocument/2006/relationships/image" Target="../media/image221.png"/><Relationship Id="rId13" Type="http://schemas.openxmlformats.org/officeDocument/2006/relationships/image" Target="../media/image118.png"/><Relationship Id="rId12" Type="http://schemas.openxmlformats.org/officeDocument/2006/relationships/image" Target="../media/image115.png"/><Relationship Id="rId91" Type="http://schemas.openxmlformats.org/officeDocument/2006/relationships/image" Target="../media/image207.png"/><Relationship Id="rId90" Type="http://schemas.openxmlformats.org/officeDocument/2006/relationships/image" Target="../media/image204.png"/><Relationship Id="rId93" Type="http://schemas.openxmlformats.org/officeDocument/2006/relationships/image" Target="../media/image213.png"/><Relationship Id="rId92" Type="http://schemas.openxmlformats.org/officeDocument/2006/relationships/image" Target="../media/image208.png"/><Relationship Id="rId15" Type="http://schemas.openxmlformats.org/officeDocument/2006/relationships/image" Target="../media/image140.png"/><Relationship Id="rId14" Type="http://schemas.openxmlformats.org/officeDocument/2006/relationships/image" Target="../media/image120.png"/><Relationship Id="rId17" Type="http://schemas.openxmlformats.org/officeDocument/2006/relationships/image" Target="../media/image122.png"/><Relationship Id="rId16" Type="http://schemas.openxmlformats.org/officeDocument/2006/relationships/image" Target="../media/image138.png"/><Relationship Id="rId19" Type="http://schemas.openxmlformats.org/officeDocument/2006/relationships/image" Target="../media/image139.png"/><Relationship Id="rId18" Type="http://schemas.openxmlformats.org/officeDocument/2006/relationships/image" Target="../media/image137.png"/><Relationship Id="rId84" Type="http://schemas.openxmlformats.org/officeDocument/2006/relationships/image" Target="../media/image201.png"/><Relationship Id="rId83" Type="http://schemas.openxmlformats.org/officeDocument/2006/relationships/image" Target="../media/image196.png"/><Relationship Id="rId86" Type="http://schemas.openxmlformats.org/officeDocument/2006/relationships/image" Target="../media/image199.png"/><Relationship Id="rId85" Type="http://schemas.openxmlformats.org/officeDocument/2006/relationships/image" Target="../media/image202.png"/><Relationship Id="rId88" Type="http://schemas.openxmlformats.org/officeDocument/2006/relationships/image" Target="../media/image217.png"/><Relationship Id="rId87" Type="http://schemas.openxmlformats.org/officeDocument/2006/relationships/image" Target="../media/image197.png"/><Relationship Id="rId89" Type="http://schemas.openxmlformats.org/officeDocument/2006/relationships/image" Target="../media/image205.png"/><Relationship Id="rId80" Type="http://schemas.openxmlformats.org/officeDocument/2006/relationships/image" Target="../media/image209.png"/><Relationship Id="rId82" Type="http://schemas.openxmlformats.org/officeDocument/2006/relationships/image" Target="../media/image200.png"/><Relationship Id="rId81" Type="http://schemas.openxmlformats.org/officeDocument/2006/relationships/image" Target="../media/image193.png"/><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21.png"/><Relationship Id="rId4" Type="http://schemas.openxmlformats.org/officeDocument/2006/relationships/image" Target="../media/image125.png"/><Relationship Id="rId9" Type="http://schemas.openxmlformats.org/officeDocument/2006/relationships/image" Target="../media/image132.png"/><Relationship Id="rId5" Type="http://schemas.openxmlformats.org/officeDocument/2006/relationships/image" Target="../media/image123.png"/><Relationship Id="rId6" Type="http://schemas.openxmlformats.org/officeDocument/2006/relationships/image" Target="../media/image110.png"/><Relationship Id="rId7" Type="http://schemas.openxmlformats.org/officeDocument/2006/relationships/image" Target="../media/image126.png"/><Relationship Id="rId8" Type="http://schemas.openxmlformats.org/officeDocument/2006/relationships/image" Target="../media/image129.png"/><Relationship Id="rId73" Type="http://schemas.openxmlformats.org/officeDocument/2006/relationships/image" Target="../media/image190.png"/><Relationship Id="rId72" Type="http://schemas.openxmlformats.org/officeDocument/2006/relationships/image" Target="../media/image189.png"/><Relationship Id="rId75" Type="http://schemas.openxmlformats.org/officeDocument/2006/relationships/image" Target="../media/image194.png"/><Relationship Id="rId74" Type="http://schemas.openxmlformats.org/officeDocument/2006/relationships/image" Target="../media/image184.png"/><Relationship Id="rId77" Type="http://schemas.openxmlformats.org/officeDocument/2006/relationships/image" Target="../media/image187.png"/><Relationship Id="rId76" Type="http://schemas.openxmlformats.org/officeDocument/2006/relationships/image" Target="../media/image191.png"/><Relationship Id="rId79" Type="http://schemas.openxmlformats.org/officeDocument/2006/relationships/image" Target="../media/image195.png"/><Relationship Id="rId78" Type="http://schemas.openxmlformats.org/officeDocument/2006/relationships/image" Target="../media/image215.png"/><Relationship Id="rId71" Type="http://schemas.openxmlformats.org/officeDocument/2006/relationships/image" Target="../media/image192.png"/><Relationship Id="rId70" Type="http://schemas.openxmlformats.org/officeDocument/2006/relationships/image" Target="../media/image180.png"/><Relationship Id="rId62" Type="http://schemas.openxmlformats.org/officeDocument/2006/relationships/image" Target="../media/image177.png"/><Relationship Id="rId61" Type="http://schemas.openxmlformats.org/officeDocument/2006/relationships/image" Target="../media/image176.png"/><Relationship Id="rId64" Type="http://schemas.openxmlformats.org/officeDocument/2006/relationships/image" Target="../media/image181.png"/><Relationship Id="rId63" Type="http://schemas.openxmlformats.org/officeDocument/2006/relationships/image" Target="../media/image179.png"/><Relationship Id="rId66" Type="http://schemas.openxmlformats.org/officeDocument/2006/relationships/image" Target="../media/image183.png"/><Relationship Id="rId65" Type="http://schemas.openxmlformats.org/officeDocument/2006/relationships/image" Target="../media/image182.png"/><Relationship Id="rId68" Type="http://schemas.openxmlformats.org/officeDocument/2006/relationships/image" Target="../media/image186.png"/><Relationship Id="rId67" Type="http://schemas.openxmlformats.org/officeDocument/2006/relationships/image" Target="../media/image188.png"/><Relationship Id="rId60" Type="http://schemas.openxmlformats.org/officeDocument/2006/relationships/image" Target="../media/image178.png"/><Relationship Id="rId69" Type="http://schemas.openxmlformats.org/officeDocument/2006/relationships/image" Target="../media/image185.png"/><Relationship Id="rId51" Type="http://schemas.openxmlformats.org/officeDocument/2006/relationships/image" Target="../media/image169.png"/><Relationship Id="rId50" Type="http://schemas.openxmlformats.org/officeDocument/2006/relationships/image" Target="../media/image168.png"/><Relationship Id="rId53" Type="http://schemas.openxmlformats.org/officeDocument/2006/relationships/image" Target="../media/image157.png"/><Relationship Id="rId52" Type="http://schemas.openxmlformats.org/officeDocument/2006/relationships/image" Target="../media/image153.png"/><Relationship Id="rId55" Type="http://schemas.openxmlformats.org/officeDocument/2006/relationships/image" Target="../media/image161.png"/><Relationship Id="rId54" Type="http://schemas.openxmlformats.org/officeDocument/2006/relationships/image" Target="../media/image171.png"/><Relationship Id="rId57" Type="http://schemas.openxmlformats.org/officeDocument/2006/relationships/image" Target="../media/image175.png"/><Relationship Id="rId56" Type="http://schemas.openxmlformats.org/officeDocument/2006/relationships/image" Target="../media/image172.png"/><Relationship Id="rId59" Type="http://schemas.openxmlformats.org/officeDocument/2006/relationships/image" Target="../media/image173.png"/><Relationship Id="rId58" Type="http://schemas.openxmlformats.org/officeDocument/2006/relationships/image" Target="../media/image17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06.png"/><Relationship Id="rId4" Type="http://schemas.openxmlformats.org/officeDocument/2006/relationships/image" Target="../media/image218.png"/><Relationship Id="rId5" Type="http://schemas.openxmlformats.org/officeDocument/2006/relationships/image" Target="../media/image2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227.png"/><Relationship Id="rId4" Type="http://schemas.openxmlformats.org/officeDocument/2006/relationships/image" Target="../media/image218.png"/><Relationship Id="rId5" Type="http://schemas.openxmlformats.org/officeDocument/2006/relationships/image" Target="../media/image226.png"/><Relationship Id="rId6" Type="http://schemas.openxmlformats.org/officeDocument/2006/relationships/image" Target="../media/image228.png"/><Relationship Id="rId7" Type="http://schemas.openxmlformats.org/officeDocument/2006/relationships/image" Target="../media/image206.png"/><Relationship Id="rId8" Type="http://schemas.openxmlformats.org/officeDocument/2006/relationships/image" Target="../media/image2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3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3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3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3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2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24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22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22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5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2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244.png"/><Relationship Id="rId4" Type="http://schemas.openxmlformats.org/officeDocument/2006/relationships/image" Target="../media/image252.png"/><Relationship Id="rId5" Type="http://schemas.openxmlformats.org/officeDocument/2006/relationships/image" Target="../media/image242.png"/><Relationship Id="rId6" Type="http://schemas.openxmlformats.org/officeDocument/2006/relationships/image" Target="../media/image2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31.png"/><Relationship Id="rId4" Type="http://schemas.openxmlformats.org/officeDocument/2006/relationships/image" Target="../media/image248.png"/><Relationship Id="rId5" Type="http://schemas.openxmlformats.org/officeDocument/2006/relationships/image" Target="../media/image247.png"/><Relationship Id="rId6" Type="http://schemas.openxmlformats.org/officeDocument/2006/relationships/image" Target="../media/image25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31.png"/><Relationship Id="rId4" Type="http://schemas.openxmlformats.org/officeDocument/2006/relationships/image" Target="../media/image246.png"/><Relationship Id="rId5" Type="http://schemas.openxmlformats.org/officeDocument/2006/relationships/image" Target="../media/image248.png"/><Relationship Id="rId6" Type="http://schemas.openxmlformats.org/officeDocument/2006/relationships/image" Target="../media/image25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47.png"/><Relationship Id="rId4" Type="http://schemas.openxmlformats.org/officeDocument/2006/relationships/image" Target="../media/image237.png"/><Relationship Id="rId5" Type="http://schemas.openxmlformats.org/officeDocument/2006/relationships/image" Target="../media/image251.png"/><Relationship Id="rId6" Type="http://schemas.openxmlformats.org/officeDocument/2006/relationships/image" Target="../media/image2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25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25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5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8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26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6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6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6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 Id="rId3" Type="http://schemas.openxmlformats.org/officeDocument/2006/relationships/image" Target="../media/image26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7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27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26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2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28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25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27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75.png"/><Relationship Id="rId4" Type="http://schemas.openxmlformats.org/officeDocument/2006/relationships/image" Target="../media/image272.png"/><Relationship Id="rId5" Type="http://schemas.openxmlformats.org/officeDocument/2006/relationships/image" Target="../media/image270.png"/><Relationship Id="rId6" Type="http://schemas.openxmlformats.org/officeDocument/2006/relationships/image" Target="../media/image284.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259.png"/><Relationship Id="rId4" Type="http://schemas.openxmlformats.org/officeDocument/2006/relationships/image" Target="../media/image258.png"/><Relationship Id="rId5" Type="http://schemas.openxmlformats.org/officeDocument/2006/relationships/image" Target="../media/image276.png"/><Relationship Id="rId6" Type="http://schemas.openxmlformats.org/officeDocument/2006/relationships/image" Target="../media/image27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26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66.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image" Target="../media/image26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28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280.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279.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27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28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title"/>
          </p:nvPr>
        </p:nvSpPr>
        <p:spPr>
          <a:xfrm>
            <a:off x="764308" y="722023"/>
            <a:ext cx="10180783" cy="4059093"/>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5400"/>
              <a:buFont typeface="Times New Roman"/>
              <a:buNone/>
            </a:pPr>
            <a:r>
              <a:rPr lang="en-US" sz="5400">
                <a:latin typeface="Times New Roman"/>
                <a:ea typeface="Times New Roman"/>
                <a:cs typeface="Times New Roman"/>
                <a:sym typeface="Times New Roman"/>
              </a:rPr>
              <a:t>A Neural Network Based Model of</a:t>
            </a:r>
            <a:br>
              <a:rPr lang="en-US" sz="5400">
                <a:latin typeface="Times New Roman"/>
                <a:ea typeface="Times New Roman"/>
                <a:cs typeface="Times New Roman"/>
                <a:sym typeface="Times New Roman"/>
              </a:rPr>
            </a:br>
            <a:r>
              <a:rPr lang="en-US" sz="5400">
                <a:latin typeface="Times New Roman"/>
                <a:ea typeface="Times New Roman"/>
                <a:cs typeface="Times New Roman"/>
                <a:sym typeface="Times New Roman"/>
              </a:rPr>
              <a:t>Biomass Gasification </a:t>
            </a:r>
            <a:br>
              <a:rPr lang="en-US" sz="5400">
                <a:latin typeface="Times New Roman"/>
                <a:ea typeface="Times New Roman"/>
                <a:cs typeface="Times New Roman"/>
                <a:sym typeface="Times New Roman"/>
              </a:rPr>
            </a:br>
            <a:r>
              <a:rPr lang="en-US" sz="5400">
                <a:latin typeface="Times New Roman"/>
                <a:ea typeface="Times New Roman"/>
                <a:cs typeface="Times New Roman"/>
                <a:sym typeface="Times New Roman"/>
              </a:rPr>
              <a:t>in Fluidized Bed Reactors</a:t>
            </a:r>
            <a:br>
              <a:rPr lang="en-US" sz="5400">
                <a:latin typeface="Times New Roman"/>
                <a:ea typeface="Times New Roman"/>
                <a:cs typeface="Times New Roman"/>
                <a:sym typeface="Times New Roman"/>
              </a:rPr>
            </a:br>
            <a:endParaRPr sz="5400"/>
          </a:p>
        </p:txBody>
      </p:sp>
      <p:sp>
        <p:nvSpPr>
          <p:cNvPr id="101" name="Google Shape;101;p1"/>
          <p:cNvSpPr txBox="1"/>
          <p:nvPr>
            <p:ph idx="1" type="body"/>
          </p:nvPr>
        </p:nvSpPr>
        <p:spPr>
          <a:xfrm>
            <a:off x="1844963" y="4476316"/>
            <a:ext cx="7262091" cy="146050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ctr">
              <a:lnSpc>
                <a:spcPct val="90000"/>
              </a:lnSpc>
              <a:spcBef>
                <a:spcPts val="0"/>
              </a:spcBef>
              <a:spcAft>
                <a:spcPts val="0"/>
              </a:spcAft>
              <a:buClr>
                <a:schemeClr val="dk1"/>
              </a:buClr>
              <a:buSzPct val="100000"/>
              <a:buNone/>
            </a:pPr>
            <a:r>
              <a:rPr lang="en-US" sz="2400">
                <a:latin typeface="Times New Roman"/>
                <a:ea typeface="Times New Roman"/>
                <a:cs typeface="Times New Roman"/>
                <a:sym typeface="Times New Roman"/>
              </a:rPr>
              <a:t>Mohsen Dirbaz</a:t>
            </a:r>
            <a:endParaRPr/>
          </a:p>
          <a:p>
            <a:pPr indent="0" lvl="0" marL="0" rtl="0" algn="ctr">
              <a:lnSpc>
                <a:spcPct val="9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Illinois Institute of Technology</a:t>
            </a:r>
            <a:endParaRPr/>
          </a:p>
          <a:p>
            <a:pPr indent="0" lvl="0" marL="0" rtl="0" algn="ctr">
              <a:lnSpc>
                <a:spcPct val="9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Chicago, Illinois</a:t>
            </a:r>
            <a:endParaRPr/>
          </a:p>
          <a:p>
            <a:pPr indent="0" lvl="0" marL="0" rtl="0" algn="ctr">
              <a:lnSpc>
                <a:spcPct val="90000"/>
              </a:lnSpc>
              <a:spcBef>
                <a:spcPts val="1000"/>
              </a:spcBef>
              <a:spcAft>
                <a:spcPts val="0"/>
              </a:spcAft>
              <a:buClr>
                <a:schemeClr val="dk1"/>
              </a:buClr>
              <a:buSzPct val="100000"/>
              <a:buNone/>
            </a:pPr>
            <a:r>
              <a:rPr lang="en-US" sz="2400">
                <a:latin typeface="Times New Roman"/>
                <a:ea typeface="Times New Roman"/>
                <a:cs typeface="Times New Roman"/>
                <a:sym typeface="Times New Roman"/>
              </a:rPr>
              <a:t>Feb 2020</a:t>
            </a:r>
            <a:endParaRPr/>
          </a:p>
          <a:p>
            <a:pPr indent="0" lvl="0" marL="0" rtl="0" algn="l">
              <a:lnSpc>
                <a:spcPct val="90000"/>
              </a:lnSpc>
              <a:spcBef>
                <a:spcPts val="1000"/>
              </a:spcBef>
              <a:spcAft>
                <a:spcPts val="0"/>
              </a:spcAft>
              <a:buClr>
                <a:schemeClr val="dk1"/>
              </a:buClr>
              <a:buSzPct val="100000"/>
              <a:buNone/>
            </a:pPr>
            <a:r>
              <a:t/>
            </a:r>
            <a:endParaRPr/>
          </a:p>
        </p:txBody>
      </p:sp>
      <p:pic>
        <p:nvPicPr>
          <p:cNvPr id="102" name="Google Shape;102;p1"/>
          <p:cNvPicPr preferRelativeResize="0"/>
          <p:nvPr/>
        </p:nvPicPr>
        <p:blipFill rotWithShape="1">
          <a:blip r:embed="rId3">
            <a:alphaModFix/>
          </a:blip>
          <a:srcRect b="0" l="0" r="0" t="0"/>
          <a:stretch/>
        </p:blipFill>
        <p:spPr>
          <a:xfrm>
            <a:off x="8377380" y="214674"/>
            <a:ext cx="3121892" cy="819799"/>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 name="Shape 106"/>
        <p:cNvGrpSpPr/>
        <p:nvPr/>
      </p:nvGrpSpPr>
      <p:grpSpPr>
        <a:xfrm>
          <a:off x="0" y="0"/>
          <a:ext cx="0" cy="0"/>
          <a:chOff x="0" y="0"/>
          <a:chExt cx="0" cy="0"/>
        </a:xfrm>
      </p:grpSpPr>
      <p:sp>
        <p:nvSpPr>
          <p:cNvPr id="107" name="Google Shape;107;p2"/>
          <p:cNvSpPr/>
          <p:nvPr/>
        </p:nvSpPr>
        <p:spPr>
          <a:xfrm>
            <a:off x="378068" y="4633546"/>
            <a:ext cx="11438793" cy="1844256"/>
          </a:xfrm>
          <a:prstGeom prst="rect">
            <a:avLst/>
          </a:prstGeom>
          <a:solidFill>
            <a:srgbClr val="404040"/>
          </a:solidFill>
          <a:ln cap="sq" cmpd="thinThick" w="127000">
            <a:solidFill>
              <a:srgbClr val="40404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108" name="Google Shape;108;p2"/>
          <p:cNvCxnSpPr/>
          <p:nvPr/>
        </p:nvCxnSpPr>
        <p:spPr>
          <a:xfrm>
            <a:off x="2209800" y="5738691"/>
            <a:ext cx="7772400" cy="0"/>
          </a:xfrm>
          <a:prstGeom prst="straightConnector1">
            <a:avLst/>
          </a:prstGeom>
          <a:noFill/>
          <a:ln cap="flat" cmpd="sng" w="22225">
            <a:solidFill>
              <a:srgbClr val="D9D9D9"/>
            </a:solidFill>
            <a:prstDash val="solid"/>
            <a:miter lim="800000"/>
            <a:headEnd len="sm" w="sm" type="none"/>
            <a:tailEnd len="sm" w="sm" type="none"/>
          </a:ln>
        </p:spPr>
      </p:cxnSp>
      <p:cxnSp>
        <p:nvCxnSpPr>
          <p:cNvPr id="109" name="Google Shape;109;p2"/>
          <p:cNvCxnSpPr/>
          <p:nvPr/>
        </p:nvCxnSpPr>
        <p:spPr>
          <a:xfrm>
            <a:off x="4065689" y="477749"/>
            <a:ext cx="0" cy="3657600"/>
          </a:xfrm>
          <a:prstGeom prst="straightConnector1">
            <a:avLst/>
          </a:prstGeom>
          <a:noFill/>
          <a:ln cap="flat" cmpd="dbl" w="101600">
            <a:solidFill>
              <a:srgbClr val="595959"/>
            </a:solidFill>
            <a:prstDash val="solid"/>
            <a:miter lim="800000"/>
            <a:headEnd len="sm" w="sm" type="none"/>
            <a:tailEnd len="sm" w="sm" type="none"/>
          </a:ln>
        </p:spPr>
      </p:cxnSp>
      <p:pic>
        <p:nvPicPr>
          <p:cNvPr id="110" name="Google Shape;110;p2"/>
          <p:cNvPicPr preferRelativeResize="0"/>
          <p:nvPr/>
        </p:nvPicPr>
        <p:blipFill rotWithShape="1">
          <a:blip r:embed="rId3">
            <a:alphaModFix/>
          </a:blip>
          <a:srcRect b="0" l="0" r="0" t="0"/>
          <a:stretch/>
        </p:blipFill>
        <p:spPr>
          <a:xfrm>
            <a:off x="4245488" y="1625600"/>
            <a:ext cx="3728277" cy="1775358"/>
          </a:xfrm>
          <a:prstGeom prst="rect">
            <a:avLst/>
          </a:prstGeom>
          <a:noFill/>
          <a:ln>
            <a:noFill/>
          </a:ln>
        </p:spPr>
      </p:pic>
      <p:cxnSp>
        <p:nvCxnSpPr>
          <p:cNvPr id="111" name="Google Shape;111;p2"/>
          <p:cNvCxnSpPr/>
          <p:nvPr/>
        </p:nvCxnSpPr>
        <p:spPr>
          <a:xfrm>
            <a:off x="8153400" y="477749"/>
            <a:ext cx="0" cy="3657600"/>
          </a:xfrm>
          <a:prstGeom prst="straightConnector1">
            <a:avLst/>
          </a:prstGeom>
          <a:noFill/>
          <a:ln cap="flat" cmpd="dbl" w="101600">
            <a:solidFill>
              <a:srgbClr val="595959"/>
            </a:solidFill>
            <a:prstDash val="solid"/>
            <a:miter lim="800000"/>
            <a:headEnd len="sm" w="sm" type="none"/>
            <a:tailEnd len="sm" w="sm" type="none"/>
          </a:ln>
        </p:spPr>
      </p:cxnSp>
      <p:pic>
        <p:nvPicPr>
          <p:cNvPr id="112" name="Google Shape;112;p2"/>
          <p:cNvPicPr preferRelativeResize="0"/>
          <p:nvPr>
            <p:ph idx="1" type="body"/>
          </p:nvPr>
        </p:nvPicPr>
        <p:blipFill rotWithShape="1">
          <a:blip r:embed="rId4">
            <a:alphaModFix/>
          </a:blip>
          <a:srcRect b="0" l="0" r="0" t="0"/>
          <a:stretch/>
        </p:blipFill>
        <p:spPr>
          <a:xfrm>
            <a:off x="309876" y="1622277"/>
            <a:ext cx="3575239" cy="1778681"/>
          </a:xfrm>
          <a:prstGeom prst="rect">
            <a:avLst/>
          </a:prstGeom>
          <a:noFill/>
          <a:ln>
            <a:noFill/>
          </a:ln>
        </p:spPr>
      </p:pic>
      <p:sp>
        <p:nvSpPr>
          <p:cNvPr id="113" name="Google Shape;113;p2"/>
          <p:cNvSpPr txBox="1"/>
          <p:nvPr>
            <p:ph type="title"/>
          </p:nvPr>
        </p:nvSpPr>
        <p:spPr>
          <a:xfrm>
            <a:off x="527538" y="4782898"/>
            <a:ext cx="11139854" cy="93044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FFFFFF"/>
              </a:buClr>
              <a:buSzPts val="2800"/>
              <a:buFont typeface="Calibri"/>
              <a:buNone/>
            </a:pPr>
            <a:r>
              <a:rPr i="1" lang="en-US" sz="2800">
                <a:solidFill>
                  <a:srgbClr val="FFFFFF"/>
                </a:solidFill>
              </a:rPr>
              <a:t>Energy security of the world &amp; Sustainable climate</a:t>
            </a:r>
            <a:endParaRPr/>
          </a:p>
        </p:txBody>
      </p:sp>
      <p:sp>
        <p:nvSpPr>
          <p:cNvPr id="114" name="Google Shape;114;p2"/>
          <p:cNvSpPr txBox="1"/>
          <p:nvPr/>
        </p:nvSpPr>
        <p:spPr>
          <a:xfrm>
            <a:off x="334118" y="3702863"/>
            <a:ext cx="337543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Population of the world projected to exceed 9 billion by 2040</a:t>
            </a:r>
            <a:endParaRPr/>
          </a:p>
        </p:txBody>
      </p:sp>
      <p:sp>
        <p:nvSpPr>
          <p:cNvPr id="115" name="Google Shape;115;p2"/>
          <p:cNvSpPr txBox="1"/>
          <p:nvPr/>
        </p:nvSpPr>
        <p:spPr>
          <a:xfrm>
            <a:off x="320574" y="673144"/>
            <a:ext cx="3295688"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Dominance of fossil fuel in providing energy of modern life </a:t>
            </a:r>
            <a:endParaRPr/>
          </a:p>
          <a:p>
            <a:pPr indent="0" lvl="0" marL="0" marR="0" rtl="0" algn="ctr">
              <a:spcBef>
                <a:spcPts val="0"/>
              </a:spcBef>
              <a:spcAft>
                <a:spcPts val="0"/>
              </a:spcAft>
              <a:buNone/>
            </a:pPr>
            <a:r>
              <a:t/>
            </a:r>
            <a:endParaRPr b="0" i="1" sz="1800" u="none" cap="none" strike="noStrike">
              <a:solidFill>
                <a:schemeClr val="dk1"/>
              </a:solidFill>
              <a:latin typeface="Times New Roman"/>
              <a:ea typeface="Times New Roman"/>
              <a:cs typeface="Times New Roman"/>
              <a:sym typeface="Times New Roman"/>
            </a:endParaRPr>
          </a:p>
        </p:txBody>
      </p:sp>
      <p:sp>
        <p:nvSpPr>
          <p:cNvPr id="116" name="Google Shape;116;p2"/>
          <p:cNvSpPr txBox="1"/>
          <p:nvPr/>
        </p:nvSpPr>
        <p:spPr>
          <a:xfrm>
            <a:off x="4421910" y="3555587"/>
            <a:ext cx="3375432"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Earth's surface temperature could exceed historical values as early as 2047</a:t>
            </a:r>
            <a:endParaRPr/>
          </a:p>
        </p:txBody>
      </p:sp>
      <p:sp>
        <p:nvSpPr>
          <p:cNvPr id="117" name="Google Shape;117;p2"/>
          <p:cNvSpPr txBox="1"/>
          <p:nvPr/>
        </p:nvSpPr>
        <p:spPr>
          <a:xfrm>
            <a:off x="8441429" y="3571270"/>
            <a:ext cx="337543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Utilization of biomass + Forestation = Carbon negative</a:t>
            </a:r>
            <a:endParaRPr/>
          </a:p>
        </p:txBody>
      </p:sp>
      <p:pic>
        <p:nvPicPr>
          <p:cNvPr id="118" name="Google Shape;118;p2"/>
          <p:cNvPicPr preferRelativeResize="0"/>
          <p:nvPr/>
        </p:nvPicPr>
        <p:blipFill rotWithShape="1">
          <a:blip r:embed="rId5">
            <a:alphaModFix/>
          </a:blip>
          <a:srcRect b="0" l="0" r="0" t="0"/>
          <a:stretch/>
        </p:blipFill>
        <p:spPr>
          <a:xfrm>
            <a:off x="8361760" y="1313015"/>
            <a:ext cx="3305632" cy="2107176"/>
          </a:xfrm>
          <a:prstGeom prst="rect">
            <a:avLst/>
          </a:prstGeom>
          <a:noFill/>
          <a:ln>
            <a:noFill/>
          </a:ln>
        </p:spPr>
      </p:pic>
      <p:sp>
        <p:nvSpPr>
          <p:cNvPr id="119" name="Google Shape;119;p2"/>
          <p:cNvSpPr txBox="1"/>
          <p:nvPr/>
        </p:nvSpPr>
        <p:spPr>
          <a:xfrm>
            <a:off x="8361760" y="615078"/>
            <a:ext cx="3375432"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The necessity of promoting alternatives of fossil fuel</a:t>
            </a:r>
            <a:endParaRPr/>
          </a:p>
        </p:txBody>
      </p:sp>
      <p:sp>
        <p:nvSpPr>
          <p:cNvPr id="120" name="Google Shape;120;p2"/>
          <p:cNvSpPr txBox="1"/>
          <p:nvPr/>
        </p:nvSpPr>
        <p:spPr>
          <a:xfrm>
            <a:off x="4408284" y="842029"/>
            <a:ext cx="3375432"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1" lang="en-US" sz="1800" u="none" cap="none" strike="noStrike">
                <a:solidFill>
                  <a:schemeClr val="dk1"/>
                </a:solidFill>
                <a:latin typeface="Times New Roman"/>
                <a:ea typeface="Times New Roman"/>
                <a:cs typeface="Times New Roman"/>
                <a:sym typeface="Times New Roman"/>
              </a:rPr>
              <a:t>Spike in CO2 level</a:t>
            </a:r>
            <a:endParaRPr/>
          </a:p>
        </p:txBody>
      </p:sp>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p3"/>
          <p:cNvPicPr preferRelativeResize="0"/>
          <p:nvPr/>
        </p:nvPicPr>
        <p:blipFill rotWithShape="1">
          <a:blip r:embed="rId3">
            <a:alphaModFix amt="35000"/>
          </a:blip>
          <a:srcRect b="0" l="0" r="0" t="6250"/>
          <a:stretch/>
        </p:blipFill>
        <p:spPr>
          <a:xfrm>
            <a:off x="-60961" y="10"/>
            <a:ext cx="12192000" cy="6857990"/>
          </a:xfrm>
          <a:prstGeom prst="rect">
            <a:avLst/>
          </a:prstGeom>
          <a:noFill/>
          <a:ln>
            <a:noFill/>
          </a:ln>
        </p:spPr>
      </p:pic>
      <p:sp>
        <p:nvSpPr>
          <p:cNvPr id="126" name="Google Shape;126;p3"/>
          <p:cNvSpPr txBox="1"/>
          <p:nvPr>
            <p:ph idx="1" type="body"/>
          </p:nvPr>
        </p:nvSpPr>
        <p:spPr>
          <a:xfrm>
            <a:off x="206275" y="5261681"/>
            <a:ext cx="4096008" cy="141982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t/>
            </a:r>
            <a:endParaRPr sz="1800">
              <a:solidFill>
                <a:srgbClr val="FFFFFF"/>
              </a:solidFill>
            </a:endParaRPr>
          </a:p>
          <a:p>
            <a:pPr indent="0" lvl="0" marL="0" rtl="0" algn="l">
              <a:lnSpc>
                <a:spcPct val="90000"/>
              </a:lnSpc>
              <a:spcBef>
                <a:spcPts val="1000"/>
              </a:spcBef>
              <a:spcAft>
                <a:spcPts val="0"/>
              </a:spcAft>
              <a:buClr>
                <a:schemeClr val="dk1"/>
              </a:buClr>
              <a:buSzPts val="1800"/>
              <a:buNone/>
            </a:pPr>
            <a:r>
              <a:t/>
            </a:r>
            <a:endParaRPr sz="1800">
              <a:solidFill>
                <a:srgbClr val="FFFFFF"/>
              </a:solidFill>
            </a:endParaRPr>
          </a:p>
          <a:p>
            <a:pPr indent="0" lvl="0" marL="0" rtl="0" algn="l">
              <a:lnSpc>
                <a:spcPct val="90000"/>
              </a:lnSpc>
              <a:spcBef>
                <a:spcPts val="1000"/>
              </a:spcBef>
              <a:spcAft>
                <a:spcPts val="0"/>
              </a:spcAft>
              <a:buClr>
                <a:schemeClr val="dk1"/>
              </a:buClr>
              <a:buSzPts val="1200"/>
              <a:buNone/>
            </a:pPr>
            <a:r>
              <a:rPr lang="en-US" sz="1200"/>
              <a:t>Ref: S.V. Vassilev et al./ Fuel 89 (2010) 913–933)</a:t>
            </a:r>
            <a:endParaRPr/>
          </a:p>
          <a:p>
            <a:pPr indent="0" lvl="0" marL="0" rtl="0" algn="l">
              <a:lnSpc>
                <a:spcPct val="90000"/>
              </a:lnSpc>
              <a:spcBef>
                <a:spcPts val="1000"/>
              </a:spcBef>
              <a:spcAft>
                <a:spcPts val="0"/>
              </a:spcAft>
              <a:buClr>
                <a:schemeClr val="dk1"/>
              </a:buClr>
              <a:buSzPts val="1200"/>
              <a:buNone/>
            </a:pPr>
            <a:r>
              <a:rPr lang="en-US" sz="1200"/>
              <a:t>Ref: S.V. Vassilev et al./Fuel 94 (2012) 1–33</a:t>
            </a:r>
            <a:endParaRPr/>
          </a:p>
          <a:p>
            <a:pPr indent="0" lvl="0" marL="0" rtl="0" algn="l">
              <a:lnSpc>
                <a:spcPct val="90000"/>
              </a:lnSpc>
              <a:spcBef>
                <a:spcPts val="1000"/>
              </a:spcBef>
              <a:spcAft>
                <a:spcPts val="0"/>
              </a:spcAft>
              <a:buClr>
                <a:schemeClr val="dk1"/>
              </a:buClr>
              <a:buSzPts val="1600"/>
              <a:buNone/>
            </a:pPr>
            <a:r>
              <a:t/>
            </a:r>
            <a:endParaRPr sz="1600">
              <a:solidFill>
                <a:srgbClr val="FFFFFF"/>
              </a:solidFill>
            </a:endParaRPr>
          </a:p>
        </p:txBody>
      </p:sp>
      <p:grpSp>
        <p:nvGrpSpPr>
          <p:cNvPr id="127" name="Google Shape;127;p3"/>
          <p:cNvGrpSpPr/>
          <p:nvPr/>
        </p:nvGrpSpPr>
        <p:grpSpPr>
          <a:xfrm>
            <a:off x="3393527" y="4955614"/>
            <a:ext cx="5493525" cy="1210133"/>
            <a:chOff x="469" y="708577"/>
            <a:chExt cx="5493525" cy="1210133"/>
          </a:xfrm>
        </p:grpSpPr>
        <p:sp>
          <p:nvSpPr>
            <p:cNvPr id="128" name="Google Shape;128;p3"/>
            <p:cNvSpPr/>
            <p:nvPr/>
          </p:nvSpPr>
          <p:spPr>
            <a:xfrm>
              <a:off x="2747232" y="1250832"/>
              <a:ext cx="2276426" cy="197541"/>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29" name="Google Shape;129;p3"/>
            <p:cNvSpPr/>
            <p:nvPr/>
          </p:nvSpPr>
          <p:spPr>
            <a:xfrm>
              <a:off x="2747232" y="1250832"/>
              <a:ext cx="1138213" cy="197541"/>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30" name="Google Shape;130;p3"/>
            <p:cNvSpPr/>
            <p:nvPr/>
          </p:nvSpPr>
          <p:spPr>
            <a:xfrm>
              <a:off x="2701511" y="1250832"/>
              <a:ext cx="91440" cy="197541"/>
            </a:xfrm>
            <a:custGeom>
              <a:rect b="b" l="l" r="r" t="t"/>
              <a:pathLst>
                <a:path extrusionOk="0" h="120000" w="120000">
                  <a:moveTo>
                    <a:pt x="60000" y="0"/>
                  </a:moveTo>
                  <a:lnTo>
                    <a:pt x="60000" y="120000"/>
                  </a:lnTo>
                </a:path>
              </a:pathLst>
            </a:custGeom>
            <a:noFill/>
            <a:ln cap="flat" cmpd="sng" w="12700">
              <a:solidFill>
                <a:srgbClr val="345A99"/>
              </a:solidFill>
              <a:prstDash val="solid"/>
              <a:miter lim="800000"/>
              <a:headEnd len="sm" w="sm" type="none"/>
              <a:tailEnd len="sm" w="sm" type="none"/>
            </a:ln>
          </p:spPr>
        </p:sp>
        <p:sp>
          <p:nvSpPr>
            <p:cNvPr id="131" name="Google Shape;131;p3"/>
            <p:cNvSpPr/>
            <p:nvPr/>
          </p:nvSpPr>
          <p:spPr>
            <a:xfrm>
              <a:off x="1609018" y="1250832"/>
              <a:ext cx="1138213" cy="197541"/>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32" name="Google Shape;132;p3"/>
            <p:cNvSpPr/>
            <p:nvPr/>
          </p:nvSpPr>
          <p:spPr>
            <a:xfrm>
              <a:off x="470805" y="1250832"/>
              <a:ext cx="2276426" cy="197541"/>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33" name="Google Shape;133;p3"/>
            <p:cNvSpPr/>
            <p:nvPr/>
          </p:nvSpPr>
          <p:spPr>
            <a:xfrm>
              <a:off x="2088620" y="708577"/>
              <a:ext cx="1317223" cy="542255"/>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txBox="1"/>
            <p:nvPr/>
          </p:nvSpPr>
          <p:spPr>
            <a:xfrm>
              <a:off x="2088620" y="708577"/>
              <a:ext cx="1317223" cy="542255"/>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Biomass  groups</a:t>
              </a:r>
              <a:endParaRPr/>
            </a:p>
          </p:txBody>
        </p:sp>
        <p:sp>
          <p:nvSpPr>
            <p:cNvPr id="135" name="Google Shape;135;p3"/>
            <p:cNvSpPr/>
            <p:nvPr/>
          </p:nvSpPr>
          <p:spPr>
            <a:xfrm>
              <a:off x="469" y="1448374"/>
              <a:ext cx="940672" cy="47033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txBox="1"/>
            <p:nvPr/>
          </p:nvSpPr>
          <p:spPr>
            <a:xfrm>
              <a:off x="469" y="1448374"/>
              <a:ext cx="940672" cy="47033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Woody</a:t>
              </a:r>
              <a:endParaRPr/>
            </a:p>
          </p:txBody>
        </p:sp>
        <p:sp>
          <p:nvSpPr>
            <p:cNvPr id="137" name="Google Shape;137;p3"/>
            <p:cNvSpPr/>
            <p:nvPr/>
          </p:nvSpPr>
          <p:spPr>
            <a:xfrm>
              <a:off x="1138682" y="1448374"/>
              <a:ext cx="940672" cy="47033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txBox="1"/>
            <p:nvPr/>
          </p:nvSpPr>
          <p:spPr>
            <a:xfrm>
              <a:off x="1138682" y="1448374"/>
              <a:ext cx="940672" cy="47033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Herbacious</a:t>
              </a:r>
              <a:endParaRPr/>
            </a:p>
          </p:txBody>
        </p:sp>
        <p:sp>
          <p:nvSpPr>
            <p:cNvPr id="139" name="Google Shape;139;p3"/>
            <p:cNvSpPr/>
            <p:nvPr/>
          </p:nvSpPr>
          <p:spPr>
            <a:xfrm>
              <a:off x="2276895" y="1448374"/>
              <a:ext cx="940672" cy="47033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txBox="1"/>
            <p:nvPr/>
          </p:nvSpPr>
          <p:spPr>
            <a:xfrm>
              <a:off x="2276895" y="1448374"/>
              <a:ext cx="940672" cy="47033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Aquatic</a:t>
              </a:r>
              <a:endParaRPr/>
            </a:p>
          </p:txBody>
        </p:sp>
        <p:sp>
          <p:nvSpPr>
            <p:cNvPr id="141" name="Google Shape;141;p3"/>
            <p:cNvSpPr/>
            <p:nvPr/>
          </p:nvSpPr>
          <p:spPr>
            <a:xfrm>
              <a:off x="3415109" y="1448374"/>
              <a:ext cx="940672" cy="47033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txBox="1"/>
            <p:nvPr/>
          </p:nvSpPr>
          <p:spPr>
            <a:xfrm>
              <a:off x="3415109" y="1448374"/>
              <a:ext cx="940672" cy="47033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Animal waste</a:t>
              </a:r>
              <a:endParaRPr/>
            </a:p>
          </p:txBody>
        </p:sp>
        <p:sp>
          <p:nvSpPr>
            <p:cNvPr id="143" name="Google Shape;143;p3"/>
            <p:cNvSpPr/>
            <p:nvPr/>
          </p:nvSpPr>
          <p:spPr>
            <a:xfrm>
              <a:off x="4553322" y="1448374"/>
              <a:ext cx="940672" cy="47033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txBox="1"/>
            <p:nvPr/>
          </p:nvSpPr>
          <p:spPr>
            <a:xfrm>
              <a:off x="4553322" y="1448374"/>
              <a:ext cx="940672" cy="47033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Municipal solid waste</a:t>
              </a:r>
              <a:endParaRPr/>
            </a:p>
          </p:txBody>
        </p:sp>
      </p:grpSp>
      <p:grpSp>
        <p:nvGrpSpPr>
          <p:cNvPr id="145" name="Google Shape;145;p3"/>
          <p:cNvGrpSpPr/>
          <p:nvPr/>
        </p:nvGrpSpPr>
        <p:grpSpPr>
          <a:xfrm>
            <a:off x="33811" y="1095288"/>
            <a:ext cx="4298556" cy="3912038"/>
            <a:chOff x="430032" y="101"/>
            <a:chExt cx="4298556" cy="3912038"/>
          </a:xfrm>
        </p:grpSpPr>
        <p:sp>
          <p:nvSpPr>
            <p:cNvPr id="146" name="Google Shape;146;p3"/>
            <p:cNvSpPr/>
            <p:nvPr/>
          </p:nvSpPr>
          <p:spPr>
            <a:xfrm>
              <a:off x="3381629" y="1417337"/>
              <a:ext cx="175690" cy="2201985"/>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47" name="Google Shape;147;p3"/>
            <p:cNvSpPr/>
            <p:nvPr/>
          </p:nvSpPr>
          <p:spPr>
            <a:xfrm>
              <a:off x="3381629" y="1417337"/>
              <a:ext cx="175690" cy="1370384"/>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48" name="Google Shape;148;p3"/>
            <p:cNvSpPr/>
            <p:nvPr/>
          </p:nvSpPr>
          <p:spPr>
            <a:xfrm>
              <a:off x="3381629" y="1417337"/>
              <a:ext cx="175690" cy="538783"/>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49" name="Google Shape;149;p3"/>
            <p:cNvSpPr/>
            <p:nvPr/>
          </p:nvSpPr>
          <p:spPr>
            <a:xfrm>
              <a:off x="2432901" y="585736"/>
              <a:ext cx="1417235" cy="245966"/>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50" name="Google Shape;150;p3"/>
            <p:cNvSpPr/>
            <p:nvPr/>
          </p:nvSpPr>
          <p:spPr>
            <a:xfrm>
              <a:off x="1964394" y="1417337"/>
              <a:ext cx="175690" cy="2201985"/>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51" name="Google Shape;151;p3"/>
            <p:cNvSpPr/>
            <p:nvPr/>
          </p:nvSpPr>
          <p:spPr>
            <a:xfrm>
              <a:off x="1964394" y="1417337"/>
              <a:ext cx="175690" cy="1370384"/>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52" name="Google Shape;152;p3"/>
            <p:cNvSpPr/>
            <p:nvPr/>
          </p:nvSpPr>
          <p:spPr>
            <a:xfrm>
              <a:off x="1964394" y="1417337"/>
              <a:ext cx="175690" cy="538783"/>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53" name="Google Shape;153;p3"/>
            <p:cNvSpPr/>
            <p:nvPr/>
          </p:nvSpPr>
          <p:spPr>
            <a:xfrm>
              <a:off x="2387181" y="585736"/>
              <a:ext cx="91440" cy="245966"/>
            </a:xfrm>
            <a:custGeom>
              <a:rect b="b" l="l" r="r" t="t"/>
              <a:pathLst>
                <a:path extrusionOk="0" h="120000" w="120000">
                  <a:moveTo>
                    <a:pt x="60000" y="0"/>
                  </a:moveTo>
                  <a:lnTo>
                    <a:pt x="60000" y="120000"/>
                  </a:lnTo>
                </a:path>
              </a:pathLst>
            </a:custGeom>
            <a:noFill/>
            <a:ln cap="flat" cmpd="sng" w="12700">
              <a:solidFill>
                <a:srgbClr val="345A99"/>
              </a:solidFill>
              <a:prstDash val="solid"/>
              <a:miter lim="800000"/>
              <a:headEnd len="sm" w="sm" type="none"/>
              <a:tailEnd len="sm" w="sm" type="none"/>
            </a:ln>
          </p:spPr>
        </p:sp>
        <p:sp>
          <p:nvSpPr>
            <p:cNvPr id="154" name="Google Shape;154;p3"/>
            <p:cNvSpPr/>
            <p:nvPr/>
          </p:nvSpPr>
          <p:spPr>
            <a:xfrm>
              <a:off x="547158" y="1417337"/>
              <a:ext cx="175690" cy="1370384"/>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55" name="Google Shape;155;p3"/>
            <p:cNvSpPr/>
            <p:nvPr/>
          </p:nvSpPr>
          <p:spPr>
            <a:xfrm>
              <a:off x="547158" y="1417337"/>
              <a:ext cx="175690" cy="538783"/>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56" name="Google Shape;156;p3"/>
            <p:cNvSpPr/>
            <p:nvPr/>
          </p:nvSpPr>
          <p:spPr>
            <a:xfrm>
              <a:off x="1015666" y="585736"/>
              <a:ext cx="1417235" cy="245966"/>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57" name="Google Shape;157;p3"/>
            <p:cNvSpPr/>
            <p:nvPr/>
          </p:nvSpPr>
          <p:spPr>
            <a:xfrm>
              <a:off x="1847267" y="101"/>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txBox="1"/>
            <p:nvPr/>
          </p:nvSpPr>
          <p:spPr>
            <a:xfrm>
              <a:off x="1847267" y="101"/>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Biomass phase composition</a:t>
              </a:r>
              <a:endParaRPr/>
            </a:p>
          </p:txBody>
        </p:sp>
        <p:sp>
          <p:nvSpPr>
            <p:cNvPr id="159" name="Google Shape;159;p3"/>
            <p:cNvSpPr/>
            <p:nvPr/>
          </p:nvSpPr>
          <p:spPr>
            <a:xfrm>
              <a:off x="430032" y="831702"/>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txBox="1"/>
            <p:nvPr/>
          </p:nvSpPr>
          <p:spPr>
            <a:xfrm>
              <a:off x="430032" y="831702"/>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Organic matter</a:t>
              </a:r>
              <a:endParaRPr/>
            </a:p>
          </p:txBody>
        </p:sp>
        <p:sp>
          <p:nvSpPr>
            <p:cNvPr id="161" name="Google Shape;161;p3"/>
            <p:cNvSpPr/>
            <p:nvPr/>
          </p:nvSpPr>
          <p:spPr>
            <a:xfrm>
              <a:off x="722849" y="1663303"/>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
            <p:cNvSpPr txBox="1"/>
            <p:nvPr/>
          </p:nvSpPr>
          <p:spPr>
            <a:xfrm>
              <a:off x="722849" y="1663303"/>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Solid- non crystalline</a:t>
              </a:r>
              <a:endParaRPr/>
            </a:p>
          </p:txBody>
        </p:sp>
        <p:sp>
          <p:nvSpPr>
            <p:cNvPr id="163" name="Google Shape;163;p3"/>
            <p:cNvSpPr/>
            <p:nvPr/>
          </p:nvSpPr>
          <p:spPr>
            <a:xfrm>
              <a:off x="722849" y="2494904"/>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txBox="1"/>
            <p:nvPr/>
          </p:nvSpPr>
          <p:spPr>
            <a:xfrm>
              <a:off x="722849" y="2494904"/>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Solid crystalline</a:t>
              </a:r>
              <a:endParaRPr/>
            </a:p>
          </p:txBody>
        </p:sp>
        <p:sp>
          <p:nvSpPr>
            <p:cNvPr id="165" name="Google Shape;165;p3"/>
            <p:cNvSpPr/>
            <p:nvPr/>
          </p:nvSpPr>
          <p:spPr>
            <a:xfrm>
              <a:off x="1847267" y="831702"/>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3"/>
            <p:cNvSpPr txBox="1"/>
            <p:nvPr/>
          </p:nvSpPr>
          <p:spPr>
            <a:xfrm>
              <a:off x="1847267" y="831702"/>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Inorganic matter</a:t>
              </a:r>
              <a:endParaRPr/>
            </a:p>
          </p:txBody>
        </p:sp>
        <p:sp>
          <p:nvSpPr>
            <p:cNvPr id="167" name="Google Shape;167;p3"/>
            <p:cNvSpPr/>
            <p:nvPr/>
          </p:nvSpPr>
          <p:spPr>
            <a:xfrm>
              <a:off x="2140084" y="1663303"/>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txBox="1"/>
            <p:nvPr/>
          </p:nvSpPr>
          <p:spPr>
            <a:xfrm>
              <a:off x="2140084" y="1663303"/>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Solid crystalline</a:t>
              </a:r>
              <a:endParaRPr/>
            </a:p>
          </p:txBody>
        </p:sp>
        <p:sp>
          <p:nvSpPr>
            <p:cNvPr id="169" name="Google Shape;169;p3"/>
            <p:cNvSpPr/>
            <p:nvPr/>
          </p:nvSpPr>
          <p:spPr>
            <a:xfrm>
              <a:off x="2140084" y="2494904"/>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txBox="1"/>
            <p:nvPr/>
          </p:nvSpPr>
          <p:spPr>
            <a:xfrm>
              <a:off x="2140084" y="2494904"/>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Solid semi crystalline</a:t>
              </a:r>
              <a:endParaRPr/>
            </a:p>
          </p:txBody>
        </p:sp>
        <p:sp>
          <p:nvSpPr>
            <p:cNvPr id="171" name="Google Shape;171;p3"/>
            <p:cNvSpPr/>
            <p:nvPr/>
          </p:nvSpPr>
          <p:spPr>
            <a:xfrm>
              <a:off x="2140084" y="3326505"/>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3"/>
            <p:cNvSpPr txBox="1"/>
            <p:nvPr/>
          </p:nvSpPr>
          <p:spPr>
            <a:xfrm>
              <a:off x="2140084" y="3326505"/>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Solid amorphous</a:t>
              </a:r>
              <a:endParaRPr/>
            </a:p>
          </p:txBody>
        </p:sp>
        <p:sp>
          <p:nvSpPr>
            <p:cNvPr id="173" name="Google Shape;173;p3"/>
            <p:cNvSpPr/>
            <p:nvPr/>
          </p:nvSpPr>
          <p:spPr>
            <a:xfrm>
              <a:off x="3264502" y="831702"/>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txBox="1"/>
            <p:nvPr/>
          </p:nvSpPr>
          <p:spPr>
            <a:xfrm>
              <a:off x="3264502" y="831702"/>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Fluid matter</a:t>
              </a:r>
              <a:endParaRPr/>
            </a:p>
          </p:txBody>
        </p:sp>
        <p:sp>
          <p:nvSpPr>
            <p:cNvPr id="175" name="Google Shape;175;p3"/>
            <p:cNvSpPr/>
            <p:nvPr/>
          </p:nvSpPr>
          <p:spPr>
            <a:xfrm>
              <a:off x="3557320" y="1663303"/>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txBox="1"/>
            <p:nvPr/>
          </p:nvSpPr>
          <p:spPr>
            <a:xfrm>
              <a:off x="3557320" y="1663303"/>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Liquid</a:t>
              </a:r>
              <a:endParaRPr/>
            </a:p>
          </p:txBody>
        </p:sp>
        <p:sp>
          <p:nvSpPr>
            <p:cNvPr id="177" name="Google Shape;177;p3"/>
            <p:cNvSpPr/>
            <p:nvPr/>
          </p:nvSpPr>
          <p:spPr>
            <a:xfrm>
              <a:off x="3557320" y="2494904"/>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txBox="1"/>
            <p:nvPr/>
          </p:nvSpPr>
          <p:spPr>
            <a:xfrm>
              <a:off x="3557320" y="2494904"/>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Gas</a:t>
              </a:r>
              <a:endParaRPr/>
            </a:p>
          </p:txBody>
        </p:sp>
        <p:sp>
          <p:nvSpPr>
            <p:cNvPr id="179" name="Google Shape;179;p3"/>
            <p:cNvSpPr/>
            <p:nvPr/>
          </p:nvSpPr>
          <p:spPr>
            <a:xfrm>
              <a:off x="3557320" y="3326505"/>
              <a:ext cx="1171268" cy="585634"/>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txBox="1"/>
            <p:nvPr/>
          </p:nvSpPr>
          <p:spPr>
            <a:xfrm>
              <a:off x="3557320" y="3326505"/>
              <a:ext cx="1171268" cy="585634"/>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Fluid</a:t>
              </a:r>
              <a:endParaRPr/>
            </a:p>
          </p:txBody>
        </p:sp>
      </p:grpSp>
      <p:grpSp>
        <p:nvGrpSpPr>
          <p:cNvPr id="181" name="Google Shape;181;p3"/>
          <p:cNvGrpSpPr/>
          <p:nvPr/>
        </p:nvGrpSpPr>
        <p:grpSpPr>
          <a:xfrm>
            <a:off x="4701543" y="254787"/>
            <a:ext cx="2877494" cy="3076345"/>
            <a:chOff x="114298" y="1914"/>
            <a:chExt cx="2877494" cy="3076345"/>
          </a:xfrm>
        </p:grpSpPr>
        <p:sp>
          <p:nvSpPr>
            <p:cNvPr id="182" name="Google Shape;182;p3"/>
            <p:cNvSpPr/>
            <p:nvPr/>
          </p:nvSpPr>
          <p:spPr>
            <a:xfrm>
              <a:off x="1646622" y="1417267"/>
              <a:ext cx="175456" cy="538068"/>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83" name="Google Shape;183;p3"/>
            <p:cNvSpPr/>
            <p:nvPr/>
          </p:nvSpPr>
          <p:spPr>
            <a:xfrm>
              <a:off x="1406831" y="586770"/>
              <a:ext cx="707676" cy="245639"/>
            </a:xfrm>
            <a:custGeom>
              <a:rect b="b" l="l" r="r" t="t"/>
              <a:pathLst>
                <a:path extrusionOk="0" h="120000" w="120000">
                  <a:moveTo>
                    <a:pt x="0" y="0"/>
                  </a:moveTo>
                  <a:lnTo>
                    <a:pt x="0" y="60000"/>
                  </a:lnTo>
                  <a:lnTo>
                    <a:pt x="120000" y="60000"/>
                  </a:lnTo>
                  <a:lnTo>
                    <a:pt x="120000" y="120000"/>
                  </a:lnTo>
                </a:path>
              </a:pathLst>
            </a:custGeom>
            <a:noFill/>
            <a:ln cap="flat" cmpd="sng" w="12700">
              <a:solidFill>
                <a:srgbClr val="345A99"/>
              </a:solidFill>
              <a:prstDash val="solid"/>
              <a:miter lim="800000"/>
              <a:headEnd len="sm" w="sm" type="none"/>
              <a:tailEnd len="sm" w="sm" type="none"/>
            </a:ln>
          </p:spPr>
        </p:sp>
        <p:sp>
          <p:nvSpPr>
            <p:cNvPr id="184" name="Google Shape;184;p3"/>
            <p:cNvSpPr/>
            <p:nvPr/>
          </p:nvSpPr>
          <p:spPr>
            <a:xfrm>
              <a:off x="231269" y="1417267"/>
              <a:ext cx="175456" cy="1368564"/>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85" name="Google Shape;185;p3"/>
            <p:cNvSpPr/>
            <p:nvPr/>
          </p:nvSpPr>
          <p:spPr>
            <a:xfrm>
              <a:off x="231269" y="1417267"/>
              <a:ext cx="175456" cy="538068"/>
            </a:xfrm>
            <a:custGeom>
              <a:rect b="b" l="l" r="r" t="t"/>
              <a:pathLst>
                <a:path extrusionOk="0" h="120000" w="120000">
                  <a:moveTo>
                    <a:pt x="0" y="0"/>
                  </a:moveTo>
                  <a:lnTo>
                    <a:pt x="0" y="120000"/>
                  </a:lnTo>
                  <a:lnTo>
                    <a:pt x="120000" y="120000"/>
                  </a:lnTo>
                </a:path>
              </a:pathLst>
            </a:custGeom>
            <a:noFill/>
            <a:ln cap="flat" cmpd="sng" w="12700">
              <a:solidFill>
                <a:srgbClr val="3A66B1"/>
              </a:solidFill>
              <a:prstDash val="solid"/>
              <a:miter lim="800000"/>
              <a:headEnd len="sm" w="sm" type="none"/>
              <a:tailEnd len="sm" w="sm" type="none"/>
            </a:ln>
          </p:spPr>
        </p:sp>
        <p:sp>
          <p:nvSpPr>
            <p:cNvPr id="186" name="Google Shape;186;p3"/>
            <p:cNvSpPr/>
            <p:nvPr/>
          </p:nvSpPr>
          <p:spPr>
            <a:xfrm>
              <a:off x="699154" y="586770"/>
              <a:ext cx="707676" cy="245639"/>
            </a:xfrm>
            <a:custGeom>
              <a:rect b="b" l="l" r="r" t="t"/>
              <a:pathLst>
                <a:path extrusionOk="0" h="120000" w="120000">
                  <a:moveTo>
                    <a:pt x="120000" y="0"/>
                  </a:moveTo>
                  <a:lnTo>
                    <a:pt x="120000" y="60000"/>
                  </a:lnTo>
                  <a:lnTo>
                    <a:pt x="0" y="60000"/>
                  </a:lnTo>
                  <a:lnTo>
                    <a:pt x="0" y="120000"/>
                  </a:lnTo>
                </a:path>
              </a:pathLst>
            </a:custGeom>
            <a:noFill/>
            <a:ln cap="flat" cmpd="sng" w="12700">
              <a:solidFill>
                <a:srgbClr val="345A99"/>
              </a:solidFill>
              <a:prstDash val="solid"/>
              <a:miter lim="800000"/>
              <a:headEnd len="sm" w="sm" type="none"/>
              <a:tailEnd len="sm" w="sm" type="none"/>
            </a:ln>
          </p:spPr>
        </p:sp>
        <p:sp>
          <p:nvSpPr>
            <p:cNvPr id="187" name="Google Shape;187;p3"/>
            <p:cNvSpPr/>
            <p:nvPr/>
          </p:nvSpPr>
          <p:spPr>
            <a:xfrm>
              <a:off x="475172" y="1914"/>
              <a:ext cx="1863318" cy="58485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3"/>
            <p:cNvSpPr txBox="1"/>
            <p:nvPr/>
          </p:nvSpPr>
          <p:spPr>
            <a:xfrm>
              <a:off x="475172" y="1914"/>
              <a:ext cx="1863318" cy="584856"/>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Biomass origin</a:t>
              </a:r>
              <a:endParaRPr/>
            </a:p>
          </p:txBody>
        </p:sp>
        <p:sp>
          <p:nvSpPr>
            <p:cNvPr id="189" name="Google Shape;189;p3"/>
            <p:cNvSpPr/>
            <p:nvPr/>
          </p:nvSpPr>
          <p:spPr>
            <a:xfrm>
              <a:off x="114298" y="832410"/>
              <a:ext cx="1169713" cy="58485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
            <p:cNvSpPr txBox="1"/>
            <p:nvPr/>
          </p:nvSpPr>
          <p:spPr>
            <a:xfrm>
              <a:off x="114298" y="832410"/>
              <a:ext cx="1169713" cy="584856"/>
            </a:xfrm>
            <a:prstGeom prst="rect">
              <a:avLst/>
            </a:prstGeom>
            <a:noFill/>
            <a:ln>
              <a:noFill/>
            </a:ln>
          </p:spPr>
          <p:txBody>
            <a:bodyPr anchorCtr="0" anchor="ctr" bIns="10150" lIns="10150" spcFirstLastPara="1" rIns="10150" wrap="square" tIns="10150">
              <a:noAutofit/>
            </a:bodyPr>
            <a:lstStyle/>
            <a:p>
              <a:pPr indent="0" lvl="0" marL="0" marR="0" rtl="0" algn="ctr">
                <a:lnSpc>
                  <a:spcPct val="90000"/>
                </a:lnSpc>
                <a:spcBef>
                  <a:spcPts val="0"/>
                </a:spcBef>
                <a:spcAft>
                  <a:spcPts val="0"/>
                </a:spcAft>
                <a:buClr>
                  <a:schemeClr val="lt1"/>
                </a:buClr>
                <a:buSzPts val="1600"/>
                <a:buFont typeface="Calibri"/>
                <a:buNone/>
              </a:pPr>
              <a:r>
                <a:rPr b="0" i="0" lang="en-US" sz="1600" u="none" cap="none" strike="noStrike">
                  <a:solidFill>
                    <a:schemeClr val="lt1"/>
                  </a:solidFill>
                  <a:latin typeface="Calibri"/>
                  <a:ea typeface="Calibri"/>
                  <a:cs typeface="Calibri"/>
                  <a:sym typeface="Calibri"/>
                </a:rPr>
                <a:t>Natural</a:t>
              </a:r>
              <a:endParaRPr/>
            </a:p>
          </p:txBody>
        </p:sp>
        <p:sp>
          <p:nvSpPr>
            <p:cNvPr id="191" name="Google Shape;191;p3"/>
            <p:cNvSpPr/>
            <p:nvPr/>
          </p:nvSpPr>
          <p:spPr>
            <a:xfrm>
              <a:off x="406726" y="1662906"/>
              <a:ext cx="1169713" cy="58485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3"/>
            <p:cNvSpPr txBox="1"/>
            <p:nvPr/>
          </p:nvSpPr>
          <p:spPr>
            <a:xfrm>
              <a:off x="406726" y="1662906"/>
              <a:ext cx="1169713" cy="58485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Authigenic</a:t>
              </a:r>
              <a:endParaRPr/>
            </a:p>
          </p:txBody>
        </p:sp>
        <p:sp>
          <p:nvSpPr>
            <p:cNvPr id="193" name="Google Shape;193;p3"/>
            <p:cNvSpPr/>
            <p:nvPr/>
          </p:nvSpPr>
          <p:spPr>
            <a:xfrm>
              <a:off x="406726" y="2493403"/>
              <a:ext cx="1169713" cy="58485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
            <p:cNvSpPr txBox="1"/>
            <p:nvPr/>
          </p:nvSpPr>
          <p:spPr>
            <a:xfrm>
              <a:off x="406726" y="2493403"/>
              <a:ext cx="1169713" cy="58485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Detrital</a:t>
              </a:r>
              <a:endParaRPr/>
            </a:p>
          </p:txBody>
        </p:sp>
        <p:sp>
          <p:nvSpPr>
            <p:cNvPr id="195" name="Google Shape;195;p3"/>
            <p:cNvSpPr/>
            <p:nvPr/>
          </p:nvSpPr>
          <p:spPr>
            <a:xfrm>
              <a:off x="1529651" y="832410"/>
              <a:ext cx="1169713" cy="58485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3"/>
            <p:cNvSpPr txBox="1"/>
            <p:nvPr/>
          </p:nvSpPr>
          <p:spPr>
            <a:xfrm>
              <a:off x="1529651" y="832410"/>
              <a:ext cx="1169713" cy="58485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Anthropogenic</a:t>
              </a:r>
              <a:endParaRPr/>
            </a:p>
          </p:txBody>
        </p:sp>
        <p:sp>
          <p:nvSpPr>
            <p:cNvPr id="197" name="Google Shape;197;p3"/>
            <p:cNvSpPr/>
            <p:nvPr/>
          </p:nvSpPr>
          <p:spPr>
            <a:xfrm>
              <a:off x="1822079" y="1662906"/>
              <a:ext cx="1169713" cy="584856"/>
            </a:xfrm>
            <a:prstGeom prst="rect">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3"/>
            <p:cNvSpPr txBox="1"/>
            <p:nvPr/>
          </p:nvSpPr>
          <p:spPr>
            <a:xfrm>
              <a:off x="1822079" y="1662906"/>
              <a:ext cx="1169713" cy="584856"/>
            </a:xfrm>
            <a:prstGeom prst="rect">
              <a:avLst/>
            </a:prstGeom>
            <a:noFill/>
            <a:ln>
              <a:noFill/>
            </a:ln>
          </p:spPr>
          <p:txBody>
            <a:bodyPr anchorCtr="0" anchor="ctr" bIns="9525" lIns="9525" spcFirstLastPara="1" rIns="9525" wrap="square" tIns="9525">
              <a:noAutofit/>
            </a:bodyPr>
            <a:lstStyle/>
            <a:p>
              <a:pPr indent="0" lvl="0" marL="0" marR="0" rtl="0" algn="ctr">
                <a:lnSpc>
                  <a:spcPct val="90000"/>
                </a:lnSpc>
                <a:spcBef>
                  <a:spcPts val="0"/>
                </a:spcBef>
                <a:spcAft>
                  <a:spcPts val="0"/>
                </a:spcAft>
                <a:buClr>
                  <a:schemeClr val="lt1"/>
                </a:buClr>
                <a:buSzPts val="1500"/>
                <a:buFont typeface="Calibri"/>
                <a:buNone/>
              </a:pPr>
              <a:r>
                <a:rPr b="0" i="0" lang="en-US" sz="1500" u="none" cap="none" strike="noStrike">
                  <a:solidFill>
                    <a:schemeClr val="lt1"/>
                  </a:solidFill>
                  <a:latin typeface="Calibri"/>
                  <a:ea typeface="Calibri"/>
                  <a:cs typeface="Calibri"/>
                  <a:sym typeface="Calibri"/>
                </a:rPr>
                <a:t>Technogenic</a:t>
              </a:r>
              <a:endParaRPr/>
            </a:p>
          </p:txBody>
        </p:sp>
      </p:grpSp>
      <p:cxnSp>
        <p:nvCxnSpPr>
          <p:cNvPr id="199" name="Google Shape;199;p3"/>
          <p:cNvCxnSpPr/>
          <p:nvPr/>
        </p:nvCxnSpPr>
        <p:spPr>
          <a:xfrm>
            <a:off x="7663542" y="2270759"/>
            <a:ext cx="0" cy="2316481"/>
          </a:xfrm>
          <a:prstGeom prst="straightConnector1">
            <a:avLst/>
          </a:prstGeom>
          <a:noFill/>
          <a:ln cap="flat" cmpd="sng" w="28575">
            <a:solidFill>
              <a:schemeClr val="dk1"/>
            </a:solidFill>
            <a:prstDash val="solid"/>
            <a:miter lim="800000"/>
            <a:headEnd len="sm" w="sm" type="none"/>
            <a:tailEnd len="sm" w="sm" type="none"/>
          </a:ln>
        </p:spPr>
      </p:cxnSp>
      <p:sp>
        <p:nvSpPr>
          <p:cNvPr id="200" name="Google Shape;200;p3"/>
          <p:cNvSpPr txBox="1"/>
          <p:nvPr/>
        </p:nvSpPr>
        <p:spPr>
          <a:xfrm>
            <a:off x="5130228" y="3605376"/>
            <a:ext cx="219527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Q: What is Biomass?</a:t>
            </a:r>
            <a:endParaRPr/>
          </a:p>
        </p:txBody>
      </p:sp>
      <p:pic>
        <p:nvPicPr>
          <p:cNvPr id="201" name="Google Shape;201;p3"/>
          <p:cNvPicPr preferRelativeResize="0"/>
          <p:nvPr/>
        </p:nvPicPr>
        <p:blipFill rotWithShape="1">
          <a:blip r:embed="rId4">
            <a:alphaModFix/>
          </a:blip>
          <a:srcRect b="0" l="0" r="0" t="0"/>
          <a:stretch/>
        </p:blipFill>
        <p:spPr>
          <a:xfrm>
            <a:off x="8061164" y="2508423"/>
            <a:ext cx="3810330" cy="1841152"/>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4"/>
          <p:cNvPicPr preferRelativeResize="0"/>
          <p:nvPr/>
        </p:nvPicPr>
        <p:blipFill rotWithShape="1">
          <a:blip r:embed="rId3">
            <a:alphaModFix/>
          </a:blip>
          <a:srcRect b="-2" l="12252" r="15709" t="0"/>
          <a:stretch/>
        </p:blipFill>
        <p:spPr>
          <a:xfrm>
            <a:off x="510923" y="320324"/>
            <a:ext cx="5038344" cy="5577837"/>
          </a:xfrm>
          <a:prstGeom prst="rect">
            <a:avLst/>
          </a:prstGeom>
          <a:noFill/>
          <a:ln>
            <a:noFill/>
          </a:ln>
        </p:spPr>
      </p:pic>
      <p:sp>
        <p:nvSpPr>
          <p:cNvPr id="207" name="Google Shape;207;p4"/>
          <p:cNvSpPr txBox="1"/>
          <p:nvPr>
            <p:ph type="title"/>
          </p:nvPr>
        </p:nvSpPr>
        <p:spPr>
          <a:xfrm>
            <a:off x="6252788" y="525764"/>
            <a:ext cx="2640419" cy="1209218"/>
          </a:xfrm>
          <a:prstGeom prst="rect">
            <a:avLst/>
          </a:prstGeom>
          <a:noFill/>
          <a:ln>
            <a:noFill/>
          </a:ln>
        </p:spPr>
        <p:txBody>
          <a:bodyPr anchorCtr="0" anchor="ctr" bIns="45700" lIns="91425" spcFirstLastPara="1" rIns="91425" wrap="square" tIns="45700">
            <a:normAutofit/>
          </a:bodyPr>
          <a:lstStyle/>
          <a:p>
            <a:pPr indent="0" lvl="0" marL="0" rtl="0" algn="l">
              <a:lnSpc>
                <a:spcPct val="70000"/>
              </a:lnSpc>
              <a:spcBef>
                <a:spcPts val="0"/>
              </a:spcBef>
              <a:spcAft>
                <a:spcPts val="0"/>
              </a:spcAft>
              <a:buClr>
                <a:schemeClr val="dk1"/>
              </a:buClr>
              <a:buSzPts val="2400"/>
              <a:buFont typeface="Calibri"/>
              <a:buNone/>
            </a:pPr>
            <a:r>
              <a:rPr b="1" lang="en-US" sz="2400"/>
              <a:t>Versatility of Gasification Process</a:t>
            </a:r>
            <a:endParaRPr/>
          </a:p>
        </p:txBody>
      </p:sp>
      <p:sp>
        <p:nvSpPr>
          <p:cNvPr id="208" name="Google Shape;208;p4"/>
          <p:cNvSpPr txBox="1"/>
          <p:nvPr>
            <p:ph idx="12" type="sldNum"/>
          </p:nvPr>
        </p:nvSpPr>
        <p:spPr>
          <a:xfrm>
            <a:off x="7981950" y="6566655"/>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09" name="Google Shape;209;p4"/>
          <p:cNvSpPr txBox="1"/>
          <p:nvPr/>
        </p:nvSpPr>
        <p:spPr>
          <a:xfrm>
            <a:off x="579949" y="6441440"/>
            <a:ext cx="2286000"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Source:</a:t>
            </a:r>
            <a:endParaRPr/>
          </a:p>
        </p:txBody>
      </p:sp>
      <p:pic>
        <p:nvPicPr>
          <p:cNvPr id="210" name="Google Shape;210;p4"/>
          <p:cNvPicPr preferRelativeResize="0"/>
          <p:nvPr/>
        </p:nvPicPr>
        <p:blipFill rotWithShape="1">
          <a:blip r:embed="rId4">
            <a:alphaModFix/>
          </a:blip>
          <a:srcRect b="0" l="0" r="0" t="0"/>
          <a:stretch/>
        </p:blipFill>
        <p:spPr>
          <a:xfrm>
            <a:off x="2731835" y="1618374"/>
            <a:ext cx="1235224" cy="1948070"/>
          </a:xfrm>
          <a:prstGeom prst="rect">
            <a:avLst/>
          </a:prstGeom>
          <a:noFill/>
          <a:ln>
            <a:noFill/>
          </a:ln>
        </p:spPr>
      </p:pic>
      <p:sp>
        <p:nvSpPr>
          <p:cNvPr id="211" name="Google Shape;211;p4"/>
          <p:cNvSpPr/>
          <p:nvPr/>
        </p:nvSpPr>
        <p:spPr>
          <a:xfrm>
            <a:off x="3548625" y="1866852"/>
            <a:ext cx="418435" cy="25179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2" name="Google Shape;212;p4"/>
          <p:cNvSpPr/>
          <p:nvPr/>
        </p:nvSpPr>
        <p:spPr>
          <a:xfrm>
            <a:off x="2731834" y="1866852"/>
            <a:ext cx="228500" cy="25179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3" name="Google Shape;213;p4"/>
          <p:cNvSpPr/>
          <p:nvPr/>
        </p:nvSpPr>
        <p:spPr>
          <a:xfrm>
            <a:off x="2731834" y="2906815"/>
            <a:ext cx="228500" cy="251792"/>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4" name="Google Shape;214;p4"/>
          <p:cNvSpPr txBox="1"/>
          <p:nvPr/>
        </p:nvSpPr>
        <p:spPr>
          <a:xfrm>
            <a:off x="6207342" y="1493091"/>
            <a:ext cx="2389583" cy="40011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Flexible feedstock</a:t>
            </a:r>
            <a:endParaRPr/>
          </a:p>
        </p:txBody>
      </p:sp>
      <p:sp>
        <p:nvSpPr>
          <p:cNvPr id="215" name="Google Shape;215;p4"/>
          <p:cNvSpPr txBox="1"/>
          <p:nvPr/>
        </p:nvSpPr>
        <p:spPr>
          <a:xfrm>
            <a:off x="6207341" y="1929314"/>
            <a:ext cx="2389583" cy="70788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Variety of products</a:t>
            </a:r>
            <a:endParaRPr/>
          </a:p>
        </p:txBody>
      </p:sp>
      <p:sp>
        <p:nvSpPr>
          <p:cNvPr id="216" name="Google Shape;216;p4"/>
          <p:cNvSpPr txBox="1"/>
          <p:nvPr/>
        </p:nvSpPr>
        <p:spPr>
          <a:xfrm>
            <a:off x="6185989" y="2549214"/>
            <a:ext cx="2875477" cy="70788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1" lang="en-US" sz="2000">
                <a:solidFill>
                  <a:schemeClr val="dk1"/>
                </a:solidFill>
                <a:latin typeface="Calibri"/>
                <a:ea typeface="Calibri"/>
                <a:cs typeface="Calibri"/>
                <a:sym typeface="Calibri"/>
              </a:rPr>
              <a:t>Pre-combustion carbon capture</a:t>
            </a:r>
            <a:endParaRPr/>
          </a:p>
        </p:txBody>
      </p:sp>
      <p:sp>
        <p:nvSpPr>
          <p:cNvPr id="217" name="Google Shape;217;p4"/>
          <p:cNvSpPr/>
          <p:nvPr/>
        </p:nvSpPr>
        <p:spPr>
          <a:xfrm>
            <a:off x="1330731" y="208429"/>
            <a:ext cx="772998" cy="57475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8" name="Google Shape;218;p4"/>
          <p:cNvSpPr/>
          <p:nvPr/>
        </p:nvSpPr>
        <p:spPr>
          <a:xfrm>
            <a:off x="2689664" y="186226"/>
            <a:ext cx="772998" cy="57475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19" name="Google Shape;219;p4"/>
          <p:cNvSpPr/>
          <p:nvPr/>
        </p:nvSpPr>
        <p:spPr>
          <a:xfrm>
            <a:off x="4048597" y="153136"/>
            <a:ext cx="886121" cy="630044"/>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0" name="Google Shape;220;p4"/>
          <p:cNvSpPr/>
          <p:nvPr/>
        </p:nvSpPr>
        <p:spPr>
          <a:xfrm>
            <a:off x="736234" y="2906816"/>
            <a:ext cx="1292080" cy="1336001"/>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1" name="Google Shape;221;p4"/>
          <p:cNvSpPr/>
          <p:nvPr/>
        </p:nvSpPr>
        <p:spPr>
          <a:xfrm>
            <a:off x="4269086" y="2939103"/>
            <a:ext cx="1292080" cy="1336001"/>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2" name="Google Shape;222;p4"/>
          <p:cNvSpPr/>
          <p:nvPr/>
        </p:nvSpPr>
        <p:spPr>
          <a:xfrm>
            <a:off x="244433" y="4827060"/>
            <a:ext cx="1292080" cy="1336001"/>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3" name="Google Shape;223;p4"/>
          <p:cNvSpPr/>
          <p:nvPr/>
        </p:nvSpPr>
        <p:spPr>
          <a:xfrm>
            <a:off x="1601138" y="4843469"/>
            <a:ext cx="1292080" cy="1336001"/>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4" name="Google Shape;224;p4"/>
          <p:cNvSpPr/>
          <p:nvPr/>
        </p:nvSpPr>
        <p:spPr>
          <a:xfrm>
            <a:off x="3187362" y="4806657"/>
            <a:ext cx="1292080" cy="1336001"/>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5" name="Google Shape;225;p4"/>
          <p:cNvSpPr/>
          <p:nvPr/>
        </p:nvSpPr>
        <p:spPr>
          <a:xfrm>
            <a:off x="4633820" y="4756129"/>
            <a:ext cx="1292080" cy="1336001"/>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pic>
        <p:nvPicPr>
          <p:cNvPr id="226" name="Google Shape;226;p4"/>
          <p:cNvPicPr preferRelativeResize="0"/>
          <p:nvPr/>
        </p:nvPicPr>
        <p:blipFill rotWithShape="1">
          <a:blip r:embed="rId5">
            <a:alphaModFix/>
          </a:blip>
          <a:srcRect b="0" l="0" r="0" t="0"/>
          <a:stretch/>
        </p:blipFill>
        <p:spPr>
          <a:xfrm>
            <a:off x="1267800" y="6485790"/>
            <a:ext cx="2047875" cy="219075"/>
          </a:xfrm>
          <a:prstGeom prst="rect">
            <a:avLst/>
          </a:prstGeom>
          <a:noFill/>
          <a:ln>
            <a:noFill/>
          </a:ln>
        </p:spPr>
      </p:pic>
      <p:sp>
        <p:nvSpPr>
          <p:cNvPr id="227" name="Google Shape;227;p4"/>
          <p:cNvSpPr/>
          <p:nvPr/>
        </p:nvSpPr>
        <p:spPr>
          <a:xfrm>
            <a:off x="440423" y="4260920"/>
            <a:ext cx="1234912" cy="1225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8" name="Google Shape;228;p4"/>
          <p:cNvSpPr/>
          <p:nvPr/>
        </p:nvSpPr>
        <p:spPr>
          <a:xfrm>
            <a:off x="4565892" y="4279065"/>
            <a:ext cx="1234912" cy="140652"/>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229" name="Google Shape;229;p4"/>
          <p:cNvSpPr/>
          <p:nvPr/>
        </p:nvSpPr>
        <p:spPr>
          <a:xfrm>
            <a:off x="6185989" y="655782"/>
            <a:ext cx="2629282" cy="837309"/>
          </a:xfrm>
          <a:prstGeom prst="rect">
            <a:avLst/>
          </a:prstGeom>
          <a:noFill/>
          <a:ln cap="flat" cmpd="sng" w="28575">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4"/>
          <p:cNvSpPr/>
          <p:nvPr/>
        </p:nvSpPr>
        <p:spPr>
          <a:xfrm>
            <a:off x="98724" y="133829"/>
            <a:ext cx="6075365" cy="6615386"/>
          </a:xfrm>
          <a:prstGeom prst="rect">
            <a:avLst/>
          </a:prstGeom>
          <a:noFill/>
          <a:ln cap="flat" cmpd="sng" w="28575">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31" name="Google Shape;231;p4"/>
          <p:cNvPicPr preferRelativeResize="0"/>
          <p:nvPr/>
        </p:nvPicPr>
        <p:blipFill rotWithShape="1">
          <a:blip r:embed="rId6">
            <a:alphaModFix/>
          </a:blip>
          <a:srcRect b="0" l="0" r="0" t="0"/>
          <a:stretch/>
        </p:blipFill>
        <p:spPr>
          <a:xfrm>
            <a:off x="6407741" y="3877000"/>
            <a:ext cx="3406627" cy="2717815"/>
          </a:xfrm>
          <a:prstGeom prst="rect">
            <a:avLst/>
          </a:prstGeom>
          <a:noFill/>
          <a:ln>
            <a:noFill/>
          </a:ln>
        </p:spPr>
      </p:pic>
      <p:sp>
        <p:nvSpPr>
          <p:cNvPr id="232" name="Google Shape;232;p4"/>
          <p:cNvSpPr txBox="1"/>
          <p:nvPr>
            <p:ph idx="1" type="body"/>
          </p:nvPr>
        </p:nvSpPr>
        <p:spPr>
          <a:xfrm>
            <a:off x="8691361" y="1556782"/>
            <a:ext cx="3406627" cy="295185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272 operating gasification plants worldwide with 686 gasifiers. </a:t>
            </a:r>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74 plants under construction worldwide that will have a total of 238 gasifiers</a:t>
            </a:r>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33 gasification plants in the United States.</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500"/>
                                        <p:tgtEl>
                                          <p:spTgt spid="214"/>
                                        </p:tgtEl>
                                      </p:cBhvr>
                                    </p:animEffect>
                                  </p:childTnLst>
                                </p:cTn>
                              </p:par>
                              <p:par>
                                <p:cTn fill="hold" nodeType="withEffect" presetClass="entr" presetID="10" presetSubtype="0">
                                  <p:stCondLst>
                                    <p:cond delay="0"/>
                                  </p:stCondLst>
                                  <p:childTnLst>
                                    <p:set>
                                      <p:cBhvr>
                                        <p:cTn dur="1" fill="hold">
                                          <p:stCondLst>
                                            <p:cond delay="0"/>
                                          </p:stCondLst>
                                        </p:cTn>
                                        <p:tgtEl>
                                          <p:spTgt spid="217"/>
                                        </p:tgtEl>
                                        <p:attrNameLst>
                                          <p:attrName>style.visibility</p:attrName>
                                        </p:attrNameLst>
                                      </p:cBhvr>
                                      <p:to>
                                        <p:strVal val="visible"/>
                                      </p:to>
                                    </p:set>
                                    <p:animEffect filter="fade" transition="in">
                                      <p:cBhvr>
                                        <p:cTn dur="500"/>
                                        <p:tgtEl>
                                          <p:spTgt spid="217"/>
                                        </p:tgtEl>
                                      </p:cBhvr>
                                    </p:animEffect>
                                  </p:childTnLst>
                                </p:cTn>
                              </p:par>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par>
                                <p:cTn fill="hold" nodeType="with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5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1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1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1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500"/>
                                        <p:tgtEl>
                                          <p:spTgt spid="220"/>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23"/>
                                        </p:tgtEl>
                                        <p:attrNameLst>
                                          <p:attrName>style.visibility</p:attrName>
                                        </p:attrNameLst>
                                      </p:cBhvr>
                                      <p:to>
                                        <p:strVal val="visible"/>
                                      </p:to>
                                    </p:set>
                                    <p:animEffect filter="fade" transition="in">
                                      <p:cBhvr>
                                        <p:cTn dur="500"/>
                                        <p:tgtEl>
                                          <p:spTgt spid="223"/>
                                        </p:tgtEl>
                                      </p:cBhvr>
                                    </p:animEffec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par>
                                <p:cTn fill="hold" nodeType="withEffect" presetClass="entr" presetID="10" presetSubtype="0">
                                  <p:stCondLst>
                                    <p:cond delay="0"/>
                                  </p:stCondLst>
                                  <p:childTnLst>
                                    <p:set>
                                      <p:cBhvr>
                                        <p:cTn dur="1" fill="hold">
                                          <p:stCondLst>
                                            <p:cond delay="0"/>
                                          </p:stCondLst>
                                        </p:cTn>
                                        <p:tgtEl>
                                          <p:spTgt spid="221"/>
                                        </p:tgtEl>
                                        <p:attrNameLst>
                                          <p:attrName>style.visibility</p:attrName>
                                        </p:attrNameLst>
                                      </p:cBhvr>
                                      <p:to>
                                        <p:strVal val="visible"/>
                                      </p:to>
                                    </p:set>
                                    <p:animEffect filter="fade" transition="in">
                                      <p:cBhvr>
                                        <p:cTn dur="500"/>
                                        <p:tgtEl>
                                          <p:spTgt spid="2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2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2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2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2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5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pic>
        <p:nvPicPr>
          <p:cNvPr id="237" name="Google Shape;237;p5"/>
          <p:cNvPicPr preferRelativeResize="0"/>
          <p:nvPr/>
        </p:nvPicPr>
        <p:blipFill rotWithShape="1">
          <a:blip r:embed="rId3">
            <a:alphaModFix/>
          </a:blip>
          <a:srcRect b="0" l="0" r="0" t="0"/>
          <a:stretch/>
        </p:blipFill>
        <p:spPr>
          <a:xfrm>
            <a:off x="4596049" y="4116929"/>
            <a:ext cx="6123155" cy="2388029"/>
          </a:xfrm>
          <a:prstGeom prst="rect">
            <a:avLst/>
          </a:prstGeom>
          <a:noFill/>
          <a:ln>
            <a:noFill/>
          </a:ln>
        </p:spPr>
      </p:pic>
      <p:sp>
        <p:nvSpPr>
          <p:cNvPr id="238" name="Google Shape;238;p5"/>
          <p:cNvSpPr/>
          <p:nvPr/>
        </p:nvSpPr>
        <p:spPr>
          <a:xfrm>
            <a:off x="8947766" y="4255824"/>
            <a:ext cx="1607112" cy="2110885"/>
          </a:xfrm>
          <a:prstGeom prst="rect">
            <a:avLst/>
          </a:prstGeom>
          <a:gradFill>
            <a:gsLst>
              <a:gs pos="0">
                <a:srgbClr val="F5F7FC">
                  <a:alpha val="0"/>
                </a:srgbClr>
              </a:gs>
              <a:gs pos="86000">
                <a:srgbClr val="F5F7FC">
                  <a:alpha val="0"/>
                </a:srgbClr>
              </a:gs>
              <a:gs pos="100000">
                <a:srgbClr val="A9BEE4"/>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5"/>
          <p:cNvSpPr/>
          <p:nvPr/>
        </p:nvSpPr>
        <p:spPr>
          <a:xfrm>
            <a:off x="4540636" y="2243736"/>
            <a:ext cx="796151" cy="663530"/>
          </a:xfrm>
          <a:prstGeom prst="ellipse">
            <a:avLst/>
          </a:prstGeom>
          <a:noFill/>
          <a:ln cap="flat" cmpd="sng" w="28575">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5"/>
          <p:cNvSpPr/>
          <p:nvPr/>
        </p:nvSpPr>
        <p:spPr>
          <a:xfrm>
            <a:off x="6292196" y="36076"/>
            <a:ext cx="1022219" cy="583968"/>
          </a:xfrm>
          <a:prstGeom prst="ellipse">
            <a:avLst/>
          </a:prstGeom>
          <a:noFill/>
          <a:ln cap="flat" cmpd="sng" w="28575">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 name="Google Shape;241;p5"/>
          <p:cNvSpPr txBox="1"/>
          <p:nvPr>
            <p:ph type="title"/>
          </p:nvPr>
        </p:nvSpPr>
        <p:spPr>
          <a:xfrm>
            <a:off x="1844040" y="637867"/>
            <a:ext cx="2538663" cy="553909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00"/>
              </a:buClr>
              <a:buSzPts val="2200"/>
              <a:buFont typeface="Calibri"/>
              <a:buNone/>
            </a:pPr>
            <a:br>
              <a:rPr lang="en-US" sz="2200">
                <a:solidFill>
                  <a:srgbClr val="FFFF00"/>
                </a:solidFill>
              </a:rPr>
            </a:br>
            <a:br>
              <a:rPr lang="en-US" sz="1800">
                <a:solidFill>
                  <a:schemeClr val="lt1"/>
                </a:solidFill>
              </a:rPr>
            </a:br>
            <a:br>
              <a:rPr lang="en-US" sz="1800">
                <a:solidFill>
                  <a:schemeClr val="lt1"/>
                </a:solidFill>
              </a:rPr>
            </a:br>
            <a:br>
              <a:rPr lang="en-US" sz="2000">
                <a:solidFill>
                  <a:schemeClr val="lt1"/>
                </a:solidFill>
              </a:rPr>
            </a:br>
            <a:br>
              <a:rPr lang="en-US" sz="2000">
                <a:solidFill>
                  <a:schemeClr val="lt1"/>
                </a:solidFill>
              </a:rPr>
            </a:br>
            <a:br>
              <a:rPr lang="en-US" sz="2000">
                <a:solidFill>
                  <a:schemeClr val="lt1"/>
                </a:solidFill>
              </a:rPr>
            </a:br>
            <a:br>
              <a:rPr b="1" lang="en-US" sz="2000">
                <a:solidFill>
                  <a:schemeClr val="lt1"/>
                </a:solidFill>
              </a:rPr>
            </a:br>
            <a:br>
              <a:rPr b="1" lang="en-US" sz="2000">
                <a:solidFill>
                  <a:schemeClr val="lt1"/>
                </a:solidFill>
              </a:rPr>
            </a:br>
            <a:endParaRPr b="1" sz="2000">
              <a:solidFill>
                <a:schemeClr val="lt1"/>
              </a:solidFill>
            </a:endParaRPr>
          </a:p>
        </p:txBody>
      </p:sp>
      <p:pic>
        <p:nvPicPr>
          <p:cNvPr id="242" name="Google Shape;242;p5"/>
          <p:cNvPicPr preferRelativeResize="0"/>
          <p:nvPr>
            <p:ph idx="1" type="body"/>
          </p:nvPr>
        </p:nvPicPr>
        <p:blipFill rotWithShape="1">
          <a:blip r:embed="rId4">
            <a:alphaModFix/>
          </a:blip>
          <a:srcRect b="0" l="0" r="0" t="0"/>
          <a:stretch/>
        </p:blipFill>
        <p:spPr>
          <a:xfrm>
            <a:off x="5344420" y="333750"/>
            <a:ext cx="796151" cy="3190875"/>
          </a:xfrm>
          <a:prstGeom prst="rect">
            <a:avLst/>
          </a:prstGeom>
          <a:noFill/>
          <a:ln>
            <a:noFill/>
          </a:ln>
        </p:spPr>
      </p:pic>
      <p:sp>
        <p:nvSpPr>
          <p:cNvPr id="243" name="Google Shape;24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4" name="Google Shape;244;p5"/>
          <p:cNvSpPr txBox="1"/>
          <p:nvPr/>
        </p:nvSpPr>
        <p:spPr>
          <a:xfrm>
            <a:off x="4488772" y="2420711"/>
            <a:ext cx="106015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mbria Math"/>
                <a:ea typeface="Cambria Math"/>
                <a:cs typeface="Cambria Math"/>
                <a:sym typeface="Cambria Math"/>
              </a:rPr>
              <a:t>Solid fuel</a:t>
            </a:r>
            <a:endParaRPr/>
          </a:p>
        </p:txBody>
      </p:sp>
      <p:sp>
        <p:nvSpPr>
          <p:cNvPr id="245" name="Google Shape;245;p5"/>
          <p:cNvSpPr/>
          <p:nvPr/>
        </p:nvSpPr>
        <p:spPr>
          <a:xfrm>
            <a:off x="6140570" y="620045"/>
            <a:ext cx="1407158" cy="187505"/>
          </a:xfrm>
          <a:prstGeom prst="rightArrow">
            <a:avLst>
              <a:gd fmla="val 50000" name="adj1"/>
              <a:gd fmla="val 50000" name="adj2"/>
            </a:avLst>
          </a:prstGeom>
          <a:solidFill>
            <a:srgbClr val="D0CECE"/>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5"/>
          <p:cNvSpPr txBox="1"/>
          <p:nvPr/>
        </p:nvSpPr>
        <p:spPr>
          <a:xfrm>
            <a:off x="6236120" y="187929"/>
            <a:ext cx="121605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mbria Math"/>
                <a:ea typeface="Cambria Math"/>
                <a:cs typeface="Cambria Math"/>
                <a:sym typeface="Cambria Math"/>
              </a:rPr>
              <a:t>Producer gas </a:t>
            </a:r>
            <a:endParaRPr/>
          </a:p>
        </p:txBody>
      </p:sp>
      <p:sp>
        <p:nvSpPr>
          <p:cNvPr id="247" name="Google Shape;247;p5"/>
          <p:cNvSpPr txBox="1"/>
          <p:nvPr/>
        </p:nvSpPr>
        <p:spPr>
          <a:xfrm>
            <a:off x="7547728" y="433634"/>
            <a:ext cx="1366886" cy="646331"/>
          </a:xfrm>
          <a:prstGeom prst="rect">
            <a:avLst/>
          </a:prstGeom>
          <a:solidFill>
            <a:srgbClr val="FFD966"/>
          </a:solidFill>
          <a:ln cap="flat" cmpd="sng" w="9525">
            <a:solidFill>
              <a:srgbClr val="C55A1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mbria Math"/>
                <a:ea typeface="Cambria Math"/>
                <a:cs typeface="Cambria Math"/>
                <a:sym typeface="Cambria Math"/>
              </a:rPr>
              <a:t>Clean up system</a:t>
            </a:r>
            <a:endParaRPr/>
          </a:p>
        </p:txBody>
      </p:sp>
      <p:cxnSp>
        <p:nvCxnSpPr>
          <p:cNvPr id="248" name="Google Shape;248;p5"/>
          <p:cNvCxnSpPr>
            <a:stCxn id="247" idx="2"/>
          </p:cNvCxnSpPr>
          <p:nvPr/>
        </p:nvCxnSpPr>
        <p:spPr>
          <a:xfrm flipH="1">
            <a:off x="7189571" y="1079965"/>
            <a:ext cx="1041600" cy="849300"/>
          </a:xfrm>
          <a:prstGeom prst="straightConnector1">
            <a:avLst/>
          </a:prstGeom>
          <a:noFill/>
          <a:ln cap="flat" cmpd="sng" w="9525">
            <a:solidFill>
              <a:schemeClr val="accent1"/>
            </a:solidFill>
            <a:prstDash val="solid"/>
            <a:miter lim="800000"/>
            <a:headEnd len="sm" w="sm" type="none"/>
            <a:tailEnd len="med" w="med" type="triangle"/>
          </a:ln>
        </p:spPr>
      </p:cxnSp>
      <p:cxnSp>
        <p:nvCxnSpPr>
          <p:cNvPr id="249" name="Google Shape;249;p5"/>
          <p:cNvCxnSpPr/>
          <p:nvPr/>
        </p:nvCxnSpPr>
        <p:spPr>
          <a:xfrm>
            <a:off x="8231172" y="1053090"/>
            <a:ext cx="560895" cy="933153"/>
          </a:xfrm>
          <a:prstGeom prst="straightConnector1">
            <a:avLst/>
          </a:prstGeom>
          <a:noFill/>
          <a:ln cap="flat" cmpd="sng" w="9525">
            <a:solidFill>
              <a:schemeClr val="accent1"/>
            </a:solidFill>
            <a:prstDash val="solid"/>
            <a:miter lim="800000"/>
            <a:headEnd len="sm" w="sm" type="none"/>
            <a:tailEnd len="med" w="med" type="triangle"/>
          </a:ln>
        </p:spPr>
      </p:cxnSp>
      <p:cxnSp>
        <p:nvCxnSpPr>
          <p:cNvPr id="250" name="Google Shape;250;p5"/>
          <p:cNvCxnSpPr>
            <a:stCxn id="247" idx="2"/>
          </p:cNvCxnSpPr>
          <p:nvPr/>
        </p:nvCxnSpPr>
        <p:spPr>
          <a:xfrm flipH="1">
            <a:off x="7858871" y="1079965"/>
            <a:ext cx="372300" cy="1248600"/>
          </a:xfrm>
          <a:prstGeom prst="straightConnector1">
            <a:avLst/>
          </a:prstGeom>
          <a:noFill/>
          <a:ln cap="flat" cmpd="sng" w="9525">
            <a:solidFill>
              <a:schemeClr val="accent1"/>
            </a:solidFill>
            <a:prstDash val="solid"/>
            <a:miter lim="800000"/>
            <a:headEnd len="sm" w="sm" type="none"/>
            <a:tailEnd len="med" w="med" type="triangle"/>
          </a:ln>
        </p:spPr>
      </p:cxnSp>
      <p:cxnSp>
        <p:nvCxnSpPr>
          <p:cNvPr id="251" name="Google Shape;251;p5"/>
          <p:cNvCxnSpPr>
            <a:stCxn id="247" idx="2"/>
          </p:cNvCxnSpPr>
          <p:nvPr/>
        </p:nvCxnSpPr>
        <p:spPr>
          <a:xfrm>
            <a:off x="8231171" y="1079965"/>
            <a:ext cx="1578900" cy="1512300"/>
          </a:xfrm>
          <a:prstGeom prst="straightConnector1">
            <a:avLst/>
          </a:prstGeom>
          <a:noFill/>
          <a:ln cap="flat" cmpd="sng" w="9525">
            <a:solidFill>
              <a:schemeClr val="accent1"/>
            </a:solidFill>
            <a:prstDash val="solid"/>
            <a:miter lim="800000"/>
            <a:headEnd len="sm" w="sm" type="none"/>
            <a:tailEnd len="med" w="med" type="triangle"/>
          </a:ln>
        </p:spPr>
      </p:cxnSp>
      <p:sp>
        <p:nvSpPr>
          <p:cNvPr id="252" name="Google Shape;252;p5"/>
          <p:cNvSpPr txBox="1"/>
          <p:nvPr/>
        </p:nvSpPr>
        <p:spPr>
          <a:xfrm>
            <a:off x="9367102" y="2733773"/>
            <a:ext cx="81070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mbria Math"/>
                <a:ea typeface="Cambria Math"/>
                <a:cs typeface="Cambria Math"/>
                <a:sym typeface="Cambria Math"/>
              </a:rPr>
              <a:t>Power</a:t>
            </a:r>
            <a:endParaRPr/>
          </a:p>
        </p:txBody>
      </p:sp>
      <p:sp>
        <p:nvSpPr>
          <p:cNvPr id="253" name="Google Shape;253;p5"/>
          <p:cNvSpPr txBox="1"/>
          <p:nvPr/>
        </p:nvSpPr>
        <p:spPr>
          <a:xfrm>
            <a:off x="8311300" y="2168165"/>
            <a:ext cx="105580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mbria Math"/>
                <a:ea typeface="Cambria Math"/>
                <a:cs typeface="Cambria Math"/>
                <a:sym typeface="Cambria Math"/>
              </a:rPr>
              <a:t>Hydrogen</a:t>
            </a:r>
            <a:endParaRPr/>
          </a:p>
        </p:txBody>
      </p:sp>
      <p:cxnSp>
        <p:nvCxnSpPr>
          <p:cNvPr id="254" name="Google Shape;254;p5"/>
          <p:cNvCxnSpPr>
            <a:stCxn id="247" idx="2"/>
          </p:cNvCxnSpPr>
          <p:nvPr/>
        </p:nvCxnSpPr>
        <p:spPr>
          <a:xfrm>
            <a:off x="8231171" y="1079965"/>
            <a:ext cx="1663800" cy="729900"/>
          </a:xfrm>
          <a:prstGeom prst="straightConnector1">
            <a:avLst/>
          </a:prstGeom>
          <a:noFill/>
          <a:ln cap="flat" cmpd="sng" w="9525">
            <a:solidFill>
              <a:schemeClr val="accent1"/>
            </a:solidFill>
            <a:prstDash val="solid"/>
            <a:miter lim="800000"/>
            <a:headEnd len="sm" w="sm" type="none"/>
            <a:tailEnd len="med" w="med" type="triangle"/>
          </a:ln>
        </p:spPr>
      </p:cxnSp>
      <p:sp>
        <p:nvSpPr>
          <p:cNvPr id="255" name="Google Shape;255;p5"/>
          <p:cNvSpPr txBox="1"/>
          <p:nvPr/>
        </p:nvSpPr>
        <p:spPr>
          <a:xfrm>
            <a:off x="9836292" y="1658961"/>
            <a:ext cx="56560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a:t>
            </a:r>
            <a:endParaRPr/>
          </a:p>
        </p:txBody>
      </p:sp>
      <p:sp>
        <p:nvSpPr>
          <p:cNvPr id="256" name="Google Shape;256;p5"/>
          <p:cNvSpPr txBox="1"/>
          <p:nvPr/>
        </p:nvSpPr>
        <p:spPr>
          <a:xfrm>
            <a:off x="7314414" y="2573889"/>
            <a:ext cx="116892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mbria Math"/>
                <a:ea typeface="Cambria Math"/>
                <a:cs typeface="Cambria Math"/>
                <a:sym typeface="Cambria Math"/>
              </a:rPr>
              <a:t>Methanol</a:t>
            </a:r>
            <a:endParaRPr/>
          </a:p>
        </p:txBody>
      </p:sp>
      <p:sp>
        <p:nvSpPr>
          <p:cNvPr id="257" name="Google Shape;257;p5"/>
          <p:cNvSpPr txBox="1"/>
          <p:nvPr/>
        </p:nvSpPr>
        <p:spPr>
          <a:xfrm>
            <a:off x="6400670" y="2064471"/>
            <a:ext cx="913745"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mbria Math"/>
                <a:ea typeface="Cambria Math"/>
                <a:cs typeface="Cambria Math"/>
                <a:sym typeface="Cambria Math"/>
              </a:rPr>
              <a:t>Liquid fuel</a:t>
            </a:r>
            <a:endParaRPr/>
          </a:p>
        </p:txBody>
      </p:sp>
      <p:sp>
        <p:nvSpPr>
          <p:cNvPr id="258" name="Google Shape;258;p5"/>
          <p:cNvSpPr/>
          <p:nvPr/>
        </p:nvSpPr>
        <p:spPr>
          <a:xfrm>
            <a:off x="9367102" y="2733772"/>
            <a:ext cx="810705" cy="347924"/>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5"/>
          <p:cNvSpPr/>
          <p:nvPr/>
        </p:nvSpPr>
        <p:spPr>
          <a:xfrm>
            <a:off x="9836293" y="5566058"/>
            <a:ext cx="591739" cy="215316"/>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5"/>
          <p:cNvSpPr/>
          <p:nvPr/>
        </p:nvSpPr>
        <p:spPr>
          <a:xfrm>
            <a:off x="8234782" y="4500792"/>
            <a:ext cx="497112" cy="226676"/>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5"/>
          <p:cNvSpPr txBox="1"/>
          <p:nvPr/>
        </p:nvSpPr>
        <p:spPr>
          <a:xfrm>
            <a:off x="5703289" y="3779181"/>
            <a:ext cx="399696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mbria Math"/>
                <a:ea typeface="Cambria Math"/>
                <a:cs typeface="Cambria Math"/>
                <a:sym typeface="Cambria Math"/>
              </a:rPr>
              <a:t>Syngas specs for various applications</a:t>
            </a:r>
            <a:endParaRPr/>
          </a:p>
        </p:txBody>
      </p:sp>
      <p:sp>
        <p:nvSpPr>
          <p:cNvPr id="262" name="Google Shape;262;p5"/>
          <p:cNvSpPr txBox="1"/>
          <p:nvPr/>
        </p:nvSpPr>
        <p:spPr>
          <a:xfrm>
            <a:off x="4827790" y="786544"/>
            <a:ext cx="64167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mbria Math"/>
                <a:ea typeface="Cambria Math"/>
                <a:cs typeface="Cambria Math"/>
                <a:sym typeface="Cambria Math"/>
              </a:rPr>
              <a:t>P &amp; T</a:t>
            </a:r>
            <a:endParaRPr/>
          </a:p>
        </p:txBody>
      </p:sp>
      <p:sp>
        <p:nvSpPr>
          <p:cNvPr id="263" name="Google Shape;263;p5"/>
          <p:cNvSpPr/>
          <p:nvPr/>
        </p:nvSpPr>
        <p:spPr>
          <a:xfrm>
            <a:off x="3448593" y="3048000"/>
            <a:ext cx="3524099" cy="688861"/>
          </a:xfrm>
          <a:prstGeom prst="ellipse">
            <a:avLst/>
          </a:prstGeom>
          <a:noFill/>
          <a:ln cap="flat" cmpd="sng" w="28575">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5"/>
          <p:cNvSpPr/>
          <p:nvPr/>
        </p:nvSpPr>
        <p:spPr>
          <a:xfrm>
            <a:off x="4837521" y="620044"/>
            <a:ext cx="547710" cy="634324"/>
          </a:xfrm>
          <a:prstGeom prst="ellipse">
            <a:avLst/>
          </a:prstGeom>
          <a:noFill/>
          <a:ln cap="flat" cmpd="sng" w="28575">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5"/>
          <p:cNvSpPr/>
          <p:nvPr/>
        </p:nvSpPr>
        <p:spPr>
          <a:xfrm>
            <a:off x="5301134" y="545986"/>
            <a:ext cx="727177" cy="2294144"/>
          </a:xfrm>
          <a:prstGeom prst="roundRect">
            <a:avLst>
              <a:gd fmla="val 16667" name="adj"/>
            </a:avLst>
          </a:prstGeom>
          <a:noFill/>
          <a:ln cap="flat" cmpd="sng" w="28575">
            <a:solidFill>
              <a:srgbClr val="323F4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5"/>
          <p:cNvSpPr txBox="1"/>
          <p:nvPr/>
        </p:nvSpPr>
        <p:spPr>
          <a:xfrm>
            <a:off x="3601167" y="2876257"/>
            <a:ext cx="1544479" cy="773994"/>
          </a:xfrm>
          <a:prstGeom prst="rect">
            <a:avLst/>
          </a:prstGeom>
          <a:blipFill rotWithShape="1">
            <a:blip r:embed="rId5">
              <a:alphaModFix/>
            </a:blip>
            <a:stretch>
              <a:fillRect b="-4721" l="-3556"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67" name="Google Shape;267;p5"/>
          <p:cNvSpPr/>
          <p:nvPr/>
        </p:nvSpPr>
        <p:spPr>
          <a:xfrm>
            <a:off x="7943812" y="4255824"/>
            <a:ext cx="1003955" cy="2110885"/>
          </a:xfrm>
          <a:prstGeom prst="rect">
            <a:avLst/>
          </a:prstGeom>
          <a:gradFill>
            <a:gsLst>
              <a:gs pos="0">
                <a:srgbClr val="F5F7FC">
                  <a:alpha val="0"/>
                </a:srgbClr>
              </a:gs>
              <a:gs pos="86000">
                <a:srgbClr val="F5F7FC">
                  <a:alpha val="0"/>
                </a:srgbClr>
              </a:gs>
              <a:gs pos="100000">
                <a:srgbClr val="A9BEE4"/>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8" name="Google Shape;268;p5"/>
          <p:cNvSpPr/>
          <p:nvPr/>
        </p:nvSpPr>
        <p:spPr>
          <a:xfrm>
            <a:off x="8311299" y="2232766"/>
            <a:ext cx="952107" cy="253256"/>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9" name="Google Shape;269;p5"/>
          <p:cNvSpPr/>
          <p:nvPr/>
        </p:nvSpPr>
        <p:spPr>
          <a:xfrm>
            <a:off x="7139915" y="4514562"/>
            <a:ext cx="624526" cy="223140"/>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5"/>
          <p:cNvSpPr/>
          <p:nvPr/>
        </p:nvSpPr>
        <p:spPr>
          <a:xfrm>
            <a:off x="7363248" y="2571320"/>
            <a:ext cx="867924" cy="368562"/>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1" name="Google Shape;271;p5"/>
          <p:cNvSpPr/>
          <p:nvPr/>
        </p:nvSpPr>
        <p:spPr>
          <a:xfrm>
            <a:off x="6972693" y="4244610"/>
            <a:ext cx="981462" cy="2110885"/>
          </a:xfrm>
          <a:prstGeom prst="rect">
            <a:avLst/>
          </a:prstGeom>
          <a:gradFill>
            <a:gsLst>
              <a:gs pos="0">
                <a:srgbClr val="F5F7FC">
                  <a:alpha val="0"/>
                </a:srgbClr>
              </a:gs>
              <a:gs pos="86000">
                <a:srgbClr val="F5F7FC">
                  <a:alpha val="0"/>
                </a:srgbClr>
              </a:gs>
              <a:gs pos="100000">
                <a:srgbClr val="A9BEE4"/>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2" name="Google Shape;272;p5"/>
          <p:cNvSpPr/>
          <p:nvPr/>
        </p:nvSpPr>
        <p:spPr>
          <a:xfrm>
            <a:off x="5797063" y="4275252"/>
            <a:ext cx="1175630" cy="2091457"/>
          </a:xfrm>
          <a:prstGeom prst="rect">
            <a:avLst/>
          </a:prstGeom>
          <a:gradFill>
            <a:gsLst>
              <a:gs pos="0">
                <a:srgbClr val="F5F7FC">
                  <a:alpha val="0"/>
                </a:srgbClr>
              </a:gs>
              <a:gs pos="86000">
                <a:srgbClr val="F5F7FC">
                  <a:alpha val="0"/>
                </a:srgbClr>
              </a:gs>
              <a:gs pos="100000">
                <a:srgbClr val="A9BEE4"/>
              </a:gs>
            </a:gsLst>
            <a:lin ang="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3" name="Google Shape;273;p5"/>
          <p:cNvSpPr/>
          <p:nvPr/>
        </p:nvSpPr>
        <p:spPr>
          <a:xfrm>
            <a:off x="6339395" y="2121114"/>
            <a:ext cx="871323" cy="536346"/>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5"/>
          <p:cNvSpPr/>
          <p:nvPr/>
        </p:nvSpPr>
        <p:spPr>
          <a:xfrm>
            <a:off x="6026226" y="4506824"/>
            <a:ext cx="496338" cy="227463"/>
          </a:xfrm>
          <a:prstGeom prst="roundRect">
            <a:avLst>
              <a:gd fmla="val 16667" name="adj"/>
            </a:avLst>
          </a:prstGeom>
          <a:noFill/>
          <a:ln cap="flat" cmpd="sng" w="38100">
            <a:solidFill>
              <a:srgbClr val="8DA9D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5"/>
          <p:cNvSpPr txBox="1"/>
          <p:nvPr/>
        </p:nvSpPr>
        <p:spPr>
          <a:xfrm>
            <a:off x="5148629" y="3254146"/>
            <a:ext cx="1461244"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Oxidizing agent</a:t>
            </a:r>
            <a:endParaRPr sz="1400">
              <a:solidFill>
                <a:schemeClr val="dk1"/>
              </a:solidFill>
              <a:latin typeface="Cambria Math"/>
              <a:ea typeface="Cambria Math"/>
              <a:cs typeface="Cambria Math"/>
              <a:sym typeface="Cambria Math"/>
            </a:endParaRPr>
          </a:p>
        </p:txBody>
      </p:sp>
      <p:grpSp>
        <p:nvGrpSpPr>
          <p:cNvPr id="276" name="Google Shape;276;p5"/>
          <p:cNvGrpSpPr/>
          <p:nvPr/>
        </p:nvGrpSpPr>
        <p:grpSpPr>
          <a:xfrm>
            <a:off x="188796" y="369666"/>
            <a:ext cx="2649428" cy="5622080"/>
            <a:chOff x="0" y="192818"/>
            <a:chExt cx="2649428" cy="5622080"/>
          </a:xfrm>
        </p:grpSpPr>
        <p:sp>
          <p:nvSpPr>
            <p:cNvPr id="277" name="Google Shape;277;p5"/>
            <p:cNvSpPr/>
            <p:nvPr/>
          </p:nvSpPr>
          <p:spPr>
            <a:xfrm>
              <a:off x="0" y="192818"/>
              <a:ext cx="2649428" cy="675327"/>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txBox="1"/>
            <p:nvPr/>
          </p:nvSpPr>
          <p:spPr>
            <a:xfrm>
              <a:off x="32967" y="225785"/>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lang="en-US" sz="1700">
                  <a:solidFill>
                    <a:schemeClr val="lt1"/>
                  </a:solidFill>
                  <a:latin typeface="Calibri"/>
                  <a:ea typeface="Calibri"/>
                  <a:cs typeface="Calibri"/>
                  <a:sym typeface="Calibri"/>
                </a:rPr>
                <a:t> </a:t>
              </a:r>
              <a:r>
                <a:rPr b="1" lang="en-US" sz="1700">
                  <a:solidFill>
                    <a:schemeClr val="lt1"/>
                  </a:solidFill>
                  <a:latin typeface="Calibri"/>
                  <a:ea typeface="Calibri"/>
                  <a:cs typeface="Calibri"/>
                  <a:sym typeface="Calibri"/>
                </a:rPr>
                <a:t>Wood and woody biomass </a:t>
              </a:r>
              <a:endParaRPr/>
            </a:p>
          </p:txBody>
        </p:sp>
        <p:sp>
          <p:nvSpPr>
            <p:cNvPr id="279" name="Google Shape;279;p5"/>
            <p:cNvSpPr/>
            <p:nvPr/>
          </p:nvSpPr>
          <p:spPr>
            <a:xfrm>
              <a:off x="0" y="868145"/>
              <a:ext cx="2649428" cy="1126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txBox="1"/>
            <p:nvPr/>
          </p:nvSpPr>
          <p:spPr>
            <a:xfrm>
              <a:off x="0" y="868145"/>
              <a:ext cx="2649428" cy="1126080"/>
            </a:xfrm>
            <a:prstGeom prst="rect">
              <a:avLst/>
            </a:prstGeom>
            <a:noFill/>
            <a:ln>
              <a:noFill/>
            </a:ln>
          </p:spPr>
          <p:txBody>
            <a:bodyPr anchorCtr="0" anchor="t" bIns="21575" lIns="84100" spcFirstLastPara="1" rIns="120900" wrap="square" tIns="2157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Birch wood</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Aspen</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Oak</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Pine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Spruce</a:t>
              </a:r>
              <a:endParaRPr/>
            </a:p>
          </p:txBody>
        </p:sp>
        <p:sp>
          <p:nvSpPr>
            <p:cNvPr id="281" name="Google Shape;281;p5"/>
            <p:cNvSpPr/>
            <p:nvPr/>
          </p:nvSpPr>
          <p:spPr>
            <a:xfrm>
              <a:off x="0" y="1994225"/>
              <a:ext cx="2649428" cy="675327"/>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txBox="1"/>
            <p:nvPr/>
          </p:nvSpPr>
          <p:spPr>
            <a:xfrm>
              <a:off x="32967" y="2027192"/>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b="1" lang="en-US" sz="1700">
                  <a:solidFill>
                    <a:schemeClr val="lt1"/>
                  </a:solidFill>
                  <a:latin typeface="Calibri"/>
                  <a:ea typeface="Calibri"/>
                  <a:cs typeface="Calibri"/>
                  <a:sym typeface="Calibri"/>
                </a:rPr>
                <a:t>Herbacious and agricultural biomass</a:t>
              </a:r>
              <a:endParaRPr/>
            </a:p>
          </p:txBody>
        </p:sp>
        <p:sp>
          <p:nvSpPr>
            <p:cNvPr id="283" name="Google Shape;283;p5"/>
            <p:cNvSpPr/>
            <p:nvPr/>
          </p:nvSpPr>
          <p:spPr>
            <a:xfrm>
              <a:off x="0" y="2669553"/>
              <a:ext cx="2649428" cy="8973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txBox="1"/>
            <p:nvPr/>
          </p:nvSpPr>
          <p:spPr>
            <a:xfrm>
              <a:off x="0" y="2669553"/>
              <a:ext cx="2649428" cy="897345"/>
            </a:xfrm>
            <a:prstGeom prst="rect">
              <a:avLst/>
            </a:prstGeom>
            <a:noFill/>
            <a:ln>
              <a:noFill/>
            </a:ln>
          </p:spPr>
          <p:txBody>
            <a:bodyPr anchorCtr="0" anchor="t" bIns="21575" lIns="84100" spcFirstLastPara="1" rIns="120900" wrap="square" tIns="2157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Bamboo</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Grass</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Sugarcane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Swtichgrass</a:t>
              </a:r>
              <a:endParaRPr/>
            </a:p>
          </p:txBody>
        </p:sp>
        <p:sp>
          <p:nvSpPr>
            <p:cNvPr id="285" name="Google Shape;285;p5"/>
            <p:cNvSpPr/>
            <p:nvPr/>
          </p:nvSpPr>
          <p:spPr>
            <a:xfrm>
              <a:off x="0" y="3566898"/>
              <a:ext cx="2649428" cy="675327"/>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txBox="1"/>
            <p:nvPr/>
          </p:nvSpPr>
          <p:spPr>
            <a:xfrm>
              <a:off x="32967" y="3599865"/>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b="1" lang="en-US" sz="1700">
                  <a:solidFill>
                    <a:schemeClr val="lt1"/>
                  </a:solidFill>
                  <a:latin typeface="Calibri"/>
                  <a:ea typeface="Calibri"/>
                  <a:cs typeface="Calibri"/>
                  <a:sym typeface="Calibri"/>
                </a:rPr>
                <a:t>Contaminated biomass </a:t>
              </a:r>
              <a:endParaRPr/>
            </a:p>
          </p:txBody>
        </p:sp>
        <p:sp>
          <p:nvSpPr>
            <p:cNvPr id="287" name="Google Shape;287;p5"/>
            <p:cNvSpPr/>
            <p:nvPr/>
          </p:nvSpPr>
          <p:spPr>
            <a:xfrm>
              <a:off x="0" y="4242226"/>
              <a:ext cx="2649428" cy="8973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txBox="1"/>
            <p:nvPr/>
          </p:nvSpPr>
          <p:spPr>
            <a:xfrm>
              <a:off x="0" y="4242226"/>
              <a:ext cx="2649428" cy="897345"/>
            </a:xfrm>
            <a:prstGeom prst="rect">
              <a:avLst/>
            </a:prstGeom>
            <a:noFill/>
            <a:ln>
              <a:noFill/>
            </a:ln>
          </p:spPr>
          <p:txBody>
            <a:bodyPr anchorCtr="0" anchor="t" bIns="21575" lIns="84100" spcFirstLastPara="1" rIns="120900" wrap="square" tIns="2157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Municipal solid waste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Sewage sludge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Refused-drived fuel</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Paper pulp</a:t>
              </a:r>
              <a:endParaRPr/>
            </a:p>
          </p:txBody>
        </p:sp>
        <p:sp>
          <p:nvSpPr>
            <p:cNvPr id="289" name="Google Shape;289;p5"/>
            <p:cNvSpPr/>
            <p:nvPr/>
          </p:nvSpPr>
          <p:spPr>
            <a:xfrm>
              <a:off x="0" y="5139571"/>
              <a:ext cx="2649428" cy="675327"/>
            </a:xfrm>
            <a:prstGeom prst="roundRect">
              <a:avLst>
                <a:gd fmla="val 16667" name="adj"/>
              </a:avLst>
            </a:prstGeom>
            <a:solidFill>
              <a:srgbClr val="1F386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txBox="1"/>
            <p:nvPr/>
          </p:nvSpPr>
          <p:spPr>
            <a:xfrm>
              <a:off x="32967" y="5172538"/>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b="1" lang="en-US" sz="1700">
                  <a:solidFill>
                    <a:schemeClr val="lt1"/>
                  </a:solidFill>
                  <a:latin typeface="Calibri"/>
                  <a:ea typeface="Calibri"/>
                  <a:cs typeface="Calibri"/>
                  <a:sym typeface="Calibri"/>
                </a:rPr>
                <a:t>Blend of biomass</a:t>
              </a:r>
              <a:endParaRPr/>
            </a:p>
          </p:txBody>
        </p:sp>
      </p:grpSp>
      <p:sp>
        <p:nvSpPr>
          <p:cNvPr id="291" name="Google Shape;291;p5"/>
          <p:cNvSpPr/>
          <p:nvPr/>
        </p:nvSpPr>
        <p:spPr>
          <a:xfrm>
            <a:off x="2943497" y="333750"/>
            <a:ext cx="285666" cy="5631621"/>
          </a:xfrm>
          <a:prstGeom prst="rightBrace">
            <a:avLst>
              <a:gd fmla="val 8333" name="adj1"/>
              <a:gd fmla="val 39485"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292" name="Google Shape;292;p5"/>
          <p:cNvCxnSpPr>
            <a:stCxn id="291" idx="1"/>
            <a:endCxn id="244" idx="1"/>
          </p:cNvCxnSpPr>
          <p:nvPr/>
        </p:nvCxnSpPr>
        <p:spPr>
          <a:xfrm>
            <a:off x="3229163" y="2557396"/>
            <a:ext cx="1259700" cy="171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40"/>
                                        </p:tgtEl>
                                      </p:cBhvr>
                                    </p:animEffect>
                                    <p:set>
                                      <p:cBhvr>
                                        <p:cTn dur="1" fill="hold">
                                          <p:stCondLst>
                                            <p:cond delay="500"/>
                                          </p:stCondLst>
                                        </p:cTn>
                                        <p:tgtEl>
                                          <p:spTgt spid="2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39"/>
                                        </p:tgtEl>
                                        <p:attrNameLst>
                                          <p:attrName>style.visibility</p:attrName>
                                        </p:attrNameLst>
                                      </p:cBhvr>
                                      <p:to>
                                        <p:strVal val="visible"/>
                                      </p:to>
                                    </p:set>
                                    <p:animEffect filter="fade" transition="in">
                                      <p:cBhvr>
                                        <p:cTn dur="500"/>
                                        <p:tgtEl>
                                          <p:spTgt spid="2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3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6"/>
                                        </p:tgtEl>
                                        <p:attrNameLst>
                                          <p:attrName>style.visibility</p:attrName>
                                        </p:attrNameLst>
                                      </p:cBhvr>
                                      <p:to>
                                        <p:strVal val="visible"/>
                                      </p:to>
                                    </p:set>
                                    <p:animEffect filter="fade" transition="in">
                                      <p:cBhvr>
                                        <p:cTn dur="500"/>
                                        <p:tgtEl>
                                          <p:spTgt spid="266"/>
                                        </p:tgtEl>
                                      </p:cBhvr>
                                    </p:animEffect>
                                  </p:childTnLst>
                                </p:cTn>
                              </p:par>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6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5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6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61"/>
                                        </p:tgtEl>
                                        <p:attrNameLst>
                                          <p:attrName>style.visibility</p:attrName>
                                        </p:attrNameLst>
                                      </p:cBhvr>
                                      <p:to>
                                        <p:strVal val="visible"/>
                                      </p:to>
                                    </p:set>
                                    <p:anim calcmode="lin" valueType="num">
                                      <p:cBhvr additive="base">
                                        <p:cTn dur="500"/>
                                        <p:tgtEl>
                                          <p:spTgt spid="26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par>
                                <p:cTn fill="hold" nodeType="with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58"/>
                                        </p:tgtEl>
                                      </p:cBhvr>
                                    </p:animEffect>
                                    <p:set>
                                      <p:cBhvr>
                                        <p:cTn dur="1" fill="hold">
                                          <p:stCondLst>
                                            <p:cond delay="500"/>
                                          </p:stCondLst>
                                        </p:cTn>
                                        <p:tgtEl>
                                          <p:spTgt spid="25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38"/>
                                        </p:tgtEl>
                                      </p:cBhvr>
                                    </p:animEffect>
                                    <p:set>
                                      <p:cBhvr>
                                        <p:cTn dur="1" fill="hold">
                                          <p:stCondLst>
                                            <p:cond delay="500"/>
                                          </p:stCondLst>
                                        </p:cTn>
                                        <p:tgtEl>
                                          <p:spTgt spid="23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59"/>
                                        </p:tgtEl>
                                      </p:cBhvr>
                                    </p:animEffect>
                                    <p:set>
                                      <p:cBhvr>
                                        <p:cTn dur="1" fill="hold">
                                          <p:stCondLst>
                                            <p:cond delay="500"/>
                                          </p:stCondLst>
                                        </p:cTn>
                                        <p:tgtEl>
                                          <p:spTgt spid="25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par>
                                <p:cTn fill="hold" nodeType="with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500"/>
                                        <p:tgtEl>
                                          <p:spTgt spid="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6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6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6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7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26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6"/>
          <p:cNvSpPr txBox="1"/>
          <p:nvPr>
            <p:ph type="title"/>
          </p:nvPr>
        </p:nvSpPr>
        <p:spPr>
          <a:xfrm>
            <a:off x="1922550" y="-5619"/>
            <a:ext cx="8874760" cy="102227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2800"/>
              <a:buFont typeface="Times New Roman"/>
              <a:buNone/>
            </a:pPr>
            <a:r>
              <a:rPr lang="en-US" sz="2800">
                <a:latin typeface="Times New Roman"/>
                <a:ea typeface="Times New Roman"/>
                <a:cs typeface="Times New Roman"/>
                <a:sym typeface="Times New Roman"/>
              </a:rPr>
              <a:t>The necessity &amp; challenges of modeling</a:t>
            </a:r>
            <a:endParaRPr/>
          </a:p>
        </p:txBody>
      </p:sp>
      <p:pic>
        <p:nvPicPr>
          <p:cNvPr id="298" name="Google Shape;298;p6"/>
          <p:cNvPicPr preferRelativeResize="0"/>
          <p:nvPr>
            <p:ph idx="1" type="body"/>
          </p:nvPr>
        </p:nvPicPr>
        <p:blipFill rotWithShape="1">
          <a:blip r:embed="rId3">
            <a:alphaModFix/>
          </a:blip>
          <a:srcRect b="0" l="0" r="0" t="0"/>
          <a:stretch/>
        </p:blipFill>
        <p:spPr>
          <a:xfrm>
            <a:off x="7823200" y="744619"/>
            <a:ext cx="3471017" cy="5220751"/>
          </a:xfrm>
          <a:prstGeom prst="rect">
            <a:avLst/>
          </a:prstGeom>
          <a:noFill/>
          <a:ln>
            <a:noFill/>
          </a:ln>
        </p:spPr>
      </p:pic>
      <p:grpSp>
        <p:nvGrpSpPr>
          <p:cNvPr id="299" name="Google Shape;299;p6"/>
          <p:cNvGrpSpPr/>
          <p:nvPr/>
        </p:nvGrpSpPr>
        <p:grpSpPr>
          <a:xfrm>
            <a:off x="188796" y="369666"/>
            <a:ext cx="2649428" cy="5622080"/>
            <a:chOff x="0" y="192818"/>
            <a:chExt cx="2649428" cy="5622080"/>
          </a:xfrm>
        </p:grpSpPr>
        <p:sp>
          <p:nvSpPr>
            <p:cNvPr id="300" name="Google Shape;300;p6"/>
            <p:cNvSpPr/>
            <p:nvPr/>
          </p:nvSpPr>
          <p:spPr>
            <a:xfrm>
              <a:off x="0" y="192818"/>
              <a:ext cx="2649428" cy="675327"/>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txBox="1"/>
            <p:nvPr/>
          </p:nvSpPr>
          <p:spPr>
            <a:xfrm>
              <a:off x="32967" y="225785"/>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lang="en-US" sz="1700">
                  <a:solidFill>
                    <a:schemeClr val="lt1"/>
                  </a:solidFill>
                  <a:latin typeface="Calibri"/>
                  <a:ea typeface="Calibri"/>
                  <a:cs typeface="Calibri"/>
                  <a:sym typeface="Calibri"/>
                </a:rPr>
                <a:t> </a:t>
              </a:r>
              <a:r>
                <a:rPr b="1" lang="en-US" sz="1700">
                  <a:solidFill>
                    <a:schemeClr val="lt1"/>
                  </a:solidFill>
                  <a:latin typeface="Calibri"/>
                  <a:ea typeface="Calibri"/>
                  <a:cs typeface="Calibri"/>
                  <a:sym typeface="Calibri"/>
                </a:rPr>
                <a:t>Wood and woody biomass </a:t>
              </a:r>
              <a:endParaRPr/>
            </a:p>
          </p:txBody>
        </p:sp>
        <p:sp>
          <p:nvSpPr>
            <p:cNvPr id="302" name="Google Shape;302;p6"/>
            <p:cNvSpPr/>
            <p:nvPr/>
          </p:nvSpPr>
          <p:spPr>
            <a:xfrm>
              <a:off x="0" y="868145"/>
              <a:ext cx="2649428" cy="112608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
            <p:cNvSpPr txBox="1"/>
            <p:nvPr/>
          </p:nvSpPr>
          <p:spPr>
            <a:xfrm>
              <a:off x="0" y="868145"/>
              <a:ext cx="2649428" cy="1126080"/>
            </a:xfrm>
            <a:prstGeom prst="rect">
              <a:avLst/>
            </a:prstGeom>
            <a:noFill/>
            <a:ln>
              <a:noFill/>
            </a:ln>
          </p:spPr>
          <p:txBody>
            <a:bodyPr anchorCtr="0" anchor="t" bIns="21575" lIns="84100" spcFirstLastPara="1" rIns="120900" wrap="square" tIns="2157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Birch wood</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Aspen</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Oak</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Pine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Spruce</a:t>
              </a:r>
              <a:endParaRPr/>
            </a:p>
          </p:txBody>
        </p:sp>
        <p:sp>
          <p:nvSpPr>
            <p:cNvPr id="304" name="Google Shape;304;p6"/>
            <p:cNvSpPr/>
            <p:nvPr/>
          </p:nvSpPr>
          <p:spPr>
            <a:xfrm>
              <a:off x="0" y="1994225"/>
              <a:ext cx="2649428" cy="675327"/>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txBox="1"/>
            <p:nvPr/>
          </p:nvSpPr>
          <p:spPr>
            <a:xfrm>
              <a:off x="32967" y="2027192"/>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b="1" lang="en-US" sz="1700">
                  <a:solidFill>
                    <a:schemeClr val="lt1"/>
                  </a:solidFill>
                  <a:latin typeface="Calibri"/>
                  <a:ea typeface="Calibri"/>
                  <a:cs typeface="Calibri"/>
                  <a:sym typeface="Calibri"/>
                </a:rPr>
                <a:t>Herbacious and agricultural biomass</a:t>
              </a:r>
              <a:endParaRPr/>
            </a:p>
          </p:txBody>
        </p:sp>
        <p:sp>
          <p:nvSpPr>
            <p:cNvPr id="306" name="Google Shape;306;p6"/>
            <p:cNvSpPr/>
            <p:nvPr/>
          </p:nvSpPr>
          <p:spPr>
            <a:xfrm>
              <a:off x="0" y="2669553"/>
              <a:ext cx="2649428" cy="8973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txBox="1"/>
            <p:nvPr/>
          </p:nvSpPr>
          <p:spPr>
            <a:xfrm>
              <a:off x="0" y="2669553"/>
              <a:ext cx="2649428" cy="897345"/>
            </a:xfrm>
            <a:prstGeom prst="rect">
              <a:avLst/>
            </a:prstGeom>
            <a:noFill/>
            <a:ln>
              <a:noFill/>
            </a:ln>
          </p:spPr>
          <p:txBody>
            <a:bodyPr anchorCtr="0" anchor="t" bIns="21575" lIns="84100" spcFirstLastPara="1" rIns="120900" wrap="square" tIns="2157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Bamboo</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Grass</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Sugarcane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Swtichgrass</a:t>
              </a:r>
              <a:endParaRPr/>
            </a:p>
          </p:txBody>
        </p:sp>
        <p:sp>
          <p:nvSpPr>
            <p:cNvPr id="308" name="Google Shape;308;p6"/>
            <p:cNvSpPr/>
            <p:nvPr/>
          </p:nvSpPr>
          <p:spPr>
            <a:xfrm>
              <a:off x="0" y="3566898"/>
              <a:ext cx="2649428" cy="675327"/>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txBox="1"/>
            <p:nvPr/>
          </p:nvSpPr>
          <p:spPr>
            <a:xfrm>
              <a:off x="32967" y="3599865"/>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b="1" lang="en-US" sz="1700">
                  <a:solidFill>
                    <a:schemeClr val="lt1"/>
                  </a:solidFill>
                  <a:latin typeface="Calibri"/>
                  <a:ea typeface="Calibri"/>
                  <a:cs typeface="Calibri"/>
                  <a:sym typeface="Calibri"/>
                </a:rPr>
                <a:t>Contaminated biomass </a:t>
              </a:r>
              <a:endParaRPr/>
            </a:p>
          </p:txBody>
        </p:sp>
        <p:sp>
          <p:nvSpPr>
            <p:cNvPr id="310" name="Google Shape;310;p6"/>
            <p:cNvSpPr/>
            <p:nvPr/>
          </p:nvSpPr>
          <p:spPr>
            <a:xfrm>
              <a:off x="0" y="4242226"/>
              <a:ext cx="2649428" cy="8973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txBox="1"/>
            <p:nvPr/>
          </p:nvSpPr>
          <p:spPr>
            <a:xfrm>
              <a:off x="0" y="4242226"/>
              <a:ext cx="2649428" cy="897345"/>
            </a:xfrm>
            <a:prstGeom prst="rect">
              <a:avLst/>
            </a:prstGeom>
            <a:noFill/>
            <a:ln>
              <a:noFill/>
            </a:ln>
          </p:spPr>
          <p:txBody>
            <a:bodyPr anchorCtr="0" anchor="t" bIns="21575" lIns="84100" spcFirstLastPara="1" rIns="120900" wrap="square" tIns="21575">
              <a:noAutofit/>
            </a:bodyPr>
            <a:lstStyle/>
            <a:p>
              <a:pPr indent="-114300" lvl="1" marL="114300" marR="0" rtl="0" algn="l">
                <a:lnSpc>
                  <a:spcPct val="90000"/>
                </a:lnSpc>
                <a:spcBef>
                  <a:spcPts val="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Municipal solid waste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Sewage sludge</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Refused-drived fuel</a:t>
              </a:r>
              <a:endParaRPr/>
            </a:p>
            <a:p>
              <a:pPr indent="-114300" lvl="1" marL="114300" marR="0" rtl="0" algn="l">
                <a:lnSpc>
                  <a:spcPct val="90000"/>
                </a:lnSpc>
                <a:spcBef>
                  <a:spcPts val="260"/>
                </a:spcBef>
                <a:spcAft>
                  <a:spcPts val="0"/>
                </a:spcAft>
                <a:buClr>
                  <a:schemeClr val="dk1"/>
                </a:buClr>
                <a:buSzPts val="1300"/>
                <a:buFont typeface="Calibri"/>
                <a:buChar char="•"/>
              </a:pPr>
              <a:r>
                <a:rPr b="0" i="0" lang="en-US" sz="1300" u="none" cap="none" strike="noStrike">
                  <a:solidFill>
                    <a:schemeClr val="dk1"/>
                  </a:solidFill>
                  <a:latin typeface="Calibri"/>
                  <a:ea typeface="Calibri"/>
                  <a:cs typeface="Calibri"/>
                  <a:sym typeface="Calibri"/>
                </a:rPr>
                <a:t>Paper pulp</a:t>
              </a:r>
              <a:endParaRPr/>
            </a:p>
          </p:txBody>
        </p:sp>
        <p:sp>
          <p:nvSpPr>
            <p:cNvPr id="312" name="Google Shape;312;p6"/>
            <p:cNvSpPr/>
            <p:nvPr/>
          </p:nvSpPr>
          <p:spPr>
            <a:xfrm>
              <a:off x="0" y="5139571"/>
              <a:ext cx="2649428" cy="675327"/>
            </a:xfrm>
            <a:prstGeom prst="roundRect">
              <a:avLst>
                <a:gd fmla="val 16667" name="adj"/>
              </a:avLst>
            </a:prstGeom>
            <a:solidFill>
              <a:srgbClr val="1F3864"/>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txBox="1"/>
            <p:nvPr/>
          </p:nvSpPr>
          <p:spPr>
            <a:xfrm>
              <a:off x="32967" y="5172538"/>
              <a:ext cx="2583494" cy="609393"/>
            </a:xfrm>
            <a:prstGeom prst="rect">
              <a:avLst/>
            </a:prstGeom>
            <a:noFill/>
            <a:ln>
              <a:noFill/>
            </a:ln>
          </p:spPr>
          <p:txBody>
            <a:bodyPr anchorCtr="0" anchor="ctr" bIns="64750" lIns="64750" spcFirstLastPara="1" rIns="64750" wrap="square" tIns="64750">
              <a:noAutofit/>
            </a:bodyPr>
            <a:lstStyle/>
            <a:p>
              <a:pPr indent="0" lvl="0" marL="0" marR="0" rtl="0" algn="l">
                <a:lnSpc>
                  <a:spcPct val="90000"/>
                </a:lnSpc>
                <a:spcBef>
                  <a:spcPts val="0"/>
                </a:spcBef>
                <a:spcAft>
                  <a:spcPts val="0"/>
                </a:spcAft>
                <a:buClr>
                  <a:schemeClr val="lt1"/>
                </a:buClr>
                <a:buSzPts val="1700"/>
                <a:buFont typeface="Calibri"/>
                <a:buNone/>
              </a:pPr>
              <a:r>
                <a:rPr b="1" lang="en-US" sz="1700">
                  <a:solidFill>
                    <a:schemeClr val="lt1"/>
                  </a:solidFill>
                  <a:latin typeface="Calibri"/>
                  <a:ea typeface="Calibri"/>
                  <a:cs typeface="Calibri"/>
                  <a:sym typeface="Calibri"/>
                </a:rPr>
                <a:t>Blend of biomass</a:t>
              </a:r>
              <a:endParaRPr/>
            </a:p>
          </p:txBody>
        </p:sp>
      </p:grpSp>
      <p:sp>
        <p:nvSpPr>
          <p:cNvPr id="314" name="Google Shape;314;p6"/>
          <p:cNvSpPr/>
          <p:nvPr/>
        </p:nvSpPr>
        <p:spPr>
          <a:xfrm>
            <a:off x="2943497" y="333750"/>
            <a:ext cx="285666" cy="5631621"/>
          </a:xfrm>
          <a:prstGeom prst="rightBrace">
            <a:avLst>
              <a:gd fmla="val 8333" name="adj1"/>
              <a:gd fmla="val 5049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grpSp>
        <p:nvGrpSpPr>
          <p:cNvPr id="315" name="Google Shape;315;p6"/>
          <p:cNvGrpSpPr/>
          <p:nvPr/>
        </p:nvGrpSpPr>
        <p:grpSpPr>
          <a:xfrm>
            <a:off x="3334436" y="1008687"/>
            <a:ext cx="4197531" cy="4554360"/>
            <a:chOff x="0" y="278293"/>
            <a:chExt cx="4197531" cy="4554360"/>
          </a:xfrm>
        </p:grpSpPr>
        <p:sp>
          <p:nvSpPr>
            <p:cNvPr id="316" name="Google Shape;316;p6"/>
            <p:cNvSpPr/>
            <p:nvPr/>
          </p:nvSpPr>
          <p:spPr>
            <a:xfrm>
              <a:off x="0" y="455413"/>
              <a:ext cx="4197531" cy="12852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
            <p:cNvSpPr txBox="1"/>
            <p:nvPr/>
          </p:nvSpPr>
          <p:spPr>
            <a:xfrm>
              <a:off x="0" y="455413"/>
              <a:ext cx="4197531" cy="1285200"/>
            </a:xfrm>
            <a:prstGeom prst="rect">
              <a:avLst/>
            </a:prstGeom>
            <a:noFill/>
            <a:ln>
              <a:noFill/>
            </a:ln>
          </p:spPr>
          <p:txBody>
            <a:bodyPr anchorCtr="0" anchor="t" bIns="85325" lIns="325775" spcFirstLastPara="1" rIns="325775" wrap="square" tIns="249925">
              <a:noAutofit/>
            </a:bodyPr>
            <a:lstStyle/>
            <a:p>
              <a:pPr indent="-114300" lvl="1" marL="114300" marR="0" rtl="0" algn="l">
                <a:lnSpc>
                  <a:spcPct val="9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Ultimate analysis (C, H, N, O, S, Cl)</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Proximate analysis ( Volatile matter, Fixed carbon, Ash)</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Structural components (Celluloses, Hemicellulose, Lignin)</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Ash composition (SiO2, CaO, K2O, P2O5, Al2O3, MgO, Fe2O3, SO3, Na2O, TiO2)</a:t>
              </a:r>
              <a:endParaRPr/>
            </a:p>
          </p:txBody>
        </p:sp>
        <p:sp>
          <p:nvSpPr>
            <p:cNvPr id="318" name="Google Shape;318;p6"/>
            <p:cNvSpPr/>
            <p:nvPr/>
          </p:nvSpPr>
          <p:spPr>
            <a:xfrm>
              <a:off x="209876" y="278293"/>
              <a:ext cx="2938271" cy="35424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6"/>
            <p:cNvSpPr txBox="1"/>
            <p:nvPr/>
          </p:nvSpPr>
          <p:spPr>
            <a:xfrm>
              <a:off x="227169" y="295586"/>
              <a:ext cx="2903685" cy="319654"/>
            </a:xfrm>
            <a:prstGeom prst="rect">
              <a:avLst/>
            </a:prstGeom>
            <a:noFill/>
            <a:ln>
              <a:noFill/>
            </a:ln>
          </p:spPr>
          <p:txBody>
            <a:bodyPr anchorCtr="0" anchor="ctr" bIns="0" lIns="111050" spcFirstLastPara="1" rIns="111050" wrap="square" tIns="0">
              <a:noAutofit/>
            </a:bodyPr>
            <a:lstStyle/>
            <a:p>
              <a:pPr indent="0" lvl="0" marL="0" marR="0" rtl="0" algn="l">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Biomass composition</a:t>
              </a:r>
              <a:endParaRPr/>
            </a:p>
          </p:txBody>
        </p:sp>
        <p:sp>
          <p:nvSpPr>
            <p:cNvPr id="320" name="Google Shape;320;p6"/>
            <p:cNvSpPr/>
            <p:nvPr/>
          </p:nvSpPr>
          <p:spPr>
            <a:xfrm>
              <a:off x="0" y="1982533"/>
              <a:ext cx="4197531" cy="15120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txBox="1"/>
            <p:nvPr/>
          </p:nvSpPr>
          <p:spPr>
            <a:xfrm>
              <a:off x="0" y="1982533"/>
              <a:ext cx="4197531" cy="1512000"/>
            </a:xfrm>
            <a:prstGeom prst="rect">
              <a:avLst/>
            </a:prstGeom>
            <a:noFill/>
            <a:ln>
              <a:noFill/>
            </a:ln>
          </p:spPr>
          <p:txBody>
            <a:bodyPr anchorCtr="0" anchor="t" bIns="85325" lIns="325775" spcFirstLastPara="1" rIns="325775" wrap="square" tIns="249925">
              <a:noAutofit/>
            </a:bodyPr>
            <a:lstStyle/>
            <a:p>
              <a:pPr indent="-114300" lvl="1" marL="114300" marR="0" rtl="0" algn="l">
                <a:lnSpc>
                  <a:spcPct val="9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True density</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Bulk density</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Particle density</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Porosity</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Particle size</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Moisture content</a:t>
              </a:r>
              <a:endParaRPr/>
            </a:p>
          </p:txBody>
        </p:sp>
        <p:sp>
          <p:nvSpPr>
            <p:cNvPr id="322" name="Google Shape;322;p6"/>
            <p:cNvSpPr/>
            <p:nvPr/>
          </p:nvSpPr>
          <p:spPr>
            <a:xfrm>
              <a:off x="209876" y="1805413"/>
              <a:ext cx="2938271" cy="35424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6"/>
            <p:cNvSpPr txBox="1"/>
            <p:nvPr/>
          </p:nvSpPr>
          <p:spPr>
            <a:xfrm>
              <a:off x="227169" y="1822706"/>
              <a:ext cx="2903685" cy="319654"/>
            </a:xfrm>
            <a:prstGeom prst="rect">
              <a:avLst/>
            </a:prstGeom>
            <a:noFill/>
            <a:ln>
              <a:noFill/>
            </a:ln>
          </p:spPr>
          <p:txBody>
            <a:bodyPr anchorCtr="0" anchor="ctr" bIns="0" lIns="111050" spcFirstLastPara="1" rIns="111050" wrap="square" tIns="0">
              <a:noAutofit/>
            </a:bodyPr>
            <a:lstStyle/>
            <a:p>
              <a:pPr indent="0" lvl="0" marL="0" marR="0" rtl="0" algn="l">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Physical property</a:t>
              </a:r>
              <a:endParaRPr/>
            </a:p>
          </p:txBody>
        </p:sp>
        <p:sp>
          <p:nvSpPr>
            <p:cNvPr id="324" name="Google Shape;324;p6"/>
            <p:cNvSpPr/>
            <p:nvPr/>
          </p:nvSpPr>
          <p:spPr>
            <a:xfrm>
              <a:off x="0" y="3736453"/>
              <a:ext cx="4197531" cy="1096200"/>
            </a:xfrm>
            <a:prstGeom prst="rect">
              <a:avLst/>
            </a:prstGeom>
            <a:solidFill>
              <a:schemeClr val="lt1">
                <a:alpha val="89803"/>
              </a:schemeClr>
            </a:solidFill>
            <a:ln cap="flat" cmpd="sng" w="12700">
              <a:solidFill>
                <a:srgbClr val="4372C3"/>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6"/>
            <p:cNvSpPr txBox="1"/>
            <p:nvPr/>
          </p:nvSpPr>
          <p:spPr>
            <a:xfrm>
              <a:off x="0" y="3736453"/>
              <a:ext cx="4197531" cy="1096200"/>
            </a:xfrm>
            <a:prstGeom prst="rect">
              <a:avLst/>
            </a:prstGeom>
            <a:noFill/>
            <a:ln>
              <a:noFill/>
            </a:ln>
          </p:spPr>
          <p:txBody>
            <a:bodyPr anchorCtr="0" anchor="t" bIns="85325" lIns="325775" spcFirstLastPara="1" rIns="325775" wrap="square" tIns="249925">
              <a:noAutofit/>
            </a:bodyPr>
            <a:lstStyle/>
            <a:p>
              <a:pPr indent="-114300" lvl="1" marL="114300" marR="0" rtl="0" algn="l">
                <a:lnSpc>
                  <a:spcPct val="9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Calorific value</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Reactivity</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Thermal conductivity</a:t>
              </a:r>
              <a:endParaRPr/>
            </a:p>
            <a:p>
              <a:pPr indent="-114300" lvl="1" marL="114300" marR="0" rtl="0" algn="l">
                <a:lnSpc>
                  <a:spcPct val="90000"/>
                </a:lnSpc>
                <a:spcBef>
                  <a:spcPts val="18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Thermal diffusivity</a:t>
              </a:r>
              <a:endParaRPr/>
            </a:p>
          </p:txBody>
        </p:sp>
        <p:sp>
          <p:nvSpPr>
            <p:cNvPr id="326" name="Google Shape;326;p6"/>
            <p:cNvSpPr/>
            <p:nvPr/>
          </p:nvSpPr>
          <p:spPr>
            <a:xfrm>
              <a:off x="209876" y="3559333"/>
              <a:ext cx="2938271" cy="354240"/>
            </a:xfrm>
            <a:prstGeom prst="roundRect">
              <a:avLst>
                <a:gd fmla="val 16667" name="adj"/>
              </a:avLst>
            </a:prstGeom>
            <a:solidFill>
              <a:srgbClr val="4372C3"/>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6"/>
            <p:cNvSpPr txBox="1"/>
            <p:nvPr/>
          </p:nvSpPr>
          <p:spPr>
            <a:xfrm>
              <a:off x="227169" y="3576626"/>
              <a:ext cx="2903685" cy="319654"/>
            </a:xfrm>
            <a:prstGeom prst="rect">
              <a:avLst/>
            </a:prstGeom>
            <a:noFill/>
            <a:ln>
              <a:noFill/>
            </a:ln>
          </p:spPr>
          <p:txBody>
            <a:bodyPr anchorCtr="0" anchor="ctr" bIns="0" lIns="111050" spcFirstLastPara="1" rIns="111050" wrap="square" tIns="0">
              <a:noAutofit/>
            </a:bodyPr>
            <a:lstStyle/>
            <a:p>
              <a:pPr indent="0" lvl="0" marL="0" marR="0" rtl="0" algn="l">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Thermal property</a:t>
              </a:r>
              <a:endParaRPr/>
            </a:p>
          </p:txBody>
        </p:sp>
      </p:gr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7"/>
          <p:cNvSpPr txBox="1"/>
          <p:nvPr>
            <p:ph type="title"/>
          </p:nvPr>
        </p:nvSpPr>
        <p:spPr>
          <a:xfrm>
            <a:off x="171768" y="254002"/>
            <a:ext cx="6973460" cy="1987195"/>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Clr>
                <a:schemeClr val="dk1"/>
              </a:buClr>
              <a:buSzPts val="3200"/>
              <a:buFont typeface="Times New Roman"/>
              <a:buNone/>
            </a:pPr>
            <a:r>
              <a:rPr i="1" lang="en-US" sz="3200">
                <a:latin typeface="Times New Roman"/>
                <a:ea typeface="Times New Roman"/>
                <a:cs typeface="Times New Roman"/>
                <a:sym typeface="Times New Roman"/>
              </a:rPr>
              <a:t>The scatter of behavior of different fuels </a:t>
            </a:r>
            <a:br>
              <a:rPr i="1" lang="en-US" sz="3200">
                <a:latin typeface="Times New Roman"/>
                <a:ea typeface="Times New Roman"/>
                <a:cs typeface="Times New Roman"/>
                <a:sym typeface="Times New Roman"/>
              </a:rPr>
            </a:br>
            <a:r>
              <a:rPr i="1" lang="en-US" sz="3200">
                <a:latin typeface="Times New Roman"/>
                <a:ea typeface="Times New Roman"/>
                <a:cs typeface="Times New Roman"/>
                <a:sym typeface="Times New Roman"/>
              </a:rPr>
              <a:t>over various conditions</a:t>
            </a:r>
            <a:endParaRPr/>
          </a:p>
        </p:txBody>
      </p:sp>
      <p:pic>
        <p:nvPicPr>
          <p:cNvPr id="333" name="Google Shape;333;p7"/>
          <p:cNvPicPr preferRelativeResize="0"/>
          <p:nvPr>
            <p:ph idx="1" type="body"/>
          </p:nvPr>
        </p:nvPicPr>
        <p:blipFill rotWithShape="1">
          <a:blip r:embed="rId3">
            <a:alphaModFix/>
          </a:blip>
          <a:srcRect b="0" l="0" r="0" t="0"/>
          <a:stretch/>
        </p:blipFill>
        <p:spPr>
          <a:xfrm>
            <a:off x="163155" y="2328483"/>
            <a:ext cx="6756564" cy="3601257"/>
          </a:xfrm>
          <a:prstGeom prst="rect">
            <a:avLst/>
          </a:prstGeom>
          <a:noFill/>
          <a:ln>
            <a:noFill/>
          </a:ln>
        </p:spPr>
      </p:pic>
      <p:pic>
        <p:nvPicPr>
          <p:cNvPr id="334" name="Google Shape;334;p7"/>
          <p:cNvPicPr preferRelativeResize="0"/>
          <p:nvPr/>
        </p:nvPicPr>
        <p:blipFill rotWithShape="1">
          <a:blip r:embed="rId4">
            <a:alphaModFix/>
          </a:blip>
          <a:srcRect b="0" l="0" r="0" t="0"/>
          <a:stretch/>
        </p:blipFill>
        <p:spPr>
          <a:xfrm>
            <a:off x="7145228" y="467818"/>
            <a:ext cx="4649560" cy="2797235"/>
          </a:xfrm>
          <a:prstGeom prst="rect">
            <a:avLst/>
          </a:prstGeom>
          <a:noFill/>
          <a:ln>
            <a:noFill/>
          </a:ln>
        </p:spPr>
      </p:pic>
      <p:pic>
        <p:nvPicPr>
          <p:cNvPr id="335" name="Google Shape;335;p7"/>
          <p:cNvPicPr preferRelativeResize="0"/>
          <p:nvPr/>
        </p:nvPicPr>
        <p:blipFill rotWithShape="1">
          <a:blip r:embed="rId5">
            <a:alphaModFix/>
          </a:blip>
          <a:srcRect b="0" l="0" r="0" t="0"/>
          <a:stretch/>
        </p:blipFill>
        <p:spPr>
          <a:xfrm>
            <a:off x="7145228" y="3429000"/>
            <a:ext cx="4649560" cy="2944942"/>
          </a:xfrm>
          <a:prstGeom prst="rect">
            <a:avLst/>
          </a:prstGeom>
          <a:noFill/>
          <a:ln>
            <a:noFill/>
          </a:ln>
        </p:spPr>
      </p:pic>
      <p:sp>
        <p:nvSpPr>
          <p:cNvPr id="336" name="Google Shape;336;p7"/>
          <p:cNvSpPr/>
          <p:nvPr/>
        </p:nvSpPr>
        <p:spPr>
          <a:xfrm>
            <a:off x="5321713" y="2503054"/>
            <a:ext cx="1598005" cy="1487055"/>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7"/>
          <p:cNvSpPr/>
          <p:nvPr/>
        </p:nvSpPr>
        <p:spPr>
          <a:xfrm>
            <a:off x="5321713" y="4293531"/>
            <a:ext cx="875887" cy="1487055"/>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8"/>
          <p:cNvSpPr txBox="1"/>
          <p:nvPr>
            <p:ph type="title"/>
          </p:nvPr>
        </p:nvSpPr>
        <p:spPr>
          <a:xfrm>
            <a:off x="893620" y="-117750"/>
            <a:ext cx="10515600" cy="102159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imes New Roman"/>
              <a:buNone/>
            </a:pPr>
            <a:r>
              <a:rPr i="1" lang="en-US" sz="3600">
                <a:latin typeface="Times New Roman"/>
                <a:ea typeface="Times New Roman"/>
                <a:cs typeface="Times New Roman"/>
                <a:sym typeface="Times New Roman"/>
              </a:rPr>
              <a:t>Shortcomings of existing models</a:t>
            </a:r>
            <a:endParaRPr/>
          </a:p>
        </p:txBody>
      </p:sp>
      <p:graphicFrame>
        <p:nvGraphicFramePr>
          <p:cNvPr id="343" name="Google Shape;343;p8"/>
          <p:cNvGraphicFramePr/>
          <p:nvPr/>
        </p:nvGraphicFramePr>
        <p:xfrm>
          <a:off x="6151420" y="1724535"/>
          <a:ext cx="3000000" cy="3000000"/>
        </p:xfrm>
        <a:graphic>
          <a:graphicData uri="http://schemas.openxmlformats.org/drawingml/2006/table">
            <a:tbl>
              <a:tblPr>
                <a:noFill/>
                <a:tableStyleId>{339DDE7E-9724-48D9-AE5E-17B0CC1A242E}</a:tableStyleId>
              </a:tblPr>
              <a:tblGrid>
                <a:gridCol w="909450"/>
                <a:gridCol w="855800"/>
                <a:gridCol w="1711625"/>
                <a:gridCol w="2462100"/>
              </a:tblGrid>
              <a:tr h="254725">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Model Ref</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Temp</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Feedstock</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Remarks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725">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[25]</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1073-1573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Sewage sludge- SB coal</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Equilibrium based-BFB</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725">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[26]</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920-1323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Biomass: beech chips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Equilibrium based-Dual bed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725">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[27]</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1273-1323</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Agricultural waste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Equilibrium based-BFB 2 zones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55275">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[28]</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700-900</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Pine sawdust size: 0.25-0.75mm</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Fluidization model-Based on modiﬁed Two-Phase Theory</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55825">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[29]</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Not reported</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Woodchips-Almond Shell Grass Straw Cornstalk RDF pellets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Fluidization model-Based on</a:t>
                      </a:r>
                      <a:endParaRPr/>
                    </a:p>
                    <a:p>
                      <a:pPr indent="0" lvl="0" marL="0" marR="0" rtl="0" algn="l">
                        <a:lnSpc>
                          <a:spcPct val="200000"/>
                        </a:lnSpc>
                        <a:spcBef>
                          <a:spcPts val="0"/>
                        </a:spcBef>
                        <a:spcAft>
                          <a:spcPts val="0"/>
                        </a:spcAft>
                        <a:buNone/>
                      </a:pPr>
                      <a:r>
                        <a:rPr lang="en-US" sz="1200" u="none" cap="none" strike="noStrike">
                          <a:latin typeface="Times New Roman"/>
                          <a:ea typeface="Times New Roman"/>
                          <a:cs typeface="Times New Roman"/>
                          <a:sym typeface="Times New Roman"/>
                        </a:rPr>
                        <a:t>Two-Phase Theory-Reaction only in the emulsion phase</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344" name="Google Shape;344;p8"/>
          <p:cNvSpPr txBox="1"/>
          <p:nvPr/>
        </p:nvSpPr>
        <p:spPr>
          <a:xfrm>
            <a:off x="6580052" y="816454"/>
            <a:ext cx="4879916"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FF0000"/>
                </a:solidFill>
                <a:latin typeface="Times New Roman"/>
                <a:ea typeface="Times New Roman"/>
                <a:cs typeface="Times New Roman"/>
                <a:sym typeface="Times New Roman"/>
              </a:rPr>
              <a:t>Limitations</a:t>
            </a:r>
            <a:r>
              <a:rPr i="1" lang="en-US" sz="1800">
                <a:solidFill>
                  <a:schemeClr val="dk1"/>
                </a:solidFill>
                <a:latin typeface="Times New Roman"/>
                <a:ea typeface="Times New Roman"/>
                <a:cs typeface="Times New Roman"/>
                <a:sym typeface="Times New Roman"/>
              </a:rPr>
              <a:t> in terms of type of fuel and </a:t>
            </a:r>
            <a:r>
              <a:rPr b="1" i="1" lang="en-US" sz="1800">
                <a:solidFill>
                  <a:srgbClr val="FF0000"/>
                </a:solidFill>
                <a:latin typeface="Times New Roman"/>
                <a:ea typeface="Times New Roman"/>
                <a:cs typeface="Times New Roman"/>
                <a:sym typeface="Times New Roman"/>
              </a:rPr>
              <a:t>range</a:t>
            </a:r>
            <a:r>
              <a:rPr b="1" i="1" lang="en-US" sz="1800">
                <a:solidFill>
                  <a:schemeClr val="dk1"/>
                </a:solidFill>
                <a:latin typeface="Times New Roman"/>
                <a:ea typeface="Times New Roman"/>
                <a:cs typeface="Times New Roman"/>
                <a:sym typeface="Times New Roman"/>
              </a:rPr>
              <a:t> </a:t>
            </a:r>
            <a:r>
              <a:rPr i="1" lang="en-US" sz="1800">
                <a:solidFill>
                  <a:schemeClr val="dk1"/>
                </a:solidFill>
                <a:latin typeface="Times New Roman"/>
                <a:ea typeface="Times New Roman"/>
                <a:cs typeface="Times New Roman"/>
                <a:sym typeface="Times New Roman"/>
              </a:rPr>
              <a:t>of applicative operating conditions </a:t>
            </a:r>
            <a:endParaRPr/>
          </a:p>
        </p:txBody>
      </p:sp>
      <p:pic>
        <p:nvPicPr>
          <p:cNvPr id="345" name="Google Shape;345;p8"/>
          <p:cNvPicPr preferRelativeResize="0"/>
          <p:nvPr/>
        </p:nvPicPr>
        <p:blipFill rotWithShape="1">
          <a:blip r:embed="rId3">
            <a:alphaModFix/>
          </a:blip>
          <a:srcRect b="0" l="0" r="0" t="0"/>
          <a:stretch/>
        </p:blipFill>
        <p:spPr>
          <a:xfrm>
            <a:off x="731225" y="3740144"/>
            <a:ext cx="5078448" cy="2393595"/>
          </a:xfrm>
          <a:prstGeom prst="rect">
            <a:avLst/>
          </a:prstGeom>
          <a:noFill/>
          <a:ln>
            <a:noFill/>
          </a:ln>
        </p:spPr>
      </p:pic>
      <p:sp>
        <p:nvSpPr>
          <p:cNvPr id="346" name="Google Shape;346;p8"/>
          <p:cNvSpPr txBox="1"/>
          <p:nvPr/>
        </p:nvSpPr>
        <p:spPr>
          <a:xfrm>
            <a:off x="2138217" y="6217945"/>
            <a:ext cx="3098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Lack of </a:t>
            </a:r>
            <a:r>
              <a:rPr b="1" i="1" lang="en-US" sz="1800">
                <a:solidFill>
                  <a:srgbClr val="FF0000"/>
                </a:solidFill>
                <a:latin typeface="Times New Roman"/>
                <a:ea typeface="Times New Roman"/>
                <a:cs typeface="Times New Roman"/>
                <a:sym typeface="Times New Roman"/>
              </a:rPr>
              <a:t>accuracy</a:t>
            </a:r>
            <a:r>
              <a:rPr i="1" lang="en-US" sz="1800">
                <a:solidFill>
                  <a:schemeClr val="dk1"/>
                </a:solidFill>
                <a:latin typeface="Times New Roman"/>
                <a:ea typeface="Times New Roman"/>
                <a:cs typeface="Times New Roman"/>
                <a:sym typeface="Times New Roman"/>
              </a:rPr>
              <a:t> </a:t>
            </a:r>
            <a:endParaRPr/>
          </a:p>
        </p:txBody>
      </p:sp>
      <p:pic>
        <p:nvPicPr>
          <p:cNvPr id="347" name="Google Shape;347;p8"/>
          <p:cNvPicPr preferRelativeResize="0"/>
          <p:nvPr/>
        </p:nvPicPr>
        <p:blipFill rotWithShape="1">
          <a:blip r:embed="rId4">
            <a:alphaModFix/>
          </a:blip>
          <a:srcRect b="0" l="0" r="0" t="0"/>
          <a:stretch/>
        </p:blipFill>
        <p:spPr>
          <a:xfrm>
            <a:off x="731225" y="2100639"/>
            <a:ext cx="4879917" cy="1555299"/>
          </a:xfrm>
          <a:prstGeom prst="rect">
            <a:avLst/>
          </a:prstGeom>
          <a:noFill/>
          <a:ln>
            <a:noFill/>
          </a:ln>
        </p:spPr>
      </p:pic>
      <p:sp>
        <p:nvSpPr>
          <p:cNvPr id="348" name="Google Shape;348;p8"/>
          <p:cNvSpPr/>
          <p:nvPr/>
        </p:nvSpPr>
        <p:spPr>
          <a:xfrm>
            <a:off x="7035723" y="1724535"/>
            <a:ext cx="895927" cy="1995055"/>
          </a:xfrm>
          <a:prstGeom prst="roundRect">
            <a:avLst>
              <a:gd fmla="val 16667" name="adj"/>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8"/>
          <p:cNvSpPr/>
          <p:nvPr/>
        </p:nvSpPr>
        <p:spPr>
          <a:xfrm>
            <a:off x="7931702" y="1724535"/>
            <a:ext cx="1644073" cy="3029261"/>
          </a:xfrm>
          <a:prstGeom prst="roundRect">
            <a:avLst>
              <a:gd fmla="val 16667" name="adj"/>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0" name="Google Shape;350;p8"/>
          <p:cNvSpPr txBox="1"/>
          <p:nvPr/>
        </p:nvSpPr>
        <p:spPr>
          <a:xfrm>
            <a:off x="732032" y="819635"/>
            <a:ext cx="5525656"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Simplified: Equilibrium </a:t>
            </a:r>
            <a:endParaRPr/>
          </a:p>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Modified equilibrium: Using empirical correlations</a:t>
            </a:r>
            <a:endParaRPr/>
          </a:p>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CFD requires accurate Kinetics of the process which is hard to obtain. </a:t>
            </a:r>
            <a:endParaRPr/>
          </a:p>
          <a:p>
            <a:pPr indent="0" lvl="0" marL="0" marR="0" rtl="0" algn="l">
              <a:spcBef>
                <a:spcPts val="0"/>
              </a:spcBef>
              <a:spcAft>
                <a:spcPts val="0"/>
              </a:spcAft>
              <a:buNone/>
            </a:pPr>
            <a:r>
              <a:rPr i="1" lang="en-US" sz="1800">
                <a:solidFill>
                  <a:schemeClr val="dk1"/>
                </a:solidFill>
                <a:latin typeface="Times New Roman"/>
                <a:ea typeface="Times New Roman"/>
                <a:cs typeface="Times New Roman"/>
                <a:sym typeface="Times New Roman"/>
              </a:rPr>
              <a:t> </a:t>
            </a:r>
            <a:endParaRPr/>
          </a:p>
        </p:txBody>
      </p:sp>
      <p:pic>
        <p:nvPicPr>
          <p:cNvPr id="351" name="Google Shape;351;p8"/>
          <p:cNvPicPr preferRelativeResize="0"/>
          <p:nvPr/>
        </p:nvPicPr>
        <p:blipFill rotWithShape="1">
          <a:blip r:embed="rId5">
            <a:alphaModFix/>
          </a:blip>
          <a:srcRect b="0" l="0" r="0" t="0"/>
          <a:stretch/>
        </p:blipFill>
        <p:spPr>
          <a:xfrm>
            <a:off x="7654611" y="4827634"/>
            <a:ext cx="2198253" cy="1821976"/>
          </a:xfrm>
          <a:prstGeom prst="rect">
            <a:avLst/>
          </a:prstGeom>
          <a:noFill/>
          <a:ln>
            <a:noFill/>
          </a:ln>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pic>
        <p:nvPicPr>
          <p:cNvPr id="356" name="Google Shape;356;p9"/>
          <p:cNvPicPr preferRelativeResize="0"/>
          <p:nvPr>
            <p:ph idx="1" type="body"/>
          </p:nvPr>
        </p:nvPicPr>
        <p:blipFill rotWithShape="1">
          <a:blip r:embed="rId3">
            <a:alphaModFix/>
          </a:blip>
          <a:srcRect b="0" l="0" r="0" t="0"/>
          <a:stretch/>
        </p:blipFill>
        <p:spPr>
          <a:xfrm>
            <a:off x="328727" y="853448"/>
            <a:ext cx="5328118" cy="4409018"/>
          </a:xfrm>
          <a:prstGeom prst="rect">
            <a:avLst/>
          </a:prstGeom>
          <a:noFill/>
          <a:ln>
            <a:noFill/>
          </a:ln>
        </p:spPr>
      </p:pic>
      <p:sp>
        <p:nvSpPr>
          <p:cNvPr id="357" name="Google Shape;357;p9"/>
          <p:cNvSpPr txBox="1"/>
          <p:nvPr>
            <p:ph idx="12" type="sldNum"/>
          </p:nvPr>
        </p:nvSpPr>
        <p:spPr>
          <a:xfrm>
            <a:off x="8610600" y="6522430"/>
            <a:ext cx="2743200" cy="347472"/>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358" name="Google Shape;358;p9"/>
          <p:cNvSpPr txBox="1"/>
          <p:nvPr/>
        </p:nvSpPr>
        <p:spPr>
          <a:xfrm>
            <a:off x="3894244" y="5465264"/>
            <a:ext cx="4658775" cy="930447"/>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None/>
            </a:pPr>
            <a:r>
              <a:rPr lang="en-US" sz="2400">
                <a:solidFill>
                  <a:schemeClr val="dk1"/>
                </a:solidFill>
                <a:latin typeface="Calibri"/>
                <a:ea typeface="Calibri"/>
                <a:cs typeface="Calibri"/>
                <a:sym typeface="Calibri"/>
              </a:rPr>
              <a:t>Complex dynamics </a:t>
            </a:r>
            <a:endParaRPr/>
          </a:p>
          <a:p>
            <a:pPr indent="0" lvl="0" marL="0" marR="0" rtl="0" algn="ctr">
              <a:lnSpc>
                <a:spcPct val="90000"/>
              </a:lnSpc>
              <a:spcBef>
                <a:spcPts val="600"/>
              </a:spcBef>
              <a:spcAft>
                <a:spcPts val="0"/>
              </a:spcAft>
              <a:buNone/>
            </a:pPr>
            <a:r>
              <a:rPr lang="en-US" sz="1100">
                <a:solidFill>
                  <a:schemeClr val="dk1"/>
                </a:solidFill>
                <a:latin typeface="Calibri"/>
                <a:ea typeface="Calibri"/>
                <a:cs typeface="Calibri"/>
                <a:sym typeface="Calibri"/>
              </a:rPr>
              <a:t>Diagram adapted from Gomez Progress in Energy and Combustion Science 36 (2010) 444–509</a:t>
            </a:r>
            <a:endParaRPr/>
          </a:p>
        </p:txBody>
      </p:sp>
      <p:sp>
        <p:nvSpPr>
          <p:cNvPr id="359" name="Google Shape;359;p9"/>
          <p:cNvSpPr/>
          <p:nvPr/>
        </p:nvSpPr>
        <p:spPr>
          <a:xfrm>
            <a:off x="3586625" y="5465264"/>
            <a:ext cx="5023975" cy="1133245"/>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60" name="Google Shape;360;p9"/>
          <p:cNvPicPr preferRelativeResize="0"/>
          <p:nvPr/>
        </p:nvPicPr>
        <p:blipFill rotWithShape="1">
          <a:blip r:embed="rId4">
            <a:alphaModFix/>
          </a:blip>
          <a:srcRect b="0" l="0" r="0" t="0"/>
          <a:stretch/>
        </p:blipFill>
        <p:spPr>
          <a:xfrm>
            <a:off x="6096000" y="984569"/>
            <a:ext cx="5767273" cy="3833091"/>
          </a:xfrm>
          <a:prstGeom prst="rect">
            <a:avLst/>
          </a:prstGeom>
          <a:noFill/>
          <a:ln>
            <a:noFill/>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10"/>
          <p:cNvSpPr txBox="1"/>
          <p:nvPr>
            <p:ph type="title"/>
          </p:nvPr>
        </p:nvSpPr>
        <p:spPr>
          <a:xfrm>
            <a:off x="2152650" y="89823"/>
            <a:ext cx="7886700" cy="76558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imes New Roman"/>
              <a:buNone/>
            </a:pPr>
            <a:r>
              <a:rPr i="1" lang="en-US" sz="3600">
                <a:latin typeface="Times New Roman"/>
                <a:ea typeface="Times New Roman"/>
                <a:cs typeface="Times New Roman"/>
                <a:sym typeface="Times New Roman"/>
              </a:rPr>
              <a:t>The state of experimental data</a:t>
            </a:r>
            <a:endParaRPr/>
          </a:p>
        </p:txBody>
      </p:sp>
      <p:sp>
        <p:nvSpPr>
          <p:cNvPr id="366" name="Google Shape;366;p10"/>
          <p:cNvSpPr txBox="1"/>
          <p:nvPr>
            <p:ph idx="1" type="body"/>
          </p:nvPr>
        </p:nvSpPr>
        <p:spPr>
          <a:xfrm>
            <a:off x="2152650" y="930889"/>
            <a:ext cx="8122060" cy="54254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Noto Sans Symbols"/>
              <a:buChar char="❑"/>
            </a:pPr>
            <a:r>
              <a:rPr lang="en-US"/>
              <a:t> Amount of reliable gasification data is limited</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Commercial</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Pilot/PDU</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Laboratory/ theoretical</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Missing information in data sets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Product gas flow rate</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Steam in product gas</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Oxygen/steam feed</a:t>
            </a:r>
            <a:endParaRPr/>
          </a:p>
          <a:p>
            <a:pPr indent="-228600" lvl="1" marL="685800" rtl="0" algn="l">
              <a:lnSpc>
                <a:spcPct val="90000"/>
              </a:lnSpc>
              <a:spcBef>
                <a:spcPts val="500"/>
              </a:spcBef>
              <a:spcAft>
                <a:spcPts val="0"/>
              </a:spcAft>
              <a:buClr>
                <a:schemeClr val="dk1"/>
              </a:buClr>
              <a:buSzPts val="2400"/>
              <a:buFont typeface="Noto Sans Symbols"/>
              <a:buChar char="⮚"/>
            </a:pPr>
            <a:r>
              <a:rPr lang="en-US"/>
              <a:t>Minor constituents (e.g. H2S, COS, HCN, HCl…)</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 </a:t>
            </a:r>
            <a:r>
              <a:rPr b="1" lang="en-US">
                <a:solidFill>
                  <a:srgbClr val="00B050"/>
                </a:solidFill>
              </a:rPr>
              <a:t>To complete the data sets:</a:t>
            </a:r>
            <a:endParaRPr/>
          </a:p>
          <a:p>
            <a:pPr indent="-228600" lvl="1" marL="685800" rtl="0" algn="l">
              <a:lnSpc>
                <a:spcPct val="90000"/>
              </a:lnSpc>
              <a:spcBef>
                <a:spcPts val="500"/>
              </a:spcBef>
              <a:spcAft>
                <a:spcPts val="0"/>
              </a:spcAft>
              <a:buClr>
                <a:srgbClr val="00B050"/>
              </a:buClr>
              <a:buSzPts val="2400"/>
              <a:buFont typeface="Noto Sans Symbols"/>
              <a:buChar char="⮚"/>
            </a:pPr>
            <a:r>
              <a:rPr b="1" lang="en-US">
                <a:solidFill>
                  <a:srgbClr val="00B050"/>
                </a:solidFill>
              </a:rPr>
              <a:t>Use assumption/heuristics </a:t>
            </a:r>
            <a:endParaRPr/>
          </a:p>
          <a:p>
            <a:pPr indent="-228600" lvl="1" marL="685800" rtl="0" algn="l">
              <a:lnSpc>
                <a:spcPct val="90000"/>
              </a:lnSpc>
              <a:spcBef>
                <a:spcPts val="500"/>
              </a:spcBef>
              <a:spcAft>
                <a:spcPts val="0"/>
              </a:spcAft>
              <a:buClr>
                <a:srgbClr val="00B050"/>
              </a:buClr>
              <a:buSzPts val="2400"/>
              <a:buFont typeface="Noto Sans Symbols"/>
              <a:buChar char="⮚"/>
            </a:pPr>
            <a:r>
              <a:rPr b="1" lang="en-US">
                <a:solidFill>
                  <a:srgbClr val="00B050"/>
                </a:solidFill>
              </a:rPr>
              <a:t>Close material balance</a:t>
            </a:r>
            <a:endParaRPr/>
          </a:p>
          <a:p>
            <a:pPr indent="-228600" lvl="1" marL="685800" rtl="0" algn="l">
              <a:lnSpc>
                <a:spcPct val="90000"/>
              </a:lnSpc>
              <a:spcBef>
                <a:spcPts val="500"/>
              </a:spcBef>
              <a:spcAft>
                <a:spcPts val="0"/>
              </a:spcAft>
              <a:buClr>
                <a:srgbClr val="00B050"/>
              </a:buClr>
              <a:buSzPts val="2400"/>
              <a:buFont typeface="Noto Sans Symbols"/>
              <a:buChar char="⮚"/>
            </a:pPr>
            <a:r>
              <a:rPr b="1" lang="en-US">
                <a:solidFill>
                  <a:srgbClr val="00B050"/>
                </a:solidFill>
              </a:rPr>
              <a:t>Develop heuristics/correlations (i.e. WGS, Methanation)</a:t>
            </a:r>
            <a:endParaRPr/>
          </a:p>
          <a:p>
            <a:pPr indent="-76200" lvl="1" marL="685800" rtl="0" algn="l">
              <a:lnSpc>
                <a:spcPct val="90000"/>
              </a:lnSpc>
              <a:spcBef>
                <a:spcPts val="500"/>
              </a:spcBef>
              <a:spcAft>
                <a:spcPts val="0"/>
              </a:spcAft>
              <a:buClr>
                <a:schemeClr val="dk1"/>
              </a:buClr>
              <a:buSzPts val="2400"/>
              <a:buFont typeface="Noto Sans Symbols"/>
              <a:buNone/>
            </a:pPr>
            <a:r>
              <a:t/>
            </a:r>
            <a:endParaRPr/>
          </a:p>
          <a:p>
            <a:pPr indent="0" lvl="1" marL="457200" rtl="0" algn="l">
              <a:lnSpc>
                <a:spcPct val="90000"/>
              </a:lnSpc>
              <a:spcBef>
                <a:spcPts val="500"/>
              </a:spcBef>
              <a:spcAft>
                <a:spcPts val="0"/>
              </a:spcAft>
              <a:buClr>
                <a:schemeClr val="dk1"/>
              </a:buClr>
              <a:buSzPts val="2400"/>
              <a:buNone/>
            </a:pPr>
            <a:r>
              <a:t/>
            </a:r>
            <a:endParaRPr/>
          </a:p>
          <a:p>
            <a:pPr indent="-76200" lvl="1" marL="685800" rtl="0" algn="l">
              <a:lnSpc>
                <a:spcPct val="90000"/>
              </a:lnSpc>
              <a:spcBef>
                <a:spcPts val="500"/>
              </a:spcBef>
              <a:spcAft>
                <a:spcPts val="0"/>
              </a:spcAft>
              <a:buClr>
                <a:schemeClr val="dk1"/>
              </a:buClr>
              <a:buSzPts val="24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367" name="Google Shape;3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i="1" lang="en-US">
                <a:latin typeface="Times New Roman"/>
                <a:ea typeface="Times New Roman"/>
                <a:cs typeface="Times New Roman"/>
                <a:sym typeface="Times New Roman"/>
              </a:rPr>
              <a:t>Objective statement</a:t>
            </a:r>
            <a:endParaRPr/>
          </a:p>
        </p:txBody>
      </p:sp>
      <p:sp>
        <p:nvSpPr>
          <p:cNvPr id="373" name="Google Shape;373;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latin typeface="Times New Roman"/>
                <a:ea typeface="Times New Roman"/>
                <a:cs typeface="Times New Roman"/>
                <a:sym typeface="Times New Roman"/>
              </a:rPr>
              <a:t>The overall objective of this study is:</a:t>
            </a:r>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to develop a </a:t>
            </a:r>
            <a:r>
              <a:rPr i="1" lang="en-US" u="sng">
                <a:latin typeface="Times New Roman"/>
                <a:ea typeface="Times New Roman"/>
                <a:cs typeface="Times New Roman"/>
                <a:sym typeface="Times New Roman"/>
              </a:rPr>
              <a:t>general model </a:t>
            </a:r>
            <a:r>
              <a:rPr lang="en-US">
                <a:latin typeface="Times New Roman"/>
                <a:ea typeface="Times New Roman"/>
                <a:cs typeface="Times New Roman"/>
                <a:sym typeface="Times New Roman"/>
              </a:rPr>
              <a:t>for biomass gasification in fluidized bed suitable for first stage analysis capable of predicting:</a:t>
            </a:r>
            <a:endParaRPr/>
          </a:p>
          <a:p>
            <a:pPr indent="-228600" lvl="1" marL="685800" rtl="0" algn="l">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Product gas composition (Vol%)</a:t>
            </a:r>
            <a:endParaRPr/>
          </a:p>
          <a:p>
            <a:pPr indent="-228600" lvl="1" marL="685800" rtl="0" algn="l">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Yield (Nm3/kg)</a:t>
            </a:r>
            <a:endParaRPr/>
          </a:p>
          <a:p>
            <a:pPr indent="-228600" lvl="1" marL="685800" rtl="0" algn="l">
              <a:lnSpc>
                <a:spcPct val="90000"/>
              </a:lnSpc>
              <a:spcBef>
                <a:spcPts val="500"/>
              </a:spcBef>
              <a:spcAft>
                <a:spcPts val="0"/>
              </a:spcAft>
              <a:buClr>
                <a:schemeClr val="dk1"/>
              </a:buClr>
              <a:buSzPts val="2400"/>
              <a:buChar char="•"/>
            </a:pPr>
            <a:r>
              <a:rPr lang="en-US">
                <a:latin typeface="Times New Roman"/>
                <a:ea typeface="Times New Roman"/>
                <a:cs typeface="Times New Roman"/>
                <a:sym typeface="Times New Roman"/>
              </a:rPr>
              <a:t>Carbon conversion efficiency (CCE%)</a:t>
            </a:r>
            <a:endParaRPr/>
          </a:p>
          <a:p>
            <a:pPr indent="0" lvl="0" marL="0" rtl="0" algn="l">
              <a:lnSpc>
                <a:spcPct val="90000"/>
              </a:lnSpc>
              <a:spcBef>
                <a:spcPts val="1000"/>
              </a:spcBef>
              <a:spcAft>
                <a:spcPts val="0"/>
              </a:spcAft>
              <a:buClr>
                <a:schemeClr val="dk1"/>
              </a:buClr>
              <a:buSzPts val="2800"/>
              <a:buNone/>
            </a:pPr>
            <a:r>
              <a:rPr lang="en-US">
                <a:latin typeface="Times New Roman"/>
                <a:ea typeface="Times New Roman"/>
                <a:cs typeface="Times New Roman"/>
                <a:sym typeface="Times New Roman"/>
              </a:rPr>
              <a:t>by adopting effective strategies to cope with complex dynamics of the process, limitation of experimental data, and lack of proper characterization of solid fuel. </a:t>
            </a:r>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2"/>
          <p:cNvSpPr txBox="1"/>
          <p:nvPr>
            <p:ph type="title"/>
          </p:nvPr>
        </p:nvSpPr>
        <p:spPr>
          <a:xfrm>
            <a:off x="673226" y="245027"/>
            <a:ext cx="5218507" cy="19566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i="1" lang="en-US" sz="2800">
                <a:latin typeface="Times New Roman"/>
                <a:ea typeface="Times New Roman"/>
                <a:cs typeface="Times New Roman"/>
                <a:sym typeface="Times New Roman"/>
              </a:rPr>
              <a:t>Combination of interaction between variables: </a:t>
            </a:r>
            <a:br>
              <a:rPr i="1" lang="en-US" sz="2800">
                <a:latin typeface="Times New Roman"/>
                <a:ea typeface="Times New Roman"/>
                <a:cs typeface="Times New Roman"/>
                <a:sym typeface="Times New Roman"/>
              </a:rPr>
            </a:br>
            <a:r>
              <a:rPr i="1" lang="en-US" sz="2800">
                <a:latin typeface="Times New Roman"/>
                <a:ea typeface="Times New Roman"/>
                <a:cs typeface="Times New Roman"/>
                <a:sym typeface="Times New Roman"/>
              </a:rPr>
              <a:t>single, binary, tertiary, and etc.</a:t>
            </a:r>
            <a:endParaRPr/>
          </a:p>
        </p:txBody>
      </p:sp>
      <p:sp>
        <p:nvSpPr>
          <p:cNvPr id="379" name="Google Shape;379;p12"/>
          <p:cNvSpPr txBox="1"/>
          <p:nvPr/>
        </p:nvSpPr>
        <p:spPr>
          <a:xfrm>
            <a:off x="6337600" y="748289"/>
            <a:ext cx="200888" cy="276999"/>
          </a:xfrm>
          <a:prstGeom prst="rect">
            <a:avLst/>
          </a:prstGeom>
          <a:blipFill rotWithShape="1">
            <a:blip r:embed="rId3">
              <a:alphaModFix/>
            </a:blip>
            <a:stretch>
              <a:fillRect b="-6666" l="-30300" r="-2120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0" name="Google Shape;380;p12"/>
          <p:cNvSpPr txBox="1"/>
          <p:nvPr/>
        </p:nvSpPr>
        <p:spPr>
          <a:xfrm>
            <a:off x="6490000" y="900689"/>
            <a:ext cx="227948" cy="276999"/>
          </a:xfrm>
          <a:prstGeom prst="rect">
            <a:avLst/>
          </a:prstGeom>
          <a:blipFill rotWithShape="1">
            <a:blip r:embed="rId4">
              <a:alphaModFix/>
            </a:blip>
            <a:stretch>
              <a:fillRect b="-6666" l="-27024" r="-2161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1" name="Google Shape;381;p12"/>
          <p:cNvSpPr txBox="1"/>
          <p:nvPr/>
        </p:nvSpPr>
        <p:spPr>
          <a:xfrm>
            <a:off x="6633164" y="1053089"/>
            <a:ext cx="214033" cy="276999"/>
          </a:xfrm>
          <a:prstGeom prst="rect">
            <a:avLst/>
          </a:prstGeom>
          <a:blipFill rotWithShape="1">
            <a:blip r:embed="rId5">
              <a:alphaModFix/>
            </a:blip>
            <a:stretch>
              <a:fillRect b="-6666" l="-25713" r="-2571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2" name="Google Shape;382;p12"/>
          <p:cNvSpPr txBox="1"/>
          <p:nvPr/>
        </p:nvSpPr>
        <p:spPr>
          <a:xfrm>
            <a:off x="6794800" y="1205489"/>
            <a:ext cx="226857" cy="276999"/>
          </a:xfrm>
          <a:prstGeom prst="rect">
            <a:avLst/>
          </a:prstGeom>
          <a:blipFill rotWithShape="1">
            <a:blip r:embed="rId6">
              <a:alphaModFix/>
            </a:blip>
            <a:stretch>
              <a:fillRect b="-6666" l="-27024" r="-2161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3" name="Google Shape;383;p12"/>
          <p:cNvSpPr txBox="1"/>
          <p:nvPr/>
        </p:nvSpPr>
        <p:spPr>
          <a:xfrm>
            <a:off x="6947200" y="1357889"/>
            <a:ext cx="179216" cy="276999"/>
          </a:xfrm>
          <a:prstGeom prst="rect">
            <a:avLst/>
          </a:prstGeom>
          <a:blipFill rotWithShape="1">
            <a:blip r:embed="rId7">
              <a:alphaModFix/>
            </a:blip>
            <a:stretch>
              <a:fillRect b="-6666" l="-34480" r="-2758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4" name="Google Shape;384;p12"/>
          <p:cNvSpPr txBox="1"/>
          <p:nvPr/>
        </p:nvSpPr>
        <p:spPr>
          <a:xfrm>
            <a:off x="6230434" y="1696267"/>
            <a:ext cx="456151" cy="276999"/>
          </a:xfrm>
          <a:prstGeom prst="rect">
            <a:avLst/>
          </a:prstGeom>
          <a:blipFill rotWithShape="1">
            <a:blip r:embed="rId8">
              <a:alphaModFix/>
            </a:blip>
            <a:stretch>
              <a:fillRect b="-6520" l="-11999" r="-1199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5" name="Google Shape;385;p12"/>
          <p:cNvSpPr txBox="1"/>
          <p:nvPr/>
        </p:nvSpPr>
        <p:spPr>
          <a:xfrm>
            <a:off x="6510252" y="2010764"/>
            <a:ext cx="532966" cy="276999"/>
          </a:xfrm>
          <a:prstGeom prst="rect">
            <a:avLst/>
          </a:prstGeom>
          <a:blipFill rotWithShape="1">
            <a:blip r:embed="rId9">
              <a:alphaModFix/>
            </a:blip>
            <a:stretch>
              <a:fillRect b="-6666" l="-10344" r="-103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6" name="Google Shape;386;p12"/>
          <p:cNvSpPr txBox="1"/>
          <p:nvPr/>
        </p:nvSpPr>
        <p:spPr>
          <a:xfrm>
            <a:off x="6836649" y="2291679"/>
            <a:ext cx="395108" cy="276999"/>
          </a:xfrm>
          <a:prstGeom prst="rect">
            <a:avLst/>
          </a:prstGeom>
          <a:blipFill rotWithShape="1">
            <a:blip r:embed="rId10">
              <a:alphaModFix/>
            </a:blip>
            <a:stretch>
              <a:fillRect b="-35552" l="-21537" r="-18461" t="-2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7" name="Google Shape;387;p12"/>
          <p:cNvSpPr txBox="1"/>
          <p:nvPr/>
        </p:nvSpPr>
        <p:spPr>
          <a:xfrm>
            <a:off x="6249551" y="2600966"/>
            <a:ext cx="307072" cy="276999"/>
          </a:xfrm>
          <a:prstGeom prst="rect">
            <a:avLst/>
          </a:prstGeom>
          <a:blipFill rotWithShape="1">
            <a:blip r:embed="rId11">
              <a:alphaModFix/>
            </a:blip>
            <a:stretch>
              <a:fillRect b="-6666" l="-17645" r="-1372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8" name="Google Shape;388;p12"/>
          <p:cNvSpPr txBox="1"/>
          <p:nvPr/>
        </p:nvSpPr>
        <p:spPr>
          <a:xfrm>
            <a:off x="6424669" y="2881881"/>
            <a:ext cx="395108" cy="276999"/>
          </a:xfrm>
          <a:prstGeom prst="rect">
            <a:avLst/>
          </a:prstGeom>
          <a:blipFill rotWithShape="1">
            <a:blip r:embed="rId12">
              <a:alphaModFix/>
            </a:blip>
            <a:stretch>
              <a:fillRect b="-6666" l="-15384" r="-1230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89" name="Google Shape;389;p12"/>
          <p:cNvSpPr txBox="1"/>
          <p:nvPr/>
        </p:nvSpPr>
        <p:spPr>
          <a:xfrm>
            <a:off x="6675149" y="3185438"/>
            <a:ext cx="438390" cy="276999"/>
          </a:xfrm>
          <a:prstGeom prst="rect">
            <a:avLst/>
          </a:prstGeom>
          <a:blipFill rotWithShape="1">
            <a:blip r:embed="rId13">
              <a:alphaModFix/>
            </a:blip>
            <a:stretch>
              <a:fillRect b="-8888" l="-12499" r="-1388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0" name="Google Shape;390;p12"/>
          <p:cNvSpPr txBox="1"/>
          <p:nvPr/>
        </p:nvSpPr>
        <p:spPr>
          <a:xfrm>
            <a:off x="9647114" y="1177544"/>
            <a:ext cx="315022" cy="276999"/>
          </a:xfrm>
          <a:prstGeom prst="rect">
            <a:avLst/>
          </a:prstGeom>
          <a:blipFill rotWithShape="1">
            <a:blip r:embed="rId14">
              <a:alphaModFix/>
            </a:blip>
            <a:stretch>
              <a:fillRect b="-15215" l="-19606" r="-784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1" name="Google Shape;391;p12"/>
          <p:cNvSpPr txBox="1"/>
          <p:nvPr/>
        </p:nvSpPr>
        <p:spPr>
          <a:xfrm>
            <a:off x="10115177" y="2130118"/>
            <a:ext cx="443455" cy="276999"/>
          </a:xfrm>
          <a:prstGeom prst="rect">
            <a:avLst/>
          </a:prstGeom>
          <a:blipFill rotWithShape="1">
            <a:blip r:embed="rId15">
              <a:alphaModFix/>
            </a:blip>
            <a:stretch>
              <a:fillRect b="-15215" l="-10957" r="-547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2" name="Google Shape;392;p12"/>
          <p:cNvSpPr txBox="1"/>
          <p:nvPr/>
        </p:nvSpPr>
        <p:spPr>
          <a:xfrm>
            <a:off x="9975894" y="1806603"/>
            <a:ext cx="351891" cy="276999"/>
          </a:xfrm>
          <a:prstGeom prst="rect">
            <a:avLst/>
          </a:prstGeom>
          <a:blipFill rotWithShape="1">
            <a:blip r:embed="rId16">
              <a:alphaModFix/>
            </a:blip>
            <a:stretch>
              <a:fillRect b="-6520" l="-15515" r="-1551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3" name="Google Shape;393;p12"/>
          <p:cNvSpPr txBox="1"/>
          <p:nvPr/>
        </p:nvSpPr>
        <p:spPr>
          <a:xfrm>
            <a:off x="9771292" y="1498632"/>
            <a:ext cx="452881" cy="276999"/>
          </a:xfrm>
          <a:prstGeom prst="rect">
            <a:avLst/>
          </a:prstGeom>
          <a:blipFill rotWithShape="1">
            <a:blip r:embed="rId17">
              <a:alphaModFix/>
            </a:blip>
            <a:stretch>
              <a:fillRect b="-15553" l="-12160" r="-54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4" name="Google Shape;394;p12"/>
          <p:cNvSpPr txBox="1"/>
          <p:nvPr/>
        </p:nvSpPr>
        <p:spPr>
          <a:xfrm>
            <a:off x="9570433" y="2573418"/>
            <a:ext cx="592406" cy="276999"/>
          </a:xfrm>
          <a:prstGeom prst="rect">
            <a:avLst/>
          </a:prstGeom>
          <a:blipFill rotWithShape="1">
            <a:blip r:embed="rId18">
              <a:alphaModFix/>
            </a:blip>
            <a:stretch>
              <a:fillRect b="-6520" l="-9276" r="-927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5" name="Google Shape;395;p12"/>
          <p:cNvSpPr txBox="1"/>
          <p:nvPr/>
        </p:nvSpPr>
        <p:spPr>
          <a:xfrm>
            <a:off x="9517380" y="3201733"/>
            <a:ext cx="678071" cy="276999"/>
          </a:xfrm>
          <a:prstGeom prst="rect">
            <a:avLst/>
          </a:prstGeom>
          <a:blipFill rotWithShape="1">
            <a:blip r:embed="rId19">
              <a:alphaModFix/>
            </a:blip>
            <a:stretch>
              <a:fillRect b="-13042" l="-8107" r="-990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396" name="Google Shape;396;p12"/>
          <p:cNvSpPr/>
          <p:nvPr/>
        </p:nvSpPr>
        <p:spPr>
          <a:xfrm>
            <a:off x="7355747" y="695334"/>
            <a:ext cx="257010" cy="939554"/>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2"/>
          <p:cNvSpPr/>
          <p:nvPr/>
        </p:nvSpPr>
        <p:spPr>
          <a:xfrm>
            <a:off x="7334646" y="1743003"/>
            <a:ext cx="304800" cy="825675"/>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2"/>
          <p:cNvSpPr/>
          <p:nvPr/>
        </p:nvSpPr>
        <p:spPr>
          <a:xfrm>
            <a:off x="7284166" y="2730340"/>
            <a:ext cx="304800" cy="748100"/>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2"/>
          <p:cNvSpPr/>
          <p:nvPr/>
        </p:nvSpPr>
        <p:spPr>
          <a:xfrm>
            <a:off x="10660349" y="1263081"/>
            <a:ext cx="315022" cy="1144036"/>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2"/>
          <p:cNvSpPr/>
          <p:nvPr/>
        </p:nvSpPr>
        <p:spPr>
          <a:xfrm>
            <a:off x="10736549" y="3235608"/>
            <a:ext cx="152400" cy="512549"/>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2"/>
          <p:cNvSpPr/>
          <p:nvPr/>
        </p:nvSpPr>
        <p:spPr>
          <a:xfrm>
            <a:off x="10712758" y="2568779"/>
            <a:ext cx="152400" cy="512549"/>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2"/>
          <p:cNvSpPr txBox="1"/>
          <p:nvPr/>
        </p:nvSpPr>
        <p:spPr>
          <a:xfrm>
            <a:off x="7752072" y="900689"/>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4</a:t>
            </a:r>
            <a:endParaRPr/>
          </a:p>
        </p:txBody>
      </p:sp>
      <p:sp>
        <p:nvSpPr>
          <p:cNvPr id="403" name="Google Shape;403;p12"/>
          <p:cNvSpPr txBox="1"/>
          <p:nvPr/>
        </p:nvSpPr>
        <p:spPr>
          <a:xfrm>
            <a:off x="7742335" y="1964597"/>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sp>
        <p:nvSpPr>
          <p:cNvPr id="404" name="Google Shape;404;p12"/>
          <p:cNvSpPr txBox="1"/>
          <p:nvPr/>
        </p:nvSpPr>
        <p:spPr>
          <a:xfrm>
            <a:off x="7748500" y="2928202"/>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a:t>
            </a:r>
            <a:endParaRPr/>
          </a:p>
        </p:txBody>
      </p:sp>
      <p:sp>
        <p:nvSpPr>
          <p:cNvPr id="405" name="Google Shape;405;p12"/>
          <p:cNvSpPr txBox="1"/>
          <p:nvPr/>
        </p:nvSpPr>
        <p:spPr>
          <a:xfrm>
            <a:off x="11121467" y="1637131"/>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406" name="Google Shape;406;p12"/>
          <p:cNvSpPr txBox="1"/>
          <p:nvPr/>
        </p:nvSpPr>
        <p:spPr>
          <a:xfrm>
            <a:off x="11104983" y="2665751"/>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a:t>
            </a:r>
            <a:endParaRPr/>
          </a:p>
        </p:txBody>
      </p:sp>
      <p:sp>
        <p:nvSpPr>
          <p:cNvPr id="407" name="Google Shape;407;p12"/>
          <p:cNvSpPr txBox="1"/>
          <p:nvPr/>
        </p:nvSpPr>
        <p:spPr>
          <a:xfrm>
            <a:off x="11104984" y="3340232"/>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a:t>
            </a:r>
            <a:endParaRPr/>
          </a:p>
        </p:txBody>
      </p:sp>
      <p:sp>
        <p:nvSpPr>
          <p:cNvPr id="408" name="Google Shape;408;p12"/>
          <p:cNvSpPr/>
          <p:nvPr/>
        </p:nvSpPr>
        <p:spPr>
          <a:xfrm>
            <a:off x="5963008" y="646544"/>
            <a:ext cx="235277" cy="4230255"/>
          </a:xfrm>
          <a:prstGeom prst="lef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2"/>
          <p:cNvSpPr/>
          <p:nvPr/>
        </p:nvSpPr>
        <p:spPr>
          <a:xfrm>
            <a:off x="11572965" y="1263081"/>
            <a:ext cx="185787" cy="2485076"/>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2"/>
          <p:cNvSpPr txBox="1"/>
          <p:nvPr/>
        </p:nvSpPr>
        <p:spPr>
          <a:xfrm>
            <a:off x="11755678" y="2333112"/>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5</a:t>
            </a:r>
            <a:endParaRPr/>
          </a:p>
        </p:txBody>
      </p:sp>
      <p:sp>
        <p:nvSpPr>
          <p:cNvPr id="411" name="Google Shape;411;p12"/>
          <p:cNvSpPr txBox="1"/>
          <p:nvPr/>
        </p:nvSpPr>
        <p:spPr>
          <a:xfrm>
            <a:off x="-40232" y="2208245"/>
            <a:ext cx="6206797" cy="3020763"/>
          </a:xfrm>
          <a:prstGeom prst="rect">
            <a:avLst/>
          </a:prstGeom>
          <a:blipFill rotWithShape="1">
            <a:blip r:embed="rId2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12" name="Google Shape;412;p12"/>
          <p:cNvSpPr/>
          <p:nvPr/>
        </p:nvSpPr>
        <p:spPr>
          <a:xfrm>
            <a:off x="1486748" y="5385444"/>
            <a:ext cx="2984563" cy="523220"/>
          </a:xfrm>
          <a:prstGeom prst="rect">
            <a:avLst/>
          </a:prstGeom>
          <a:blipFill rotWithShape="1">
            <a:blip r:embed="rId2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13" name="Google Shape;413;p12"/>
          <p:cNvSpPr/>
          <p:nvPr/>
        </p:nvSpPr>
        <p:spPr>
          <a:xfrm>
            <a:off x="526473" y="387927"/>
            <a:ext cx="5338739" cy="4841081"/>
          </a:xfrm>
          <a:prstGeom prst="rect">
            <a:avLst/>
          </a:prstGeom>
          <a:noFill/>
          <a:ln cap="flat" cmpd="sng" w="28575">
            <a:solidFill>
              <a:srgbClr val="C55A1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4" name="Google Shape;414;p12"/>
          <p:cNvSpPr txBox="1"/>
          <p:nvPr/>
        </p:nvSpPr>
        <p:spPr>
          <a:xfrm>
            <a:off x="6252936" y="3752998"/>
            <a:ext cx="195823" cy="276999"/>
          </a:xfrm>
          <a:prstGeom prst="rect">
            <a:avLst/>
          </a:prstGeom>
          <a:blipFill rotWithShape="1">
            <a:blip r:embed="rId22">
              <a:alphaModFix/>
            </a:blip>
            <a:stretch>
              <a:fillRect b="-6666" l="-31249" r="-2499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15" name="Google Shape;415;p12"/>
          <p:cNvSpPr txBox="1"/>
          <p:nvPr/>
        </p:nvSpPr>
        <p:spPr>
          <a:xfrm>
            <a:off x="6428054" y="4033913"/>
            <a:ext cx="351378" cy="276999"/>
          </a:xfrm>
          <a:prstGeom prst="rect">
            <a:avLst/>
          </a:prstGeom>
          <a:blipFill rotWithShape="1">
            <a:blip r:embed="rId23">
              <a:alphaModFix/>
            </a:blip>
            <a:stretch>
              <a:fillRect b="-6666" l="-13791" r="-1551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16" name="Google Shape;416;p12"/>
          <p:cNvSpPr txBox="1"/>
          <p:nvPr/>
        </p:nvSpPr>
        <p:spPr>
          <a:xfrm>
            <a:off x="6678534" y="4337470"/>
            <a:ext cx="481222" cy="276999"/>
          </a:xfrm>
          <a:prstGeom prst="rect">
            <a:avLst/>
          </a:prstGeom>
          <a:blipFill rotWithShape="1">
            <a:blip r:embed="rId24">
              <a:alphaModFix/>
            </a:blip>
            <a:stretch>
              <a:fillRect b="-6666" l="-11391" r="-1012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17" name="Google Shape;417;p12"/>
          <p:cNvSpPr/>
          <p:nvPr/>
        </p:nvSpPr>
        <p:spPr>
          <a:xfrm>
            <a:off x="7287551" y="3882372"/>
            <a:ext cx="304800" cy="748100"/>
          </a:xfrm>
          <a:prstGeom prst="rightBrace">
            <a:avLst>
              <a:gd fmla="val 8333" name="adj1"/>
              <a:gd fmla="val 50000" name="adj2"/>
            </a:avLst>
          </a:prstGeom>
          <a:no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2"/>
          <p:cNvSpPr txBox="1"/>
          <p:nvPr/>
        </p:nvSpPr>
        <p:spPr>
          <a:xfrm>
            <a:off x="7718664" y="4106637"/>
            <a:ext cx="4710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a:t>
            </a:r>
            <a:endParaRPr/>
          </a:p>
        </p:txBody>
      </p:sp>
      <p:sp>
        <p:nvSpPr>
          <p:cNvPr id="419" name="Google Shape;419;p12"/>
          <p:cNvSpPr/>
          <p:nvPr/>
        </p:nvSpPr>
        <p:spPr>
          <a:xfrm>
            <a:off x="8366847" y="1430944"/>
            <a:ext cx="643130" cy="2436009"/>
          </a:xfrm>
          <a:prstGeom prst="rect">
            <a:avLst/>
          </a:prstGeom>
          <a:solidFill>
            <a:srgbClr val="C9C9C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12"/>
          <p:cNvSpPr txBox="1"/>
          <p:nvPr/>
        </p:nvSpPr>
        <p:spPr>
          <a:xfrm>
            <a:off x="8308249" y="2453341"/>
            <a:ext cx="81136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Arial"/>
                <a:ea typeface="Arial"/>
                <a:cs typeface="Arial"/>
                <a:sym typeface="Arial"/>
              </a:rPr>
              <a:t>Gasifier</a:t>
            </a:r>
            <a:endParaRPr/>
          </a:p>
        </p:txBody>
      </p:sp>
      <p:sp>
        <p:nvSpPr>
          <p:cNvPr id="421" name="Google Shape;421;p12"/>
          <p:cNvSpPr/>
          <p:nvPr/>
        </p:nvSpPr>
        <p:spPr>
          <a:xfrm>
            <a:off x="8308249" y="452581"/>
            <a:ext cx="1537715" cy="600507"/>
          </a:xfrm>
          <a:prstGeom prst="curvedDown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2"/>
          <p:cNvSpPr/>
          <p:nvPr/>
        </p:nvSpPr>
        <p:spPr>
          <a:xfrm>
            <a:off x="8024773" y="4273348"/>
            <a:ext cx="2138066" cy="791237"/>
          </a:xfrm>
          <a:prstGeom prst="curvedUpArrow">
            <a:avLst>
              <a:gd fmla="val 25000" name="adj1"/>
              <a:gd fmla="val 50000" name="adj2"/>
              <a:gd fmla="val 25000" name="adj3"/>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2"/>
          <p:cNvSpPr txBox="1"/>
          <p:nvPr/>
        </p:nvSpPr>
        <p:spPr>
          <a:xfrm>
            <a:off x="6578290" y="5229008"/>
            <a:ext cx="5067712"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800">
                <a:solidFill>
                  <a:schemeClr val="dk1"/>
                </a:solidFill>
                <a:latin typeface="Times New Roman"/>
                <a:ea typeface="Times New Roman"/>
                <a:cs typeface="Times New Roman"/>
                <a:sym typeface="Times New Roman"/>
              </a:rPr>
              <a:t>Presence of </a:t>
            </a:r>
            <a:r>
              <a:rPr i="1" lang="en-US" sz="2800">
                <a:solidFill>
                  <a:srgbClr val="FF0000"/>
                </a:solidFill>
                <a:latin typeface="Times New Roman"/>
                <a:ea typeface="Times New Roman"/>
                <a:cs typeface="Times New Roman"/>
                <a:sym typeface="Times New Roman"/>
              </a:rPr>
              <a:t>multiple interrelated groups of variables </a:t>
            </a:r>
            <a:r>
              <a:rPr i="1" lang="en-US" sz="2800">
                <a:solidFill>
                  <a:schemeClr val="dk1"/>
                </a:solidFill>
                <a:latin typeface="Times New Roman"/>
                <a:ea typeface="Times New Roman"/>
                <a:cs typeface="Times New Roman"/>
                <a:sym typeface="Times New Roman"/>
              </a:rPr>
              <a:t>impacting the gasifier output</a:t>
            </a:r>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pic>
        <p:nvPicPr>
          <p:cNvPr id="428" name="Google Shape;428;p13"/>
          <p:cNvPicPr preferRelativeResize="0"/>
          <p:nvPr/>
        </p:nvPicPr>
        <p:blipFill rotWithShape="1">
          <a:blip r:embed="rId3">
            <a:alphaModFix amt="35000"/>
          </a:blip>
          <a:srcRect b="0" l="0" r="0" t="0"/>
          <a:stretch/>
        </p:blipFill>
        <p:spPr>
          <a:xfrm>
            <a:off x="0" y="10"/>
            <a:ext cx="12191980" cy="6857990"/>
          </a:xfrm>
          <a:prstGeom prst="rect">
            <a:avLst/>
          </a:prstGeom>
          <a:noFill/>
          <a:ln>
            <a:noFill/>
          </a:ln>
        </p:spPr>
      </p:pic>
      <p:sp>
        <p:nvSpPr>
          <p:cNvPr id="429" name="Google Shape;42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2060"/>
              </a:buClr>
              <a:buSzPts val="2800"/>
              <a:buFont typeface="Calibri"/>
              <a:buNone/>
            </a:pPr>
            <a:r>
              <a:rPr b="1" lang="en-US" sz="2800">
                <a:solidFill>
                  <a:srgbClr val="002060"/>
                </a:solidFill>
                <a:highlight>
                  <a:srgbClr val="C0C0C0"/>
                </a:highlight>
              </a:rPr>
              <a:t>Neural Network:</a:t>
            </a:r>
            <a:br>
              <a:rPr b="1" lang="en-US" sz="2800">
                <a:solidFill>
                  <a:srgbClr val="002060"/>
                </a:solidFill>
                <a:highlight>
                  <a:srgbClr val="C0C0C0"/>
                </a:highlight>
              </a:rPr>
            </a:br>
            <a:r>
              <a:rPr b="1" lang="en-US" sz="2800">
                <a:solidFill>
                  <a:srgbClr val="002060"/>
                </a:solidFill>
                <a:highlight>
                  <a:srgbClr val="C0C0C0"/>
                </a:highlight>
              </a:rPr>
              <a:t>A computer system modeled on the human brain and nervous system with applications in:</a:t>
            </a:r>
            <a:endParaRPr/>
          </a:p>
        </p:txBody>
      </p:sp>
      <p:sp>
        <p:nvSpPr>
          <p:cNvPr id="430" name="Google Shape;430;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solidFill>
                <a:srgbClr val="FFFFFF"/>
              </a:solidFill>
            </a:endParaRPr>
          </a:p>
        </p:txBody>
      </p:sp>
      <p:pic>
        <p:nvPicPr>
          <p:cNvPr id="431" name="Google Shape;431;p13"/>
          <p:cNvPicPr preferRelativeResize="0"/>
          <p:nvPr/>
        </p:nvPicPr>
        <p:blipFill rotWithShape="1">
          <a:blip r:embed="rId4">
            <a:alphaModFix/>
          </a:blip>
          <a:srcRect b="0" l="0" r="0" t="0"/>
          <a:stretch/>
        </p:blipFill>
        <p:spPr>
          <a:xfrm>
            <a:off x="2744615" y="1778962"/>
            <a:ext cx="4042016" cy="2849927"/>
          </a:xfrm>
          <a:prstGeom prst="rect">
            <a:avLst/>
          </a:prstGeom>
          <a:noFill/>
          <a:ln>
            <a:noFill/>
          </a:ln>
        </p:spPr>
      </p:pic>
      <p:pic>
        <p:nvPicPr>
          <p:cNvPr id="432" name="Google Shape;432;p13"/>
          <p:cNvPicPr preferRelativeResize="0"/>
          <p:nvPr/>
        </p:nvPicPr>
        <p:blipFill rotWithShape="1">
          <a:blip r:embed="rId5">
            <a:alphaModFix/>
          </a:blip>
          <a:srcRect b="0" l="0" r="0" t="0"/>
          <a:stretch/>
        </p:blipFill>
        <p:spPr>
          <a:xfrm>
            <a:off x="6895616" y="1788798"/>
            <a:ext cx="4085785" cy="2849928"/>
          </a:xfrm>
          <a:prstGeom prst="rect">
            <a:avLst/>
          </a:prstGeom>
          <a:noFill/>
          <a:ln>
            <a:noFill/>
          </a:ln>
        </p:spPr>
      </p:pic>
      <p:sp>
        <p:nvSpPr>
          <p:cNvPr id="433" name="Google Shape;433;p13"/>
          <p:cNvSpPr txBox="1"/>
          <p:nvPr/>
        </p:nvSpPr>
        <p:spPr>
          <a:xfrm>
            <a:off x="6895616" y="4873031"/>
            <a:ext cx="481438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Diagram of a single-layered artificial neural network. </a:t>
            </a:r>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(Ref: theclevermachine)</a:t>
            </a:r>
            <a:endParaRPr/>
          </a:p>
        </p:txBody>
      </p:sp>
      <p:sp>
        <p:nvSpPr>
          <p:cNvPr id="434" name="Google Shape;434;p13"/>
          <p:cNvSpPr txBox="1"/>
          <p:nvPr/>
        </p:nvSpPr>
        <p:spPr>
          <a:xfrm>
            <a:off x="2522717" y="4863194"/>
            <a:ext cx="4485811"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 A feedforward neural network with:</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Three input nodes, </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A hidden layer with 2 nodes,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A second hidden layer with 3 nodes,</a:t>
            </a:r>
            <a:endParaRPr/>
          </a:p>
          <a:p>
            <a:pPr indent="-285750" lvl="0" marL="285750" marR="0" rtl="0" algn="l">
              <a:spcBef>
                <a:spcPts val="0"/>
              </a:spcBef>
              <a:spcAft>
                <a:spcPts val="0"/>
              </a:spcAft>
              <a:buClr>
                <a:schemeClr val="dk1"/>
              </a:buClr>
              <a:buSzPts val="1600"/>
              <a:buFont typeface="Arial"/>
              <a:buChar char="•"/>
            </a:pPr>
            <a:r>
              <a:rPr lang="en-US" sz="1600">
                <a:solidFill>
                  <a:schemeClr val="dk1"/>
                </a:solidFill>
                <a:latin typeface="Calibri"/>
                <a:ea typeface="Calibri"/>
                <a:cs typeface="Calibri"/>
                <a:sym typeface="Calibri"/>
              </a:rPr>
              <a:t>And a final output layer with 2 nodes. </a:t>
            </a:r>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(Ref:Adrian Rosebrock/pyimagesearch)</a:t>
            </a:r>
            <a:endParaRPr/>
          </a:p>
        </p:txBody>
      </p:sp>
      <p:sp>
        <p:nvSpPr>
          <p:cNvPr id="435" name="Google Shape;435;p13"/>
          <p:cNvSpPr txBox="1"/>
          <p:nvPr/>
        </p:nvSpPr>
        <p:spPr>
          <a:xfrm>
            <a:off x="821891" y="1727516"/>
            <a:ext cx="1636015" cy="2585323"/>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002060"/>
              </a:buClr>
              <a:buSzPts val="1800"/>
              <a:buFont typeface="Arial"/>
              <a:buChar char="•"/>
            </a:pPr>
            <a:r>
              <a:rPr b="1" lang="en-US" sz="1800">
                <a:solidFill>
                  <a:srgbClr val="002060"/>
                </a:solidFill>
                <a:highlight>
                  <a:srgbClr val="C0C0C0"/>
                </a:highlight>
                <a:latin typeface="Calibri"/>
                <a:ea typeface="Calibri"/>
                <a:cs typeface="Calibri"/>
                <a:sym typeface="Calibri"/>
              </a:rPr>
              <a:t>Healthcare</a:t>
            </a:r>
            <a:endParaRPr/>
          </a:p>
          <a:p>
            <a:pPr indent="-285750" lvl="0" marL="285750" marR="0" rtl="0" algn="l">
              <a:spcBef>
                <a:spcPts val="0"/>
              </a:spcBef>
              <a:spcAft>
                <a:spcPts val="0"/>
              </a:spcAft>
              <a:buClr>
                <a:srgbClr val="002060"/>
              </a:buClr>
              <a:buSzPts val="1800"/>
              <a:buFont typeface="Arial"/>
              <a:buChar char="•"/>
            </a:pPr>
            <a:r>
              <a:rPr b="1" lang="en-US" sz="1800">
                <a:solidFill>
                  <a:srgbClr val="002060"/>
                </a:solidFill>
                <a:highlight>
                  <a:srgbClr val="C0C0C0"/>
                </a:highlight>
                <a:latin typeface="Calibri"/>
                <a:ea typeface="Calibri"/>
                <a:cs typeface="Calibri"/>
                <a:sym typeface="Calibri"/>
              </a:rPr>
              <a:t>Automotive</a:t>
            </a:r>
            <a:endParaRPr/>
          </a:p>
          <a:p>
            <a:pPr indent="-285750" lvl="0" marL="285750" marR="0" rtl="0" algn="l">
              <a:spcBef>
                <a:spcPts val="0"/>
              </a:spcBef>
              <a:spcAft>
                <a:spcPts val="0"/>
              </a:spcAft>
              <a:buClr>
                <a:srgbClr val="002060"/>
              </a:buClr>
              <a:buSzPts val="1800"/>
              <a:buFont typeface="Arial"/>
              <a:buChar char="•"/>
            </a:pPr>
            <a:r>
              <a:rPr b="1" lang="en-US" sz="1800">
                <a:solidFill>
                  <a:srgbClr val="002060"/>
                </a:solidFill>
                <a:highlight>
                  <a:srgbClr val="C0C0C0"/>
                </a:highlight>
                <a:latin typeface="Calibri"/>
                <a:ea typeface="Calibri"/>
                <a:cs typeface="Calibri"/>
                <a:sym typeface="Calibri"/>
              </a:rPr>
              <a:t>Finance &amp; Economics</a:t>
            </a:r>
            <a:endParaRPr/>
          </a:p>
          <a:p>
            <a:pPr indent="-285750" lvl="0" marL="285750" marR="0" rtl="0" algn="l">
              <a:spcBef>
                <a:spcPts val="0"/>
              </a:spcBef>
              <a:spcAft>
                <a:spcPts val="0"/>
              </a:spcAft>
              <a:buClr>
                <a:srgbClr val="002060"/>
              </a:buClr>
              <a:buSzPts val="1800"/>
              <a:buFont typeface="Arial"/>
              <a:buChar char="•"/>
            </a:pPr>
            <a:r>
              <a:rPr b="1" lang="en-US" sz="1800">
                <a:solidFill>
                  <a:srgbClr val="002060"/>
                </a:solidFill>
                <a:highlight>
                  <a:srgbClr val="C0C0C0"/>
                </a:highlight>
                <a:latin typeface="Calibri"/>
                <a:ea typeface="Calibri"/>
                <a:cs typeface="Calibri"/>
                <a:sym typeface="Calibri"/>
              </a:rPr>
              <a:t>Video games</a:t>
            </a:r>
            <a:endParaRPr/>
          </a:p>
          <a:p>
            <a:pPr indent="-285750" lvl="0" marL="285750" marR="0" rtl="0" algn="l">
              <a:spcBef>
                <a:spcPts val="0"/>
              </a:spcBef>
              <a:spcAft>
                <a:spcPts val="0"/>
              </a:spcAft>
              <a:buClr>
                <a:srgbClr val="002060"/>
              </a:buClr>
              <a:buSzPts val="1800"/>
              <a:buFont typeface="Arial"/>
              <a:buChar char="•"/>
            </a:pPr>
            <a:r>
              <a:rPr b="1" lang="en-US" sz="1800">
                <a:solidFill>
                  <a:srgbClr val="002060"/>
                </a:solidFill>
                <a:highlight>
                  <a:srgbClr val="C0C0C0"/>
                </a:highlight>
                <a:latin typeface="Calibri"/>
                <a:ea typeface="Calibri"/>
                <a:cs typeface="Calibri"/>
                <a:sym typeface="Calibri"/>
              </a:rPr>
              <a:t>Military</a:t>
            </a:r>
            <a:endParaRPr/>
          </a:p>
          <a:p>
            <a:pPr indent="-285750" lvl="0" marL="285750" marR="0" rtl="0" algn="l">
              <a:spcBef>
                <a:spcPts val="0"/>
              </a:spcBef>
              <a:spcAft>
                <a:spcPts val="0"/>
              </a:spcAft>
              <a:buClr>
                <a:srgbClr val="002060"/>
              </a:buClr>
              <a:buSzPts val="1800"/>
              <a:buFont typeface="Arial"/>
              <a:buChar char="•"/>
            </a:pPr>
            <a:r>
              <a:rPr b="1" lang="en-US" sz="1800">
                <a:solidFill>
                  <a:srgbClr val="002060"/>
                </a:solidFill>
                <a:highlight>
                  <a:srgbClr val="C0C0C0"/>
                </a:highlight>
                <a:latin typeface="Calibri"/>
                <a:ea typeface="Calibri"/>
                <a:cs typeface="Calibri"/>
                <a:sym typeface="Calibri"/>
              </a:rPr>
              <a:t>Audit</a:t>
            </a:r>
            <a:endParaRPr/>
          </a:p>
          <a:p>
            <a:pPr indent="-285750" lvl="0" marL="285750" marR="0" rtl="0" algn="l">
              <a:spcBef>
                <a:spcPts val="0"/>
              </a:spcBef>
              <a:spcAft>
                <a:spcPts val="0"/>
              </a:spcAft>
              <a:buClr>
                <a:srgbClr val="002060"/>
              </a:buClr>
              <a:buSzPts val="1800"/>
              <a:buFont typeface="Arial"/>
              <a:buChar char="•"/>
            </a:pPr>
            <a:r>
              <a:rPr b="1" lang="en-US" sz="1800">
                <a:solidFill>
                  <a:srgbClr val="002060"/>
                </a:solidFill>
                <a:highlight>
                  <a:srgbClr val="C0C0C0"/>
                </a:highlight>
                <a:latin typeface="Calibri"/>
                <a:ea typeface="Calibri"/>
                <a:cs typeface="Calibri"/>
                <a:sym typeface="Calibri"/>
              </a:rPr>
              <a:t>…</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par>
                                <p:cTn fill="hold" nodeType="with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500"/>
                                        <p:tgtEl>
                                          <p:spTgt spid="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par>
                                <p:cTn fill="hold" nodeType="with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5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id="440" name="Google Shape;440;p14"/>
          <p:cNvPicPr preferRelativeResize="0"/>
          <p:nvPr/>
        </p:nvPicPr>
        <p:blipFill rotWithShape="1">
          <a:blip r:embed="rId3">
            <a:alphaModFix/>
          </a:blip>
          <a:srcRect b="-1" l="7628" r="28376" t="0"/>
          <a:stretch/>
        </p:blipFill>
        <p:spPr>
          <a:xfrm>
            <a:off x="6750141" y="-2"/>
            <a:ext cx="5441859" cy="5654940"/>
          </a:xfrm>
          <a:custGeom>
            <a:rect b="b" l="l" r="r" t="t"/>
            <a:pathLst>
              <a:path extrusionOk="0" h="5654940" w="5441859">
                <a:moveTo>
                  <a:pt x="1041368" y="0"/>
                </a:moveTo>
                <a:lnTo>
                  <a:pt x="5441859" y="0"/>
                </a:lnTo>
                <a:lnTo>
                  <a:pt x="5441859" y="4820612"/>
                </a:lnTo>
                <a:lnTo>
                  <a:pt x="5285166" y="4957981"/>
                </a:lnTo>
                <a:cubicBezTo>
                  <a:pt x="4729628" y="5394557"/>
                  <a:pt x="4029081" y="5654940"/>
                  <a:pt x="3267719" y="5654940"/>
                </a:cubicBezTo>
                <a:cubicBezTo>
                  <a:pt x="1463008" y="5654940"/>
                  <a:pt x="0" y="4191932"/>
                  <a:pt x="0" y="2387221"/>
                </a:cubicBezTo>
                <a:cubicBezTo>
                  <a:pt x="0" y="1484866"/>
                  <a:pt x="365752" y="667936"/>
                  <a:pt x="957093" y="76595"/>
                </a:cubicBezTo>
                <a:close/>
              </a:path>
            </a:pathLst>
          </a:custGeom>
          <a:noFill/>
          <a:ln>
            <a:noFill/>
          </a:ln>
        </p:spPr>
      </p:pic>
      <p:sp>
        <p:nvSpPr>
          <p:cNvPr id="441" name="Google Shape;441;p14"/>
          <p:cNvSpPr txBox="1"/>
          <p:nvPr>
            <p:ph idx="1" type="body"/>
          </p:nvPr>
        </p:nvSpPr>
        <p:spPr>
          <a:xfrm>
            <a:off x="486781" y="477519"/>
            <a:ext cx="5609219" cy="40509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“If I were starting out today and looking for the same kind of opportunity to make a big impact in the world, I would consider three fields.</a:t>
            </a:r>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One is </a:t>
            </a:r>
            <a:r>
              <a:rPr b="1" lang="en-US" sz="2400">
                <a:solidFill>
                  <a:schemeClr val="accent1"/>
                </a:solidFill>
                <a:latin typeface="Times New Roman"/>
                <a:ea typeface="Times New Roman"/>
                <a:cs typeface="Times New Roman"/>
                <a:sym typeface="Times New Roman"/>
              </a:rPr>
              <a:t>Artificial Intelligence</a:t>
            </a:r>
            <a:r>
              <a:rPr lang="en-US" sz="2400">
                <a:latin typeface="Times New Roman"/>
                <a:ea typeface="Times New Roman"/>
                <a:cs typeface="Times New Roman"/>
                <a:sym typeface="Times New Roman"/>
              </a:rPr>
              <a:t>…</a:t>
            </a:r>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The second is </a:t>
            </a:r>
            <a:r>
              <a:rPr b="1" lang="en-US" sz="2400">
                <a:solidFill>
                  <a:srgbClr val="FF0000"/>
                </a:solidFill>
                <a:latin typeface="Times New Roman"/>
                <a:ea typeface="Times New Roman"/>
                <a:cs typeface="Times New Roman"/>
                <a:sym typeface="Times New Roman"/>
              </a:rPr>
              <a:t>Energy</a:t>
            </a:r>
            <a:r>
              <a:rPr lang="en-US" sz="2400">
                <a:latin typeface="Times New Roman"/>
                <a:ea typeface="Times New Roman"/>
                <a:cs typeface="Times New Roman"/>
                <a:sym typeface="Times New Roman"/>
              </a:rPr>
              <a:t>…</a:t>
            </a:r>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The third is </a:t>
            </a:r>
            <a:r>
              <a:rPr b="1" lang="en-US" sz="2400">
                <a:solidFill>
                  <a:srgbClr val="00B050"/>
                </a:solidFill>
                <a:latin typeface="Times New Roman"/>
                <a:ea typeface="Times New Roman"/>
                <a:cs typeface="Times New Roman"/>
                <a:sym typeface="Times New Roman"/>
              </a:rPr>
              <a:t>Biosciences</a:t>
            </a:r>
            <a:r>
              <a:rPr lang="en-US" sz="2400">
                <a:latin typeface="Times New Roman"/>
                <a:ea typeface="Times New Roman"/>
                <a:cs typeface="Times New Roman"/>
                <a:sym typeface="Times New Roman"/>
              </a:rPr>
              <a:t>…”</a:t>
            </a:r>
            <a:endParaRPr/>
          </a:p>
          <a:p>
            <a:pPr indent="0" lvl="0" marL="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Bill Gates, </a:t>
            </a:r>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Addressing Class of 2017</a:t>
            </a:r>
            <a:endParaRPr/>
          </a:p>
        </p:txBody>
      </p:sp>
      <p:sp>
        <p:nvSpPr>
          <p:cNvPr id="442" name="Google Shape;442;p14"/>
          <p:cNvSpPr/>
          <p:nvPr>
            <p:ph idx="12" type="sldNum"/>
          </p:nvPr>
        </p:nvSpPr>
        <p:spPr>
          <a:xfrm>
            <a:off x="11000232" y="6108192"/>
            <a:ext cx="548640" cy="548640"/>
          </a:xfrm>
          <a:prstGeom prst="ellipse">
            <a:avLst/>
          </a:prstGeom>
          <a:solidFill>
            <a:srgbClr val="855265"/>
          </a:solidFill>
          <a:ln>
            <a:noFill/>
          </a:ln>
        </p:spPr>
        <p:txBody>
          <a:bodyPr anchorCtr="0" anchor="ctr" bIns="45700" lIns="91425" spcFirstLastPara="1" rIns="91425" wrap="square" tIns="45700">
            <a:normAutofit/>
          </a:bodyPr>
          <a:lstStyle/>
          <a:p>
            <a:pPr indent="0" lvl="0" marL="0" rtl="0" algn="ctr">
              <a:spcBef>
                <a:spcPts val="0"/>
              </a:spcBef>
              <a:spcAft>
                <a:spcPts val="0"/>
              </a:spcAft>
              <a:buNone/>
            </a:pPr>
            <a:fld id="{00000000-1234-1234-1234-123412341234}" type="slidenum">
              <a:rPr lang="en-US" sz="1500">
                <a:solidFill>
                  <a:srgbClr val="FFFFFF"/>
                </a:solidFill>
              </a:rPr>
              <a:t>‹#›</a:t>
            </a:fld>
            <a:endParaRPr sz="1500">
              <a:solidFill>
                <a:srgbClr val="FFFFFF"/>
              </a:solidFill>
            </a:endParaRPr>
          </a:p>
        </p:txBody>
      </p:sp>
      <p:sp>
        <p:nvSpPr>
          <p:cNvPr id="443" name="Google Shape;443;p14"/>
          <p:cNvSpPr txBox="1"/>
          <p:nvPr/>
        </p:nvSpPr>
        <p:spPr>
          <a:xfrm>
            <a:off x="486781" y="4915607"/>
            <a:ext cx="7345230"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 </a:t>
            </a:r>
            <a:r>
              <a:rPr b="1" lang="en-US" sz="2400">
                <a:solidFill>
                  <a:schemeClr val="accent1"/>
                </a:solidFill>
                <a:latin typeface="Times New Roman"/>
                <a:ea typeface="Times New Roman"/>
                <a:cs typeface="Times New Roman"/>
                <a:sym typeface="Times New Roman"/>
              </a:rPr>
              <a:t>Neural Network </a:t>
            </a:r>
            <a:r>
              <a:rPr lang="en-US" sz="2400">
                <a:solidFill>
                  <a:schemeClr val="dk1"/>
                </a:solidFill>
                <a:latin typeface="Times New Roman"/>
                <a:ea typeface="Times New Roman"/>
                <a:cs typeface="Times New Roman"/>
                <a:sym typeface="Times New Roman"/>
              </a:rPr>
              <a:t>Based Model of </a:t>
            </a:r>
            <a:r>
              <a:rPr b="1" lang="en-US" sz="2400">
                <a:solidFill>
                  <a:srgbClr val="00B050"/>
                </a:solidFill>
                <a:latin typeface="Times New Roman"/>
                <a:ea typeface="Times New Roman"/>
                <a:cs typeface="Times New Roman"/>
                <a:sym typeface="Times New Roman"/>
              </a:rPr>
              <a:t>Biomass</a:t>
            </a:r>
            <a:r>
              <a:rPr lang="en-US" sz="2400">
                <a:solidFill>
                  <a:srgbClr val="92D050"/>
                </a:solidFill>
                <a:latin typeface="Times New Roman"/>
                <a:ea typeface="Times New Roman"/>
                <a:cs typeface="Times New Roman"/>
                <a:sym typeface="Times New Roman"/>
              </a:rPr>
              <a:t> </a:t>
            </a:r>
            <a:r>
              <a:rPr b="1" lang="en-US" sz="2400">
                <a:solidFill>
                  <a:srgbClr val="FF0000"/>
                </a:solidFill>
                <a:latin typeface="Times New Roman"/>
                <a:ea typeface="Times New Roman"/>
                <a:cs typeface="Times New Roman"/>
                <a:sym typeface="Times New Roman"/>
              </a:rPr>
              <a:t>Gasification</a:t>
            </a:r>
            <a:r>
              <a:rPr lang="en-US" sz="2400">
                <a:solidFill>
                  <a:schemeClr val="dk1"/>
                </a:solidFill>
                <a:latin typeface="Times New Roman"/>
                <a:ea typeface="Times New Roman"/>
                <a:cs typeface="Times New Roman"/>
                <a:sym typeface="Times New Roman"/>
              </a:rPr>
              <a:t> in Fluidized Bed Reactors</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500"/>
                                        <p:tgtEl>
                                          <p:spTgt spid="44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i="1" lang="en-US"/>
              <a:t>Modeling approach</a:t>
            </a:r>
            <a:endParaRPr/>
          </a:p>
        </p:txBody>
      </p:sp>
      <p:sp>
        <p:nvSpPr>
          <p:cNvPr id="449" name="Google Shape;449;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i="1" lang="en-US">
                <a:latin typeface="Times New Roman"/>
                <a:ea typeface="Times New Roman"/>
                <a:cs typeface="Times New Roman"/>
                <a:sym typeface="Times New Roman"/>
              </a:rPr>
              <a:t>Development of a diverse and comprehensive database &amp; preprocessing data and resolving quality issues</a:t>
            </a:r>
            <a:endParaRPr/>
          </a:p>
          <a:p>
            <a:pPr indent="-228600" lvl="0" marL="228600" rtl="0" algn="l">
              <a:lnSpc>
                <a:spcPct val="90000"/>
              </a:lnSpc>
              <a:spcBef>
                <a:spcPts val="1000"/>
              </a:spcBef>
              <a:spcAft>
                <a:spcPts val="0"/>
              </a:spcAft>
              <a:buClr>
                <a:schemeClr val="dk1"/>
              </a:buClr>
              <a:buSzPts val="2800"/>
              <a:buChar char="•"/>
            </a:pPr>
            <a:r>
              <a:rPr i="1" lang="en-US">
                <a:latin typeface="Times New Roman"/>
                <a:ea typeface="Times New Roman"/>
                <a:cs typeface="Times New Roman"/>
                <a:sym typeface="Times New Roman"/>
              </a:rPr>
              <a:t>Biomass characterization</a:t>
            </a:r>
            <a:endParaRPr/>
          </a:p>
          <a:p>
            <a:pPr indent="-228600" lvl="0" marL="228600" rtl="0" algn="l">
              <a:lnSpc>
                <a:spcPct val="90000"/>
              </a:lnSpc>
              <a:spcBef>
                <a:spcPts val="1000"/>
              </a:spcBef>
              <a:spcAft>
                <a:spcPts val="0"/>
              </a:spcAft>
              <a:buClr>
                <a:schemeClr val="dk1"/>
              </a:buClr>
              <a:buSzPts val="2800"/>
              <a:buChar char="•"/>
            </a:pPr>
            <a:r>
              <a:rPr i="1" lang="en-US">
                <a:latin typeface="Times New Roman"/>
                <a:ea typeface="Times New Roman"/>
                <a:cs typeface="Times New Roman"/>
                <a:sym typeface="Times New Roman"/>
              </a:rPr>
              <a:t>Methodically using machine learning algorithms, trigonometric and geometric transformations for the purpose of “variable reduction”</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16"/>
          <p:cNvPicPr preferRelativeResize="0"/>
          <p:nvPr/>
        </p:nvPicPr>
        <p:blipFill rotWithShape="1">
          <a:blip r:embed="rId3">
            <a:alphaModFix/>
          </a:blip>
          <a:srcRect b="0" l="0" r="0" t="0"/>
          <a:stretch/>
        </p:blipFill>
        <p:spPr>
          <a:xfrm>
            <a:off x="392039" y="219665"/>
            <a:ext cx="3652424" cy="2475804"/>
          </a:xfrm>
          <a:prstGeom prst="rect">
            <a:avLst/>
          </a:prstGeom>
          <a:noFill/>
          <a:ln>
            <a:noFill/>
          </a:ln>
        </p:spPr>
      </p:pic>
      <p:sp>
        <p:nvSpPr>
          <p:cNvPr id="455" name="Google Shape;455;p16"/>
          <p:cNvSpPr txBox="1"/>
          <p:nvPr>
            <p:ph idx="12" type="sldNum"/>
          </p:nvPr>
        </p:nvSpPr>
        <p:spPr>
          <a:xfrm>
            <a:off x="8160018" y="6407037"/>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56" name="Google Shape;456;p16"/>
          <p:cNvPicPr preferRelativeResize="0"/>
          <p:nvPr/>
        </p:nvPicPr>
        <p:blipFill rotWithShape="1">
          <a:blip r:embed="rId4">
            <a:alphaModFix/>
          </a:blip>
          <a:srcRect b="0" l="0" r="0" t="0"/>
          <a:stretch/>
        </p:blipFill>
        <p:spPr>
          <a:xfrm>
            <a:off x="269965" y="2605532"/>
            <a:ext cx="3652424" cy="3933380"/>
          </a:xfrm>
          <a:prstGeom prst="rect">
            <a:avLst/>
          </a:prstGeom>
          <a:noFill/>
          <a:ln>
            <a:noFill/>
          </a:ln>
        </p:spPr>
      </p:pic>
      <p:pic>
        <p:nvPicPr>
          <p:cNvPr id="457" name="Google Shape;457;p16"/>
          <p:cNvPicPr preferRelativeResize="0"/>
          <p:nvPr/>
        </p:nvPicPr>
        <p:blipFill rotWithShape="1">
          <a:blip r:embed="rId5">
            <a:alphaModFix/>
          </a:blip>
          <a:srcRect b="0" l="0" r="0" t="0"/>
          <a:stretch/>
        </p:blipFill>
        <p:spPr>
          <a:xfrm>
            <a:off x="4086737" y="1784210"/>
            <a:ext cx="4057650" cy="828675"/>
          </a:xfrm>
          <a:prstGeom prst="rect">
            <a:avLst/>
          </a:prstGeom>
          <a:noFill/>
          <a:ln>
            <a:noFill/>
          </a:ln>
        </p:spPr>
      </p:pic>
      <p:pic>
        <p:nvPicPr>
          <p:cNvPr id="458" name="Google Shape;458;p16"/>
          <p:cNvPicPr preferRelativeResize="0"/>
          <p:nvPr/>
        </p:nvPicPr>
        <p:blipFill rotWithShape="1">
          <a:blip r:embed="rId6">
            <a:alphaModFix/>
          </a:blip>
          <a:srcRect b="0" l="0" r="0" t="0"/>
          <a:stretch/>
        </p:blipFill>
        <p:spPr>
          <a:xfrm>
            <a:off x="4098766" y="1164977"/>
            <a:ext cx="4057650" cy="810486"/>
          </a:xfrm>
          <a:prstGeom prst="rect">
            <a:avLst/>
          </a:prstGeom>
          <a:noFill/>
          <a:ln>
            <a:noFill/>
          </a:ln>
        </p:spPr>
      </p:pic>
      <p:pic>
        <p:nvPicPr>
          <p:cNvPr id="459" name="Google Shape;459;p16"/>
          <p:cNvPicPr preferRelativeResize="0"/>
          <p:nvPr/>
        </p:nvPicPr>
        <p:blipFill rotWithShape="1">
          <a:blip r:embed="rId7">
            <a:alphaModFix/>
          </a:blip>
          <a:srcRect b="0" l="0" r="0" t="0"/>
          <a:stretch/>
        </p:blipFill>
        <p:spPr>
          <a:xfrm>
            <a:off x="4134083" y="2594777"/>
            <a:ext cx="4057650" cy="671912"/>
          </a:xfrm>
          <a:prstGeom prst="rect">
            <a:avLst/>
          </a:prstGeom>
          <a:noFill/>
          <a:ln>
            <a:noFill/>
          </a:ln>
        </p:spPr>
      </p:pic>
      <p:pic>
        <p:nvPicPr>
          <p:cNvPr id="460" name="Google Shape;460;p16"/>
          <p:cNvPicPr preferRelativeResize="0"/>
          <p:nvPr/>
        </p:nvPicPr>
        <p:blipFill rotWithShape="1">
          <a:blip r:embed="rId8">
            <a:alphaModFix/>
          </a:blip>
          <a:srcRect b="0" l="0" r="0" t="0"/>
          <a:stretch/>
        </p:blipFill>
        <p:spPr>
          <a:xfrm>
            <a:off x="4740992" y="3260870"/>
            <a:ext cx="2843833" cy="723900"/>
          </a:xfrm>
          <a:prstGeom prst="rect">
            <a:avLst/>
          </a:prstGeom>
          <a:noFill/>
          <a:ln>
            <a:noFill/>
          </a:ln>
        </p:spPr>
      </p:pic>
      <p:pic>
        <p:nvPicPr>
          <p:cNvPr id="461" name="Google Shape;461;p16"/>
          <p:cNvPicPr preferRelativeResize="0"/>
          <p:nvPr/>
        </p:nvPicPr>
        <p:blipFill rotWithShape="1">
          <a:blip r:embed="rId9">
            <a:alphaModFix/>
          </a:blip>
          <a:srcRect b="0" l="0" r="0" t="0"/>
          <a:stretch/>
        </p:blipFill>
        <p:spPr>
          <a:xfrm>
            <a:off x="4206686" y="4070530"/>
            <a:ext cx="3657600" cy="1457325"/>
          </a:xfrm>
          <a:prstGeom prst="rect">
            <a:avLst/>
          </a:prstGeom>
          <a:noFill/>
          <a:ln>
            <a:noFill/>
          </a:ln>
        </p:spPr>
      </p:pic>
      <p:sp>
        <p:nvSpPr>
          <p:cNvPr id="462" name="Google Shape;462;p16"/>
          <p:cNvSpPr/>
          <p:nvPr/>
        </p:nvSpPr>
        <p:spPr>
          <a:xfrm>
            <a:off x="4194657" y="1130406"/>
            <a:ext cx="3875002" cy="4827592"/>
          </a:xfrm>
          <a:prstGeom prst="rect">
            <a:avLst/>
          </a:prstGeom>
          <a:noFill/>
          <a:ln cap="flat" cmpd="sng" w="28575">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3" name="Google Shape;463;p16"/>
          <p:cNvSpPr txBox="1"/>
          <p:nvPr/>
        </p:nvSpPr>
        <p:spPr>
          <a:xfrm>
            <a:off x="4044463" y="219664"/>
            <a:ext cx="4314446"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chemeClr val="dk1"/>
                </a:solidFill>
                <a:latin typeface="Times New Roman"/>
                <a:ea typeface="Times New Roman"/>
                <a:cs typeface="Times New Roman"/>
                <a:sym typeface="Times New Roman"/>
              </a:rPr>
              <a:t>Biomass characterization using Canonical Correlation Analysis (CCA)</a:t>
            </a:r>
            <a:endParaRPr/>
          </a:p>
        </p:txBody>
      </p:sp>
      <p:pic>
        <p:nvPicPr>
          <p:cNvPr id="464" name="Google Shape;464;p16"/>
          <p:cNvPicPr preferRelativeResize="0"/>
          <p:nvPr/>
        </p:nvPicPr>
        <p:blipFill rotWithShape="1">
          <a:blip r:embed="rId10">
            <a:alphaModFix/>
          </a:blip>
          <a:srcRect b="0" l="0" r="0" t="0"/>
          <a:stretch/>
        </p:blipFill>
        <p:spPr>
          <a:xfrm>
            <a:off x="8431546" y="47510"/>
            <a:ext cx="3438945" cy="3575722"/>
          </a:xfrm>
          <a:prstGeom prst="rect">
            <a:avLst/>
          </a:prstGeom>
          <a:noFill/>
          <a:ln>
            <a:noFill/>
          </a:ln>
        </p:spPr>
      </p:pic>
      <p:sp>
        <p:nvSpPr>
          <p:cNvPr id="465" name="Google Shape;465;p16"/>
          <p:cNvSpPr/>
          <p:nvPr/>
        </p:nvSpPr>
        <p:spPr>
          <a:xfrm>
            <a:off x="8544367" y="3544202"/>
            <a:ext cx="3213302" cy="3083986"/>
          </a:xfrm>
          <a:prstGeom prst="rect">
            <a:avLst/>
          </a:prstGeom>
          <a:noFill/>
          <a:ln>
            <a:noFill/>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lang="en-US" sz="1800">
                <a:solidFill>
                  <a:srgbClr val="0070C0"/>
                </a:solidFill>
                <a:latin typeface="Times New Roman"/>
                <a:ea typeface="Times New Roman"/>
                <a:cs typeface="Times New Roman"/>
                <a:sym typeface="Times New Roman"/>
              </a:rPr>
              <a:t>[E1, E2, P1, S2]</a:t>
            </a:r>
            <a:endParaRPr/>
          </a:p>
          <a:p>
            <a:pPr indent="0" lvl="0" marL="0" marR="0" rtl="0" algn="ctr">
              <a:lnSpc>
                <a:spcPct val="200000"/>
              </a:lnSpc>
              <a:spcBef>
                <a:spcPts val="800"/>
              </a:spcBef>
              <a:spcAft>
                <a:spcPts val="0"/>
              </a:spcAft>
              <a:buNone/>
            </a:pPr>
            <a:r>
              <a:rPr lang="en-US" sz="1400">
                <a:solidFill>
                  <a:srgbClr val="0070C0"/>
                </a:solidFill>
                <a:latin typeface="Times New Roman"/>
                <a:ea typeface="Times New Roman"/>
                <a:cs typeface="Times New Roman"/>
                <a:sym typeface="Times New Roman"/>
              </a:rPr>
              <a:t>Dimensionless Indices representing their class or perspective on the feedstock:</a:t>
            </a:r>
            <a:endParaRPr sz="1100">
              <a:solidFill>
                <a:srgbClr val="0070C0"/>
              </a:solidFill>
              <a:latin typeface="Times New Roman"/>
              <a:ea typeface="Times New Roman"/>
              <a:cs typeface="Times New Roman"/>
              <a:sym typeface="Times New Roman"/>
            </a:endParaRPr>
          </a:p>
          <a:p>
            <a:pPr indent="0" lvl="0" marL="0" marR="0" rtl="0" algn="ctr">
              <a:lnSpc>
                <a:spcPct val="200000"/>
              </a:lnSpc>
              <a:spcBef>
                <a:spcPts val="800"/>
              </a:spcBef>
              <a:spcAft>
                <a:spcPts val="0"/>
              </a:spcAft>
              <a:buNone/>
            </a:pPr>
            <a:r>
              <a:rPr lang="en-US" sz="1200">
                <a:solidFill>
                  <a:schemeClr val="dk1"/>
                </a:solidFill>
                <a:latin typeface="Times New Roman"/>
                <a:ea typeface="Times New Roman"/>
                <a:cs typeface="Times New Roman"/>
                <a:sym typeface="Times New Roman"/>
              </a:rPr>
              <a:t>Elemental Composition Quotient (E),</a:t>
            </a:r>
            <a:endParaRPr/>
          </a:p>
          <a:p>
            <a:pPr indent="0" lvl="0" marL="0" marR="0" rtl="0" algn="ctr">
              <a:lnSpc>
                <a:spcPct val="200000"/>
              </a:lnSpc>
              <a:spcBef>
                <a:spcPts val="800"/>
              </a:spcBef>
              <a:spcAft>
                <a:spcPts val="0"/>
              </a:spcAft>
              <a:buNone/>
            </a:pPr>
            <a:r>
              <a:rPr lang="en-US" sz="1400">
                <a:solidFill>
                  <a:schemeClr val="dk1"/>
                </a:solidFill>
                <a:latin typeface="Times New Roman"/>
                <a:ea typeface="Times New Roman"/>
                <a:cs typeface="Times New Roman"/>
                <a:sym typeface="Times New Roman"/>
              </a:rPr>
              <a:t>Proximate Composition Quotient (P),</a:t>
            </a:r>
            <a:endParaRPr/>
          </a:p>
          <a:p>
            <a:pPr indent="0" lvl="0" marL="0" marR="0" rtl="0" algn="ctr">
              <a:lnSpc>
                <a:spcPct val="200000"/>
              </a:lnSpc>
              <a:spcBef>
                <a:spcPts val="800"/>
              </a:spcBef>
              <a:spcAft>
                <a:spcPts val="0"/>
              </a:spcAft>
              <a:buNone/>
            </a:pPr>
            <a:r>
              <a:rPr lang="en-US" sz="1400">
                <a:solidFill>
                  <a:schemeClr val="dk1"/>
                </a:solidFill>
                <a:latin typeface="Times New Roman"/>
                <a:ea typeface="Times New Roman"/>
                <a:cs typeface="Times New Roman"/>
                <a:sym typeface="Times New Roman"/>
              </a:rPr>
              <a:t>Structural Composition Quotient (S).</a:t>
            </a:r>
            <a:endParaRPr sz="14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9" name="Shape 469"/>
        <p:cNvGrpSpPr/>
        <p:nvPr/>
      </p:nvGrpSpPr>
      <p:grpSpPr>
        <a:xfrm>
          <a:off x="0" y="0"/>
          <a:ext cx="0" cy="0"/>
          <a:chOff x="0" y="0"/>
          <a:chExt cx="0" cy="0"/>
        </a:xfrm>
      </p:grpSpPr>
      <p:sp>
        <p:nvSpPr>
          <p:cNvPr id="470" name="Google Shape;47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a:t>‹#›</a:t>
            </a:fld>
            <a:endParaRPr/>
          </a:p>
        </p:txBody>
      </p:sp>
      <p:sp>
        <p:nvSpPr>
          <p:cNvPr id="471" name="Google Shape;471;p17"/>
          <p:cNvSpPr/>
          <p:nvPr/>
        </p:nvSpPr>
        <p:spPr>
          <a:xfrm>
            <a:off x="5642112" y="3797510"/>
            <a:ext cx="5592419" cy="1402551"/>
          </a:xfrm>
          <a:prstGeom prst="roundRect">
            <a:avLst>
              <a:gd fmla="val 16667" name="adj"/>
            </a:avLst>
          </a:prstGeom>
          <a:noFill/>
          <a:ln cap="flat" cmpd="sng" w="28575">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2" name="Google Shape;472;p17"/>
          <p:cNvSpPr txBox="1"/>
          <p:nvPr/>
        </p:nvSpPr>
        <p:spPr>
          <a:xfrm>
            <a:off x="5642112" y="4033247"/>
            <a:ext cx="5711688" cy="1138558"/>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73" name="Google Shape;473;p17"/>
          <p:cNvSpPr txBox="1"/>
          <p:nvPr/>
        </p:nvSpPr>
        <p:spPr>
          <a:xfrm>
            <a:off x="6652589" y="5051679"/>
            <a:ext cx="3173897" cy="173833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74" name="Google Shape;474;p17"/>
          <p:cNvSpPr/>
          <p:nvPr/>
        </p:nvSpPr>
        <p:spPr>
          <a:xfrm>
            <a:off x="6652589" y="5299283"/>
            <a:ext cx="2819401" cy="1391504"/>
          </a:xfrm>
          <a:prstGeom prst="roundRect">
            <a:avLst>
              <a:gd fmla="val 16667" name="adj"/>
            </a:avLst>
          </a:prstGeom>
          <a:noFill/>
          <a:ln cap="flat" cmpd="sng" w="381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 name="Google Shape;475;p17"/>
          <p:cNvSpPr txBox="1"/>
          <p:nvPr/>
        </p:nvSpPr>
        <p:spPr>
          <a:xfrm>
            <a:off x="649658" y="474117"/>
            <a:ext cx="10584873"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400">
                <a:solidFill>
                  <a:schemeClr val="dk1"/>
                </a:solidFill>
                <a:latin typeface="Times New Roman"/>
                <a:ea typeface="Times New Roman"/>
                <a:cs typeface="Times New Roman"/>
                <a:sym typeface="Times New Roman"/>
              </a:rPr>
              <a:t>Construction of geometric objects to reduce the vector of </a:t>
            </a:r>
            <a:r>
              <a:rPr lang="en-US" sz="2400">
                <a:solidFill>
                  <a:srgbClr val="0070C0"/>
                </a:solidFill>
                <a:latin typeface="Times New Roman"/>
                <a:ea typeface="Times New Roman"/>
                <a:cs typeface="Times New Roman"/>
                <a:sym typeface="Times New Roman"/>
              </a:rPr>
              <a:t>[E1, E2, P1, S2] </a:t>
            </a:r>
            <a:r>
              <a:rPr i="1" lang="en-US" sz="2400">
                <a:solidFill>
                  <a:schemeClr val="dk1"/>
                </a:solidFill>
                <a:latin typeface="Times New Roman"/>
                <a:ea typeface="Times New Roman"/>
                <a:cs typeface="Times New Roman"/>
                <a:sym typeface="Times New Roman"/>
              </a:rPr>
              <a:t>to </a:t>
            </a:r>
            <a:r>
              <a:rPr lang="en-US" sz="2400">
                <a:solidFill>
                  <a:srgbClr val="0070C0"/>
                </a:solidFill>
                <a:latin typeface="Times New Roman"/>
                <a:ea typeface="Times New Roman"/>
                <a:cs typeface="Times New Roman"/>
                <a:sym typeface="Times New Roman"/>
              </a:rPr>
              <a:t>[d, K]</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i="1" lang="en-US" sz="3200">
                <a:solidFill>
                  <a:schemeClr val="dk1"/>
                </a:solidFill>
                <a:latin typeface="Times New Roman"/>
                <a:ea typeface="Times New Roman"/>
                <a:cs typeface="Times New Roman"/>
                <a:sym typeface="Times New Roman"/>
              </a:rPr>
              <a:t>  </a:t>
            </a:r>
            <a:endParaRPr/>
          </a:p>
        </p:txBody>
      </p:sp>
      <p:pic>
        <p:nvPicPr>
          <p:cNvPr id="476" name="Google Shape;476;p17"/>
          <p:cNvPicPr preferRelativeResize="0"/>
          <p:nvPr/>
        </p:nvPicPr>
        <p:blipFill rotWithShape="1">
          <a:blip r:embed="rId5">
            <a:alphaModFix/>
          </a:blip>
          <a:srcRect b="0" l="0" r="0" t="0"/>
          <a:stretch/>
        </p:blipFill>
        <p:spPr>
          <a:xfrm>
            <a:off x="501282" y="1324936"/>
            <a:ext cx="5003591" cy="2345096"/>
          </a:xfrm>
          <a:prstGeom prst="rect">
            <a:avLst/>
          </a:prstGeom>
          <a:noFill/>
          <a:ln>
            <a:noFill/>
          </a:ln>
        </p:spPr>
      </p:pic>
      <p:sp>
        <p:nvSpPr>
          <p:cNvPr id="477" name="Google Shape;477;p17"/>
          <p:cNvSpPr/>
          <p:nvPr/>
        </p:nvSpPr>
        <p:spPr>
          <a:xfrm>
            <a:off x="1020765" y="3429000"/>
            <a:ext cx="3213302" cy="3145541"/>
          </a:xfrm>
          <a:prstGeom prst="rect">
            <a:avLst/>
          </a:prstGeom>
          <a:noFill/>
          <a:ln>
            <a:noFill/>
          </a:ln>
        </p:spPr>
        <p:txBody>
          <a:bodyPr anchorCtr="0" anchor="t" bIns="45700" lIns="91425" spcFirstLastPara="1" rIns="91425" wrap="square" tIns="45700">
            <a:spAutoFit/>
          </a:bodyPr>
          <a:lstStyle/>
          <a:p>
            <a:pPr indent="0" lvl="0" marL="0" marR="0" rtl="0" algn="ctr">
              <a:lnSpc>
                <a:spcPct val="200000"/>
              </a:lnSpc>
              <a:spcBef>
                <a:spcPts val="0"/>
              </a:spcBef>
              <a:spcAft>
                <a:spcPts val="0"/>
              </a:spcAft>
              <a:buNone/>
            </a:pPr>
            <a:r>
              <a:rPr lang="en-US" sz="1800">
                <a:solidFill>
                  <a:srgbClr val="0070C0"/>
                </a:solidFill>
                <a:latin typeface="Times New Roman"/>
                <a:ea typeface="Times New Roman"/>
                <a:cs typeface="Times New Roman"/>
                <a:sym typeface="Times New Roman"/>
              </a:rPr>
              <a:t>[E1, E2, P1, S2]</a:t>
            </a:r>
            <a:endParaRPr/>
          </a:p>
          <a:p>
            <a:pPr indent="0" lvl="0" marL="0" marR="0" rtl="0" algn="ctr">
              <a:lnSpc>
                <a:spcPct val="200000"/>
              </a:lnSpc>
              <a:spcBef>
                <a:spcPts val="800"/>
              </a:spcBef>
              <a:spcAft>
                <a:spcPts val="0"/>
              </a:spcAft>
              <a:buNone/>
            </a:pPr>
            <a:r>
              <a:rPr lang="en-US" sz="1400">
                <a:solidFill>
                  <a:srgbClr val="0070C0"/>
                </a:solidFill>
                <a:latin typeface="Times New Roman"/>
                <a:ea typeface="Times New Roman"/>
                <a:cs typeface="Times New Roman"/>
                <a:sym typeface="Times New Roman"/>
              </a:rPr>
              <a:t>Dimensionless Indices representing their class or perspective on the feedstock:</a:t>
            </a:r>
            <a:endParaRPr/>
          </a:p>
          <a:p>
            <a:pPr indent="0" lvl="0" marL="0" marR="0" rtl="0" algn="ctr">
              <a:lnSpc>
                <a:spcPct val="200000"/>
              </a:lnSpc>
              <a:spcBef>
                <a:spcPts val="800"/>
              </a:spcBef>
              <a:spcAft>
                <a:spcPts val="0"/>
              </a:spcAft>
              <a:buNone/>
            </a:pPr>
            <a:r>
              <a:rPr lang="en-US" sz="1400">
                <a:solidFill>
                  <a:schemeClr val="dk1"/>
                </a:solidFill>
                <a:latin typeface="Times New Roman"/>
                <a:ea typeface="Times New Roman"/>
                <a:cs typeface="Times New Roman"/>
                <a:sym typeface="Times New Roman"/>
              </a:rPr>
              <a:t>Elemental Composition (E),</a:t>
            </a:r>
            <a:endParaRPr/>
          </a:p>
          <a:p>
            <a:pPr indent="0" lvl="0" marL="0" marR="0" rtl="0" algn="ctr">
              <a:lnSpc>
                <a:spcPct val="200000"/>
              </a:lnSpc>
              <a:spcBef>
                <a:spcPts val="800"/>
              </a:spcBef>
              <a:spcAft>
                <a:spcPts val="0"/>
              </a:spcAft>
              <a:buNone/>
            </a:pPr>
            <a:r>
              <a:rPr lang="en-US" sz="1400">
                <a:solidFill>
                  <a:schemeClr val="dk1"/>
                </a:solidFill>
                <a:latin typeface="Times New Roman"/>
                <a:ea typeface="Times New Roman"/>
                <a:cs typeface="Times New Roman"/>
                <a:sym typeface="Times New Roman"/>
              </a:rPr>
              <a:t>Proximate Composition (P),</a:t>
            </a:r>
            <a:endParaRPr/>
          </a:p>
          <a:p>
            <a:pPr indent="0" lvl="0" marL="0" marR="0" rtl="0" algn="ctr">
              <a:lnSpc>
                <a:spcPct val="200000"/>
              </a:lnSpc>
              <a:spcBef>
                <a:spcPts val="800"/>
              </a:spcBef>
              <a:spcAft>
                <a:spcPts val="0"/>
              </a:spcAft>
              <a:buNone/>
            </a:pPr>
            <a:r>
              <a:rPr lang="en-US" sz="1400">
                <a:solidFill>
                  <a:schemeClr val="dk1"/>
                </a:solidFill>
                <a:latin typeface="Times New Roman"/>
                <a:ea typeface="Times New Roman"/>
                <a:cs typeface="Times New Roman"/>
                <a:sym typeface="Times New Roman"/>
              </a:rPr>
              <a:t>Structural Composition (S).</a:t>
            </a:r>
            <a:endParaRPr sz="1400">
              <a:solidFill>
                <a:schemeClr val="dk1"/>
              </a:solidFill>
              <a:latin typeface="Times New Roman"/>
              <a:ea typeface="Times New Roman"/>
              <a:cs typeface="Times New Roman"/>
              <a:sym typeface="Times New Roman"/>
            </a:endParaRPr>
          </a:p>
        </p:txBody>
      </p:sp>
      <p:pic>
        <p:nvPicPr>
          <p:cNvPr id="478" name="Google Shape;478;p17"/>
          <p:cNvPicPr preferRelativeResize="0"/>
          <p:nvPr/>
        </p:nvPicPr>
        <p:blipFill rotWithShape="1">
          <a:blip r:embed="rId6">
            <a:alphaModFix/>
          </a:blip>
          <a:srcRect b="0" l="0" r="0" t="0"/>
          <a:stretch/>
        </p:blipFill>
        <p:spPr>
          <a:xfrm>
            <a:off x="5710956" y="996968"/>
            <a:ext cx="5574000" cy="2682674"/>
          </a:xfrm>
          <a:prstGeom prst="rect">
            <a:avLst/>
          </a:prstGeom>
          <a:noFill/>
          <a:ln>
            <a:noFill/>
          </a:ln>
        </p:spPr>
      </p:pic>
      <p:sp>
        <p:nvSpPr>
          <p:cNvPr id="479" name="Google Shape;479;p17"/>
          <p:cNvSpPr txBox="1"/>
          <p:nvPr/>
        </p:nvSpPr>
        <p:spPr>
          <a:xfrm>
            <a:off x="6927273" y="2124364"/>
            <a:ext cx="47105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highlight>
                  <a:srgbClr val="FFFF00"/>
                </a:highlight>
                <a:latin typeface="Calibri"/>
                <a:ea typeface="Calibri"/>
                <a:cs typeface="Calibri"/>
                <a:sym typeface="Calibri"/>
              </a:rPr>
              <a:t>K</a:t>
            </a:r>
            <a:endParaRPr/>
          </a:p>
        </p:txBody>
      </p:sp>
      <p:sp>
        <p:nvSpPr>
          <p:cNvPr id="480" name="Google Shape;480;p17"/>
          <p:cNvSpPr txBox="1"/>
          <p:nvPr/>
        </p:nvSpPr>
        <p:spPr>
          <a:xfrm>
            <a:off x="2473726" y="2338305"/>
            <a:ext cx="47105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chemeClr val="dk1"/>
                </a:solidFill>
                <a:highlight>
                  <a:srgbClr val="FFFF00"/>
                </a:highlight>
                <a:latin typeface="Calibri"/>
                <a:ea typeface="Calibri"/>
                <a:cs typeface="Calibri"/>
                <a:sym typeface="Calibri"/>
              </a:rPr>
              <a:t>d</a:t>
            </a:r>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pic>
        <p:nvPicPr>
          <p:cNvPr id="485" name="Google Shape;485;p18"/>
          <p:cNvPicPr preferRelativeResize="0"/>
          <p:nvPr>
            <p:ph idx="1" type="body"/>
          </p:nvPr>
        </p:nvPicPr>
        <p:blipFill rotWithShape="1">
          <a:blip r:embed="rId3">
            <a:alphaModFix/>
          </a:blip>
          <a:srcRect b="0" l="0" r="0" t="0"/>
          <a:stretch/>
        </p:blipFill>
        <p:spPr>
          <a:xfrm>
            <a:off x="350981" y="914400"/>
            <a:ext cx="5230949" cy="3291584"/>
          </a:xfrm>
          <a:prstGeom prst="rect">
            <a:avLst/>
          </a:prstGeom>
          <a:noFill/>
          <a:ln>
            <a:noFill/>
          </a:ln>
        </p:spPr>
      </p:pic>
      <p:sp>
        <p:nvSpPr>
          <p:cNvPr id="486" name="Google Shape;48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487" name="Google Shape;487;p18"/>
          <p:cNvPicPr preferRelativeResize="0"/>
          <p:nvPr/>
        </p:nvPicPr>
        <p:blipFill rotWithShape="1">
          <a:blip r:embed="rId4">
            <a:alphaModFix/>
          </a:blip>
          <a:srcRect b="0" l="0" r="0" t="0"/>
          <a:stretch/>
        </p:blipFill>
        <p:spPr>
          <a:xfrm>
            <a:off x="7299789" y="5068209"/>
            <a:ext cx="3048000" cy="476250"/>
          </a:xfrm>
          <a:prstGeom prst="rect">
            <a:avLst/>
          </a:prstGeom>
          <a:noFill/>
          <a:ln>
            <a:noFill/>
          </a:ln>
        </p:spPr>
      </p:pic>
      <p:pic>
        <p:nvPicPr>
          <p:cNvPr id="488" name="Google Shape;488;p18"/>
          <p:cNvPicPr preferRelativeResize="0"/>
          <p:nvPr/>
        </p:nvPicPr>
        <p:blipFill rotWithShape="1">
          <a:blip r:embed="rId5">
            <a:alphaModFix/>
          </a:blip>
          <a:srcRect b="0" l="0" r="0" t="0"/>
          <a:stretch/>
        </p:blipFill>
        <p:spPr>
          <a:xfrm>
            <a:off x="5696270" y="262003"/>
            <a:ext cx="6255038" cy="2633700"/>
          </a:xfrm>
          <a:prstGeom prst="rect">
            <a:avLst/>
          </a:prstGeom>
          <a:noFill/>
          <a:ln>
            <a:noFill/>
          </a:ln>
        </p:spPr>
      </p:pic>
      <p:pic>
        <p:nvPicPr>
          <p:cNvPr id="489" name="Google Shape;489;p18"/>
          <p:cNvPicPr preferRelativeResize="0"/>
          <p:nvPr/>
        </p:nvPicPr>
        <p:blipFill rotWithShape="1">
          <a:blip r:embed="rId6">
            <a:alphaModFix/>
          </a:blip>
          <a:srcRect b="0" l="0" r="0" t="0"/>
          <a:stretch/>
        </p:blipFill>
        <p:spPr>
          <a:xfrm>
            <a:off x="6123963" y="2863025"/>
            <a:ext cx="5628333" cy="1787823"/>
          </a:xfrm>
          <a:prstGeom prst="rect">
            <a:avLst/>
          </a:prstGeom>
          <a:noFill/>
          <a:ln>
            <a:noFill/>
          </a:ln>
        </p:spPr>
      </p:pic>
      <p:sp>
        <p:nvSpPr>
          <p:cNvPr id="490" name="Google Shape;490;p18"/>
          <p:cNvSpPr/>
          <p:nvPr/>
        </p:nvSpPr>
        <p:spPr>
          <a:xfrm>
            <a:off x="350981" y="4365196"/>
            <a:ext cx="5658642" cy="1406026"/>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491" name="Google Shape;491;p18"/>
          <p:cNvSpPr txBox="1"/>
          <p:nvPr/>
        </p:nvSpPr>
        <p:spPr>
          <a:xfrm>
            <a:off x="350981" y="102791"/>
            <a:ext cx="5345288"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Product gas representation using</a:t>
            </a:r>
            <a:endParaRPr/>
          </a:p>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Dalton and trigonometric Identities</a:t>
            </a:r>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7" name="Google Shape;497;p19"/>
          <p:cNvSpPr txBox="1"/>
          <p:nvPr/>
        </p:nvSpPr>
        <p:spPr>
          <a:xfrm>
            <a:off x="496518" y="204920"/>
            <a:ext cx="5000715" cy="138499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Using a partitioned equity circle to consider </a:t>
            </a:r>
            <a:r>
              <a:rPr i="1" lang="en-US" sz="2800" u="sng">
                <a:solidFill>
                  <a:schemeClr val="dk1"/>
                </a:solidFill>
                <a:latin typeface="Times New Roman"/>
                <a:ea typeface="Times New Roman"/>
                <a:cs typeface="Times New Roman"/>
                <a:sym typeface="Times New Roman"/>
              </a:rPr>
              <a:t>joint impacts </a:t>
            </a:r>
            <a:r>
              <a:rPr i="1" lang="en-US" sz="2800">
                <a:solidFill>
                  <a:schemeClr val="dk1"/>
                </a:solidFill>
                <a:latin typeface="Times New Roman"/>
                <a:ea typeface="Times New Roman"/>
                <a:cs typeface="Times New Roman"/>
                <a:sym typeface="Times New Roman"/>
              </a:rPr>
              <a:t>of different variables</a:t>
            </a:r>
            <a:endParaRPr/>
          </a:p>
        </p:txBody>
      </p:sp>
      <p:sp>
        <p:nvSpPr>
          <p:cNvPr id="498" name="Google Shape;498;p19"/>
          <p:cNvSpPr/>
          <p:nvPr/>
        </p:nvSpPr>
        <p:spPr>
          <a:xfrm>
            <a:off x="4709452" y="3979194"/>
            <a:ext cx="163491" cy="40059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99" name="Google Shape;499;p19"/>
          <p:cNvPicPr preferRelativeResize="0"/>
          <p:nvPr/>
        </p:nvPicPr>
        <p:blipFill rotWithShape="1">
          <a:blip r:embed="rId3">
            <a:alphaModFix/>
          </a:blip>
          <a:srcRect b="0" l="0" r="0" t="0"/>
          <a:stretch/>
        </p:blipFill>
        <p:spPr>
          <a:xfrm>
            <a:off x="372626" y="2018039"/>
            <a:ext cx="2446393" cy="1299580"/>
          </a:xfrm>
          <a:prstGeom prst="rect">
            <a:avLst/>
          </a:prstGeom>
          <a:noFill/>
          <a:ln>
            <a:noFill/>
          </a:ln>
        </p:spPr>
      </p:pic>
      <p:pic>
        <p:nvPicPr>
          <p:cNvPr id="500" name="Google Shape;500;p19"/>
          <p:cNvPicPr preferRelativeResize="0"/>
          <p:nvPr/>
        </p:nvPicPr>
        <p:blipFill rotWithShape="1">
          <a:blip r:embed="rId4">
            <a:alphaModFix/>
          </a:blip>
          <a:srcRect b="0" l="0" r="0" t="0"/>
          <a:stretch/>
        </p:blipFill>
        <p:spPr>
          <a:xfrm>
            <a:off x="250510" y="3487495"/>
            <a:ext cx="6595519" cy="1299579"/>
          </a:xfrm>
          <a:prstGeom prst="rect">
            <a:avLst/>
          </a:prstGeom>
          <a:noFill/>
          <a:ln>
            <a:noFill/>
          </a:ln>
        </p:spPr>
      </p:pic>
      <p:pic>
        <p:nvPicPr>
          <p:cNvPr id="501" name="Google Shape;501;p19"/>
          <p:cNvPicPr preferRelativeResize="0"/>
          <p:nvPr/>
        </p:nvPicPr>
        <p:blipFill rotWithShape="1">
          <a:blip r:embed="rId5">
            <a:alphaModFix/>
          </a:blip>
          <a:srcRect b="0" l="0" r="0" t="0"/>
          <a:stretch/>
        </p:blipFill>
        <p:spPr>
          <a:xfrm>
            <a:off x="2225136" y="4856521"/>
            <a:ext cx="1543478" cy="1682391"/>
          </a:xfrm>
          <a:prstGeom prst="rect">
            <a:avLst/>
          </a:prstGeom>
          <a:noFill/>
          <a:ln>
            <a:noFill/>
          </a:ln>
        </p:spPr>
      </p:pic>
      <p:sp>
        <p:nvSpPr>
          <p:cNvPr id="502" name="Google Shape;502;p19"/>
          <p:cNvSpPr txBox="1"/>
          <p:nvPr/>
        </p:nvSpPr>
        <p:spPr>
          <a:xfrm>
            <a:off x="2998966" y="2129673"/>
            <a:ext cx="2697605"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Internal Hierarchy</a:t>
            </a:r>
            <a:endParaRPr/>
          </a:p>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Lower &amp; upper bound</a:t>
            </a:r>
            <a:endParaRPr/>
          </a:p>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Increasing Mixedness</a:t>
            </a:r>
            <a:endParaRPr/>
          </a:p>
        </p:txBody>
      </p:sp>
      <p:pic>
        <p:nvPicPr>
          <p:cNvPr id="503" name="Google Shape;503;p19"/>
          <p:cNvPicPr preferRelativeResize="0"/>
          <p:nvPr>
            <p:ph idx="1" type="body"/>
          </p:nvPr>
        </p:nvPicPr>
        <p:blipFill rotWithShape="1">
          <a:blip r:embed="rId6">
            <a:alphaModFix/>
          </a:blip>
          <a:srcRect b="0" l="0" r="0" t="0"/>
          <a:stretch/>
        </p:blipFill>
        <p:spPr>
          <a:xfrm>
            <a:off x="6096000" y="354904"/>
            <a:ext cx="5000715" cy="3012930"/>
          </a:xfrm>
          <a:prstGeom prst="rect">
            <a:avLst/>
          </a:prstGeom>
          <a:noFill/>
          <a:ln>
            <a:noFill/>
          </a:ln>
        </p:spPr>
      </p:pic>
      <p:pic>
        <p:nvPicPr>
          <p:cNvPr id="504" name="Google Shape;504;p19"/>
          <p:cNvPicPr preferRelativeResize="0"/>
          <p:nvPr/>
        </p:nvPicPr>
        <p:blipFill rotWithShape="1">
          <a:blip r:embed="rId7">
            <a:alphaModFix/>
          </a:blip>
          <a:srcRect b="0" l="0" r="0" t="0"/>
          <a:stretch/>
        </p:blipFill>
        <p:spPr>
          <a:xfrm>
            <a:off x="6781374" y="3914046"/>
            <a:ext cx="4703984" cy="2202200"/>
          </a:xfrm>
          <a:prstGeom prst="rect">
            <a:avLst/>
          </a:prstGeom>
          <a:noFill/>
          <a:ln>
            <a:noFill/>
          </a:ln>
        </p:spPr>
      </p:pic>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pic>
        <p:nvPicPr>
          <p:cNvPr id="509" name="Google Shape;509;p20"/>
          <p:cNvPicPr preferRelativeResize="0"/>
          <p:nvPr>
            <p:ph idx="1" type="body"/>
          </p:nvPr>
        </p:nvPicPr>
        <p:blipFill rotWithShape="1">
          <a:blip r:embed="rId3">
            <a:alphaModFix/>
          </a:blip>
          <a:srcRect b="0" l="0" r="0" t="0"/>
          <a:stretch/>
        </p:blipFill>
        <p:spPr>
          <a:xfrm>
            <a:off x="691203" y="152995"/>
            <a:ext cx="3837681" cy="3223652"/>
          </a:xfrm>
          <a:prstGeom prst="rect">
            <a:avLst/>
          </a:prstGeom>
          <a:noFill/>
          <a:ln>
            <a:noFill/>
          </a:ln>
        </p:spPr>
      </p:pic>
      <p:pic>
        <p:nvPicPr>
          <p:cNvPr id="510" name="Google Shape;510;p20"/>
          <p:cNvPicPr preferRelativeResize="0"/>
          <p:nvPr/>
        </p:nvPicPr>
        <p:blipFill rotWithShape="1">
          <a:blip r:embed="rId4">
            <a:alphaModFix/>
          </a:blip>
          <a:srcRect b="0" l="0" r="0" t="0"/>
          <a:stretch/>
        </p:blipFill>
        <p:spPr>
          <a:xfrm>
            <a:off x="691203" y="3406665"/>
            <a:ext cx="3833590" cy="3210632"/>
          </a:xfrm>
          <a:prstGeom prst="rect">
            <a:avLst/>
          </a:prstGeom>
          <a:noFill/>
          <a:ln>
            <a:noFill/>
          </a:ln>
        </p:spPr>
      </p:pic>
      <p:pic>
        <p:nvPicPr>
          <p:cNvPr id="511" name="Google Shape;511;p20"/>
          <p:cNvPicPr preferRelativeResize="0"/>
          <p:nvPr/>
        </p:nvPicPr>
        <p:blipFill rotWithShape="1">
          <a:blip r:embed="rId5">
            <a:alphaModFix/>
          </a:blip>
          <a:srcRect b="0" l="0" r="0" t="0"/>
          <a:stretch/>
        </p:blipFill>
        <p:spPr>
          <a:xfrm>
            <a:off x="7550518" y="152995"/>
            <a:ext cx="3711044" cy="3117278"/>
          </a:xfrm>
          <a:prstGeom prst="rect">
            <a:avLst/>
          </a:prstGeom>
          <a:noFill/>
          <a:ln>
            <a:noFill/>
          </a:ln>
        </p:spPr>
      </p:pic>
      <p:pic>
        <p:nvPicPr>
          <p:cNvPr id="512" name="Google Shape;512;p20"/>
          <p:cNvPicPr preferRelativeResize="0"/>
          <p:nvPr/>
        </p:nvPicPr>
        <p:blipFill rotWithShape="1">
          <a:blip r:embed="rId6">
            <a:alphaModFix/>
          </a:blip>
          <a:srcRect b="0" l="0" r="0" t="0"/>
          <a:stretch/>
        </p:blipFill>
        <p:spPr>
          <a:xfrm>
            <a:off x="7550518" y="3325102"/>
            <a:ext cx="3711044" cy="3314530"/>
          </a:xfrm>
          <a:prstGeom prst="rect">
            <a:avLst/>
          </a:prstGeom>
          <a:noFill/>
          <a:ln>
            <a:noFill/>
          </a:ln>
        </p:spPr>
      </p:pic>
      <p:cxnSp>
        <p:nvCxnSpPr>
          <p:cNvPr id="513" name="Google Shape;513;p20"/>
          <p:cNvCxnSpPr/>
          <p:nvPr/>
        </p:nvCxnSpPr>
        <p:spPr>
          <a:xfrm flipH="1" rot="10800000">
            <a:off x="1172837" y="407152"/>
            <a:ext cx="2540000" cy="2622136"/>
          </a:xfrm>
          <a:prstGeom prst="straightConnector1">
            <a:avLst/>
          </a:prstGeom>
          <a:noFill/>
          <a:ln cap="flat" cmpd="sng" w="9525">
            <a:solidFill>
              <a:schemeClr val="accent1"/>
            </a:solidFill>
            <a:prstDash val="solid"/>
            <a:miter lim="800000"/>
            <a:headEnd len="sm" w="sm" type="none"/>
            <a:tailEnd len="med" w="med" type="triangle"/>
          </a:ln>
        </p:spPr>
      </p:cxnSp>
      <p:cxnSp>
        <p:nvCxnSpPr>
          <p:cNvPr id="514" name="Google Shape;514;p20"/>
          <p:cNvCxnSpPr/>
          <p:nvPr/>
        </p:nvCxnSpPr>
        <p:spPr>
          <a:xfrm flipH="1" rot="10800000">
            <a:off x="1172837" y="3681447"/>
            <a:ext cx="2540000" cy="2558473"/>
          </a:xfrm>
          <a:prstGeom prst="straightConnector1">
            <a:avLst/>
          </a:prstGeom>
          <a:noFill/>
          <a:ln cap="flat" cmpd="sng" w="9525">
            <a:solidFill>
              <a:schemeClr val="accent1"/>
            </a:solidFill>
            <a:prstDash val="solid"/>
            <a:miter lim="800000"/>
            <a:headEnd len="sm" w="sm" type="none"/>
            <a:tailEnd len="med" w="med" type="triangle"/>
          </a:ln>
        </p:spPr>
      </p:cxnSp>
      <p:cxnSp>
        <p:nvCxnSpPr>
          <p:cNvPr id="515" name="Google Shape;515;p20"/>
          <p:cNvCxnSpPr/>
          <p:nvPr/>
        </p:nvCxnSpPr>
        <p:spPr>
          <a:xfrm flipH="1" rot="10800000">
            <a:off x="7987995" y="429487"/>
            <a:ext cx="2482135" cy="2493172"/>
          </a:xfrm>
          <a:prstGeom prst="straightConnector1">
            <a:avLst/>
          </a:prstGeom>
          <a:noFill/>
          <a:ln cap="flat" cmpd="sng" w="9525">
            <a:solidFill>
              <a:schemeClr val="accent1"/>
            </a:solidFill>
            <a:prstDash val="solid"/>
            <a:miter lim="800000"/>
            <a:headEnd len="sm" w="sm" type="none"/>
            <a:tailEnd len="med" w="med" type="triangle"/>
          </a:ln>
        </p:spPr>
      </p:cxnSp>
      <p:cxnSp>
        <p:nvCxnSpPr>
          <p:cNvPr id="516" name="Google Shape;516;p20"/>
          <p:cNvCxnSpPr/>
          <p:nvPr/>
        </p:nvCxnSpPr>
        <p:spPr>
          <a:xfrm flipH="1" rot="10800000">
            <a:off x="7987995" y="3616779"/>
            <a:ext cx="2482135" cy="2645476"/>
          </a:xfrm>
          <a:prstGeom prst="straightConnector1">
            <a:avLst/>
          </a:prstGeom>
          <a:noFill/>
          <a:ln cap="flat" cmpd="sng" w="9525">
            <a:solidFill>
              <a:schemeClr val="accent1"/>
            </a:solidFill>
            <a:prstDash val="solid"/>
            <a:miter lim="800000"/>
            <a:headEnd len="sm" w="sm" type="none"/>
            <a:tailEnd len="med" w="med" type="triangle"/>
          </a:ln>
        </p:spPr>
      </p:cxnSp>
      <p:sp>
        <p:nvSpPr>
          <p:cNvPr id="517" name="Google Shape;517;p20"/>
          <p:cNvSpPr txBox="1"/>
          <p:nvPr/>
        </p:nvSpPr>
        <p:spPr>
          <a:xfrm>
            <a:off x="5006427" y="1986274"/>
            <a:ext cx="2048265" cy="267765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A Glance at predictions of the model vs experimental values</a:t>
            </a:r>
            <a:endParaRPr/>
          </a:p>
          <a:p>
            <a:pPr indent="0" lvl="0" marL="0" marR="0" rtl="0" algn="ctr">
              <a:spcBef>
                <a:spcPts val="0"/>
              </a:spcBef>
              <a:spcAft>
                <a:spcPts val="0"/>
              </a:spcAft>
              <a:buNone/>
            </a:pPr>
            <a:r>
              <a:rPr i="1" lang="en-US" sz="2400">
                <a:solidFill>
                  <a:schemeClr val="dk1"/>
                </a:solidFill>
                <a:latin typeface="Times New Roman"/>
                <a:ea typeface="Times New Roman"/>
                <a:cs typeface="Times New Roman"/>
                <a:sym typeface="Times New Roman"/>
              </a:rPr>
              <a:t>(Product gas composition)</a:t>
            </a:r>
            <a:endParaRP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pic>
        <p:nvPicPr>
          <p:cNvPr id="522" name="Google Shape;522;p21"/>
          <p:cNvPicPr preferRelativeResize="0"/>
          <p:nvPr>
            <p:ph idx="1" type="body"/>
          </p:nvPr>
        </p:nvPicPr>
        <p:blipFill rotWithShape="1">
          <a:blip r:embed="rId3">
            <a:alphaModFix/>
          </a:blip>
          <a:srcRect b="0" l="0" r="0" t="0"/>
          <a:stretch/>
        </p:blipFill>
        <p:spPr>
          <a:xfrm>
            <a:off x="1773716" y="2643680"/>
            <a:ext cx="8119431" cy="3856730"/>
          </a:xfrm>
          <a:prstGeom prst="rect">
            <a:avLst/>
          </a:prstGeom>
          <a:noFill/>
          <a:ln>
            <a:noFill/>
          </a:ln>
        </p:spPr>
      </p:pic>
      <p:pic>
        <p:nvPicPr>
          <p:cNvPr id="523" name="Google Shape;523;p21"/>
          <p:cNvPicPr preferRelativeResize="0"/>
          <p:nvPr/>
        </p:nvPicPr>
        <p:blipFill rotWithShape="1">
          <a:blip r:embed="rId4">
            <a:alphaModFix/>
          </a:blip>
          <a:srcRect b="0" l="0" r="0" t="0"/>
          <a:stretch/>
        </p:blipFill>
        <p:spPr>
          <a:xfrm>
            <a:off x="1900811" y="357590"/>
            <a:ext cx="7992336" cy="2177913"/>
          </a:xfrm>
          <a:prstGeom prst="rect">
            <a:avLst/>
          </a:prstGeom>
          <a:noFill/>
          <a:ln>
            <a:noFill/>
          </a:ln>
        </p:spPr>
      </p:pic>
      <p:sp>
        <p:nvSpPr>
          <p:cNvPr id="524" name="Google Shape;524;p21"/>
          <p:cNvSpPr/>
          <p:nvPr/>
        </p:nvSpPr>
        <p:spPr>
          <a:xfrm>
            <a:off x="10036629" y="3806418"/>
            <a:ext cx="2013857" cy="1531253"/>
          </a:xfrm>
          <a:prstGeom prst="rect">
            <a:avLst/>
          </a:prstGeom>
          <a:blipFill rotWithShape="1">
            <a:blip r:embed="rId5">
              <a:alphaModFix/>
            </a:blip>
            <a:stretch>
              <a:fillRect b="0" l="0" r="0" t="-1468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Search for the best model</a:t>
            </a:r>
            <a:endParaRPr/>
          </a:p>
        </p:txBody>
      </p:sp>
      <p:pic>
        <p:nvPicPr>
          <p:cNvPr id="530" name="Google Shape;530;p22"/>
          <p:cNvPicPr preferRelativeResize="0"/>
          <p:nvPr>
            <p:ph idx="1" type="body"/>
          </p:nvPr>
        </p:nvPicPr>
        <p:blipFill rotWithShape="1">
          <a:blip r:embed="rId3">
            <a:alphaModFix/>
          </a:blip>
          <a:srcRect b="0" l="0" r="0" t="0"/>
          <a:stretch/>
        </p:blipFill>
        <p:spPr>
          <a:xfrm>
            <a:off x="2109787" y="2210594"/>
            <a:ext cx="7972425" cy="3581400"/>
          </a:xfrm>
          <a:prstGeom prst="rect">
            <a:avLst/>
          </a:prstGeom>
          <a:noFill/>
          <a:ln>
            <a:noFill/>
          </a:ln>
        </p:spPr>
      </p:pic>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23"/>
          <p:cNvSpPr txBox="1"/>
          <p:nvPr>
            <p:ph type="title"/>
          </p:nvPr>
        </p:nvSpPr>
        <p:spPr>
          <a:xfrm>
            <a:off x="838200" y="365125"/>
            <a:ext cx="1051559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36" name="Google Shape;536;p23"/>
          <p:cNvPicPr preferRelativeResize="0"/>
          <p:nvPr/>
        </p:nvPicPr>
        <p:blipFill rotWithShape="1">
          <a:blip r:embed="rId3">
            <a:alphaModFix/>
          </a:blip>
          <a:srcRect b="0" l="0" r="0" t="0"/>
          <a:stretch/>
        </p:blipFill>
        <p:spPr>
          <a:xfrm>
            <a:off x="2138362" y="609600"/>
            <a:ext cx="7915275" cy="5638800"/>
          </a:xfrm>
          <a:prstGeom prst="rect">
            <a:avLst/>
          </a:prstGeom>
          <a:noFill/>
          <a:ln>
            <a:noFill/>
          </a:ln>
        </p:spPr>
      </p:pic>
    </p:spTree>
  </p:cSld>
  <p:clrMapOvr>
    <a:masterClrMapping/>
  </p:clrMapOvr>
  <p:transition spd="slow">
    <p:push/>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i="1" lang="en-US">
                <a:latin typeface="Times New Roman"/>
                <a:ea typeface="Times New Roman"/>
                <a:cs typeface="Times New Roman"/>
                <a:sym typeface="Times New Roman"/>
              </a:rPr>
              <a:t>Development of CCE% &amp;Yield modules</a:t>
            </a:r>
            <a:endParaRPr/>
          </a:p>
        </p:txBody>
      </p:sp>
      <p:sp>
        <p:nvSpPr>
          <p:cNvPr id="542" name="Google Shape;542;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sz="2600">
                <a:latin typeface="Times New Roman"/>
                <a:ea typeface="Times New Roman"/>
                <a:cs typeface="Times New Roman"/>
                <a:sym typeface="Times New Roman"/>
              </a:rPr>
              <a:t>Constructing composite ensambles from:</a:t>
            </a:r>
            <a:endParaRPr/>
          </a:p>
          <a:p>
            <a:pPr indent="-228600" lvl="1" marL="685800" rtl="0" algn="l">
              <a:lnSpc>
                <a:spcPct val="90000"/>
              </a:lnSpc>
              <a:spcBef>
                <a:spcPts val="500"/>
              </a:spcBef>
              <a:spcAft>
                <a:spcPts val="0"/>
              </a:spcAft>
              <a:buClr>
                <a:schemeClr val="dk1"/>
              </a:buClr>
              <a:buSzPct val="100000"/>
              <a:buChar char="•"/>
            </a:pPr>
            <a:r>
              <a:rPr lang="en-US" sz="2600">
                <a:latin typeface="Times New Roman"/>
                <a:ea typeface="Times New Roman"/>
                <a:cs typeface="Times New Roman"/>
                <a:sym typeface="Times New Roman"/>
              </a:rPr>
              <a:t>Feed &amp; O.C</a:t>
            </a:r>
            <a:endParaRPr/>
          </a:p>
          <a:p>
            <a:pPr indent="-228600" lvl="1" marL="685800" rtl="0" algn="l">
              <a:lnSpc>
                <a:spcPct val="90000"/>
              </a:lnSpc>
              <a:spcBef>
                <a:spcPts val="500"/>
              </a:spcBef>
              <a:spcAft>
                <a:spcPts val="0"/>
              </a:spcAft>
              <a:buClr>
                <a:schemeClr val="dk1"/>
              </a:buClr>
              <a:buSzPct val="100000"/>
              <a:buChar char="•"/>
            </a:pPr>
            <a:r>
              <a:rPr lang="en-US" sz="2600">
                <a:latin typeface="Times New Roman"/>
                <a:ea typeface="Times New Roman"/>
                <a:cs typeface="Times New Roman"/>
                <a:sym typeface="Times New Roman"/>
              </a:rPr>
              <a:t>Product Gas composition</a:t>
            </a:r>
            <a:endParaRPr/>
          </a:p>
          <a:p>
            <a:pPr indent="-228600" lvl="0" marL="228600" rtl="0" algn="l">
              <a:lnSpc>
                <a:spcPct val="90000"/>
              </a:lnSpc>
              <a:spcBef>
                <a:spcPts val="1000"/>
              </a:spcBef>
              <a:spcAft>
                <a:spcPts val="0"/>
              </a:spcAft>
              <a:buClr>
                <a:schemeClr val="dk1"/>
              </a:buClr>
              <a:buSzPct val="100000"/>
              <a:buChar char="•"/>
            </a:pPr>
            <a:r>
              <a:rPr lang="en-US" sz="2600">
                <a:latin typeface="Times New Roman"/>
                <a:ea typeface="Times New Roman"/>
                <a:cs typeface="Times New Roman"/>
                <a:sym typeface="Times New Roman"/>
              </a:rPr>
              <a:t>Designing Fibonacci integer sequence representing input &amp; output of an event</a:t>
            </a:r>
            <a:endParaRPr/>
          </a:p>
          <a:p>
            <a:pPr indent="-228600" lvl="0" marL="228600" rtl="0" algn="l">
              <a:lnSpc>
                <a:spcPct val="90000"/>
              </a:lnSpc>
              <a:spcBef>
                <a:spcPts val="1000"/>
              </a:spcBef>
              <a:spcAft>
                <a:spcPts val="0"/>
              </a:spcAft>
              <a:buClr>
                <a:schemeClr val="dk1"/>
              </a:buClr>
              <a:buSzPct val="100000"/>
              <a:buChar char="•"/>
            </a:pPr>
            <a:r>
              <a:rPr lang="en-US" sz="2600">
                <a:latin typeface="Times New Roman"/>
                <a:ea typeface="Times New Roman"/>
                <a:cs typeface="Times New Roman"/>
                <a:sym typeface="Times New Roman"/>
              </a:rPr>
              <a:t>Designing three neural network based routes with different transfer fucntions to serve as a statistical inference tool</a:t>
            </a:r>
            <a:endParaRPr/>
          </a:p>
          <a:p>
            <a:pPr indent="-228600" lvl="0" marL="228600" rtl="0" algn="l">
              <a:lnSpc>
                <a:spcPct val="90000"/>
              </a:lnSpc>
              <a:spcBef>
                <a:spcPts val="1000"/>
              </a:spcBef>
              <a:spcAft>
                <a:spcPts val="0"/>
              </a:spcAft>
              <a:buClr>
                <a:schemeClr val="dk1"/>
              </a:buClr>
              <a:buSzPct val="100000"/>
              <a:buChar char="•"/>
            </a:pPr>
            <a:r>
              <a:rPr lang="en-US" sz="2600">
                <a:latin typeface="Times New Roman"/>
                <a:ea typeface="Times New Roman"/>
                <a:cs typeface="Times New Roman"/>
                <a:sym typeface="Times New Roman"/>
              </a:rPr>
              <a:t>Performing algebriac calculations to obtain a characterstics matrix</a:t>
            </a:r>
            <a:endParaRPr/>
          </a:p>
          <a:p>
            <a:pPr indent="-228600" lvl="0" marL="228600" rtl="0" algn="l">
              <a:lnSpc>
                <a:spcPct val="90000"/>
              </a:lnSpc>
              <a:spcBef>
                <a:spcPts val="1000"/>
              </a:spcBef>
              <a:spcAft>
                <a:spcPts val="0"/>
              </a:spcAft>
              <a:buClr>
                <a:schemeClr val="dk1"/>
              </a:buClr>
              <a:buSzPct val="100000"/>
              <a:buChar char="•"/>
            </a:pPr>
            <a:r>
              <a:rPr lang="en-US" sz="2600">
                <a:latin typeface="Times New Roman"/>
                <a:ea typeface="Times New Roman"/>
                <a:cs typeface="Times New Roman"/>
                <a:sym typeface="Times New Roman"/>
              </a:rPr>
              <a:t>Using a dynamical property value (specific computational time) &amp; integration</a:t>
            </a:r>
            <a:endParaRPr/>
          </a:p>
          <a:p>
            <a:pPr indent="-228600" lvl="0" marL="228600" rtl="0" algn="l">
              <a:lnSpc>
                <a:spcPct val="90000"/>
              </a:lnSpc>
              <a:spcBef>
                <a:spcPts val="1000"/>
              </a:spcBef>
              <a:spcAft>
                <a:spcPts val="0"/>
              </a:spcAft>
              <a:buClr>
                <a:schemeClr val="dk1"/>
              </a:buClr>
              <a:buSzPct val="100000"/>
              <a:buChar char="•"/>
            </a:pPr>
            <a:r>
              <a:rPr lang="en-US" sz="2600">
                <a:latin typeface="Times New Roman"/>
                <a:ea typeface="Times New Roman"/>
                <a:cs typeface="Times New Roman"/>
                <a:sym typeface="Times New Roman"/>
              </a:rPr>
              <a:t>Obtaining monotonic relationships for CCE &amp; Yield from results of the integration.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48" name="Google Shape;548;p25"/>
          <p:cNvSpPr txBox="1"/>
          <p:nvPr/>
        </p:nvSpPr>
        <p:spPr>
          <a:xfrm>
            <a:off x="470886" y="450156"/>
            <a:ext cx="4871293"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Ensemble Construction form </a:t>
            </a:r>
            <a:endParaRPr/>
          </a:p>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Feed &amp; Operating condition</a:t>
            </a:r>
            <a:endParaRPr/>
          </a:p>
        </p:txBody>
      </p:sp>
      <p:sp>
        <p:nvSpPr>
          <p:cNvPr id="549" name="Google Shape;549;p25"/>
          <p:cNvSpPr/>
          <p:nvPr/>
        </p:nvSpPr>
        <p:spPr>
          <a:xfrm>
            <a:off x="4709452" y="3979194"/>
            <a:ext cx="163491" cy="40059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50" name="Google Shape;550;p25"/>
          <p:cNvPicPr preferRelativeResize="0"/>
          <p:nvPr/>
        </p:nvPicPr>
        <p:blipFill rotWithShape="1">
          <a:blip r:embed="rId3">
            <a:alphaModFix/>
          </a:blip>
          <a:srcRect b="0" l="0" r="0" t="0"/>
          <a:stretch/>
        </p:blipFill>
        <p:spPr>
          <a:xfrm>
            <a:off x="8299526" y="4588593"/>
            <a:ext cx="1841414" cy="1767757"/>
          </a:xfrm>
          <a:prstGeom prst="rect">
            <a:avLst/>
          </a:prstGeom>
          <a:noFill/>
          <a:ln>
            <a:noFill/>
          </a:ln>
        </p:spPr>
      </p:pic>
      <p:pic>
        <p:nvPicPr>
          <p:cNvPr id="551" name="Google Shape;551;p25"/>
          <p:cNvPicPr preferRelativeResize="0"/>
          <p:nvPr/>
        </p:nvPicPr>
        <p:blipFill rotWithShape="1">
          <a:blip r:embed="rId4">
            <a:alphaModFix/>
          </a:blip>
          <a:srcRect b="0" l="0" r="0" t="0"/>
          <a:stretch/>
        </p:blipFill>
        <p:spPr>
          <a:xfrm>
            <a:off x="592388" y="1744499"/>
            <a:ext cx="2154758" cy="1113373"/>
          </a:xfrm>
          <a:prstGeom prst="rect">
            <a:avLst/>
          </a:prstGeom>
          <a:noFill/>
          <a:ln>
            <a:noFill/>
          </a:ln>
        </p:spPr>
      </p:pic>
      <p:pic>
        <p:nvPicPr>
          <p:cNvPr id="552" name="Google Shape;552;p25"/>
          <p:cNvPicPr preferRelativeResize="0"/>
          <p:nvPr/>
        </p:nvPicPr>
        <p:blipFill rotWithShape="1">
          <a:blip r:embed="rId5">
            <a:alphaModFix/>
          </a:blip>
          <a:srcRect b="0" l="0" r="0" t="0"/>
          <a:stretch/>
        </p:blipFill>
        <p:spPr>
          <a:xfrm>
            <a:off x="1949745" y="3348301"/>
            <a:ext cx="4732357" cy="869111"/>
          </a:xfrm>
          <a:prstGeom prst="rect">
            <a:avLst/>
          </a:prstGeom>
          <a:noFill/>
          <a:ln>
            <a:noFill/>
          </a:ln>
        </p:spPr>
      </p:pic>
      <p:pic>
        <p:nvPicPr>
          <p:cNvPr id="553" name="Google Shape;553;p25"/>
          <p:cNvPicPr preferRelativeResize="0"/>
          <p:nvPr/>
        </p:nvPicPr>
        <p:blipFill rotWithShape="1">
          <a:blip r:embed="rId6">
            <a:alphaModFix/>
          </a:blip>
          <a:srcRect b="0" l="0" r="0" t="0"/>
          <a:stretch/>
        </p:blipFill>
        <p:spPr>
          <a:xfrm>
            <a:off x="4709452" y="4866347"/>
            <a:ext cx="1251808" cy="1297606"/>
          </a:xfrm>
          <a:prstGeom prst="rect">
            <a:avLst/>
          </a:prstGeom>
          <a:noFill/>
          <a:ln>
            <a:noFill/>
          </a:ln>
        </p:spPr>
      </p:pic>
      <p:pic>
        <p:nvPicPr>
          <p:cNvPr id="554" name="Google Shape;554;p25"/>
          <p:cNvPicPr preferRelativeResize="0"/>
          <p:nvPr/>
        </p:nvPicPr>
        <p:blipFill rotWithShape="1">
          <a:blip r:embed="rId7">
            <a:alphaModFix/>
          </a:blip>
          <a:srcRect b="0" l="0" r="0" t="0"/>
          <a:stretch/>
        </p:blipFill>
        <p:spPr>
          <a:xfrm>
            <a:off x="2420960" y="4864092"/>
            <a:ext cx="1315692" cy="1154681"/>
          </a:xfrm>
          <a:prstGeom prst="rect">
            <a:avLst/>
          </a:prstGeom>
          <a:noFill/>
          <a:ln>
            <a:noFill/>
          </a:ln>
        </p:spPr>
      </p:pic>
      <p:pic>
        <p:nvPicPr>
          <p:cNvPr id="555" name="Google Shape;555;p25"/>
          <p:cNvPicPr preferRelativeResize="0"/>
          <p:nvPr/>
        </p:nvPicPr>
        <p:blipFill rotWithShape="1">
          <a:blip r:embed="rId8">
            <a:alphaModFix/>
          </a:blip>
          <a:srcRect b="0" l="0" r="0" t="0"/>
          <a:stretch/>
        </p:blipFill>
        <p:spPr>
          <a:xfrm>
            <a:off x="774459" y="4964949"/>
            <a:ext cx="1009544" cy="1100403"/>
          </a:xfrm>
          <a:prstGeom prst="rect">
            <a:avLst/>
          </a:prstGeom>
          <a:noFill/>
          <a:ln>
            <a:noFill/>
          </a:ln>
        </p:spPr>
      </p:pic>
      <p:sp>
        <p:nvSpPr>
          <p:cNvPr id="556" name="Google Shape;556;p25"/>
          <p:cNvSpPr txBox="1"/>
          <p:nvPr/>
        </p:nvSpPr>
        <p:spPr>
          <a:xfrm>
            <a:off x="2819019" y="1744499"/>
            <a:ext cx="2697605"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Internal Hierarchy</a:t>
            </a:r>
            <a:endParaRPr/>
          </a:p>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Lower &amp; upper bound</a:t>
            </a:r>
            <a:endParaRPr/>
          </a:p>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Increasing Mixedness</a:t>
            </a:r>
            <a:endParaRPr/>
          </a:p>
        </p:txBody>
      </p:sp>
      <p:sp>
        <p:nvSpPr>
          <p:cNvPr id="557" name="Google Shape;557;p25"/>
          <p:cNvSpPr/>
          <p:nvPr/>
        </p:nvSpPr>
        <p:spPr>
          <a:xfrm>
            <a:off x="7450419" y="553295"/>
            <a:ext cx="4098482" cy="3958391"/>
          </a:xfrm>
          <a:prstGeom prst="rect">
            <a:avLst/>
          </a:prstGeom>
          <a:blipFill rotWithShape="1">
            <a:blip r:embed="rId9">
              <a:alphaModFix/>
            </a:blip>
            <a:stretch>
              <a:fillRect b="0" l="0" r="0" t="-50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558" name="Google Shape;558;p25"/>
          <p:cNvSpPr/>
          <p:nvPr/>
        </p:nvSpPr>
        <p:spPr>
          <a:xfrm>
            <a:off x="7319059" y="587668"/>
            <a:ext cx="4098482" cy="5804452"/>
          </a:xfrm>
          <a:prstGeom prst="roundRect">
            <a:avLst>
              <a:gd fmla="val 16667" name="adj"/>
            </a:avLst>
          </a:prstGeom>
          <a:noFill/>
          <a:ln cap="flat" cmpd="sng" w="28575">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59" name="Google Shape;559;p25"/>
          <p:cNvPicPr preferRelativeResize="0"/>
          <p:nvPr/>
        </p:nvPicPr>
        <p:blipFill rotWithShape="1">
          <a:blip r:embed="rId10">
            <a:alphaModFix/>
          </a:blip>
          <a:srcRect b="0" l="0" r="0" t="0"/>
          <a:stretch/>
        </p:blipFill>
        <p:spPr>
          <a:xfrm>
            <a:off x="429001" y="2880272"/>
            <a:ext cx="1430716" cy="2062276"/>
          </a:xfrm>
          <a:prstGeom prst="rect">
            <a:avLst/>
          </a:prstGeom>
          <a:noFill/>
          <a:ln>
            <a:noFill/>
          </a:ln>
        </p:spPr>
      </p:pic>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65" name="Google Shape;565;p26"/>
          <p:cNvSpPr txBox="1"/>
          <p:nvPr/>
        </p:nvSpPr>
        <p:spPr>
          <a:xfrm>
            <a:off x="470886" y="450156"/>
            <a:ext cx="4871293"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Ensemble Construction form </a:t>
            </a:r>
            <a:endParaRPr/>
          </a:p>
          <a:p>
            <a:pPr indent="0" lvl="0" marL="0" marR="0" rtl="0" algn="l">
              <a:spcBef>
                <a:spcPts val="0"/>
              </a:spcBef>
              <a:spcAft>
                <a:spcPts val="0"/>
              </a:spcAft>
              <a:buNone/>
            </a:pPr>
            <a:r>
              <a:rPr i="1" lang="en-US" sz="2800">
                <a:solidFill>
                  <a:schemeClr val="dk1"/>
                </a:solidFill>
                <a:latin typeface="Times New Roman"/>
                <a:ea typeface="Times New Roman"/>
                <a:cs typeface="Times New Roman"/>
                <a:sym typeface="Times New Roman"/>
              </a:rPr>
              <a:t>Product gas composition</a:t>
            </a:r>
            <a:endParaRPr/>
          </a:p>
        </p:txBody>
      </p:sp>
      <p:sp>
        <p:nvSpPr>
          <p:cNvPr id="566" name="Google Shape;566;p26"/>
          <p:cNvSpPr/>
          <p:nvPr/>
        </p:nvSpPr>
        <p:spPr>
          <a:xfrm>
            <a:off x="4709452" y="3979194"/>
            <a:ext cx="163491" cy="40059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67" name="Google Shape;567;p26"/>
          <p:cNvPicPr preferRelativeResize="0"/>
          <p:nvPr/>
        </p:nvPicPr>
        <p:blipFill rotWithShape="1">
          <a:blip r:embed="rId3">
            <a:alphaModFix/>
          </a:blip>
          <a:srcRect b="0" l="0" r="0" t="0"/>
          <a:stretch/>
        </p:blipFill>
        <p:spPr>
          <a:xfrm>
            <a:off x="8299526" y="4588593"/>
            <a:ext cx="1841414" cy="1767757"/>
          </a:xfrm>
          <a:prstGeom prst="rect">
            <a:avLst/>
          </a:prstGeom>
          <a:noFill/>
          <a:ln>
            <a:noFill/>
          </a:ln>
        </p:spPr>
      </p:pic>
      <p:pic>
        <p:nvPicPr>
          <p:cNvPr id="568" name="Google Shape;568;p26"/>
          <p:cNvPicPr preferRelativeResize="0"/>
          <p:nvPr/>
        </p:nvPicPr>
        <p:blipFill rotWithShape="1">
          <a:blip r:embed="rId4">
            <a:alphaModFix/>
          </a:blip>
          <a:srcRect b="0" l="0" r="0" t="0"/>
          <a:stretch/>
        </p:blipFill>
        <p:spPr>
          <a:xfrm>
            <a:off x="592388" y="1744499"/>
            <a:ext cx="2154758" cy="1113373"/>
          </a:xfrm>
          <a:prstGeom prst="rect">
            <a:avLst/>
          </a:prstGeom>
          <a:noFill/>
          <a:ln>
            <a:noFill/>
          </a:ln>
        </p:spPr>
      </p:pic>
      <p:pic>
        <p:nvPicPr>
          <p:cNvPr id="569" name="Google Shape;569;p26"/>
          <p:cNvPicPr preferRelativeResize="0"/>
          <p:nvPr/>
        </p:nvPicPr>
        <p:blipFill rotWithShape="1">
          <a:blip r:embed="rId5">
            <a:alphaModFix/>
          </a:blip>
          <a:srcRect b="0" l="0" r="0" t="0"/>
          <a:stretch/>
        </p:blipFill>
        <p:spPr>
          <a:xfrm>
            <a:off x="4150161" y="4765685"/>
            <a:ext cx="1251808" cy="1297606"/>
          </a:xfrm>
          <a:prstGeom prst="rect">
            <a:avLst/>
          </a:prstGeom>
          <a:noFill/>
          <a:ln>
            <a:noFill/>
          </a:ln>
        </p:spPr>
      </p:pic>
      <p:pic>
        <p:nvPicPr>
          <p:cNvPr id="570" name="Google Shape;570;p26"/>
          <p:cNvPicPr preferRelativeResize="0"/>
          <p:nvPr/>
        </p:nvPicPr>
        <p:blipFill rotWithShape="1">
          <a:blip r:embed="rId6">
            <a:alphaModFix/>
          </a:blip>
          <a:srcRect b="0" l="0" r="0" t="0"/>
          <a:stretch/>
        </p:blipFill>
        <p:spPr>
          <a:xfrm>
            <a:off x="2283842" y="4810726"/>
            <a:ext cx="1315692" cy="1154681"/>
          </a:xfrm>
          <a:prstGeom prst="rect">
            <a:avLst/>
          </a:prstGeom>
          <a:noFill/>
          <a:ln>
            <a:noFill/>
          </a:ln>
        </p:spPr>
      </p:pic>
      <p:pic>
        <p:nvPicPr>
          <p:cNvPr id="571" name="Google Shape;571;p26"/>
          <p:cNvPicPr preferRelativeResize="0"/>
          <p:nvPr/>
        </p:nvPicPr>
        <p:blipFill rotWithShape="1">
          <a:blip r:embed="rId7">
            <a:alphaModFix/>
          </a:blip>
          <a:srcRect b="0" l="0" r="0" t="0"/>
          <a:stretch/>
        </p:blipFill>
        <p:spPr>
          <a:xfrm>
            <a:off x="807265" y="4738793"/>
            <a:ext cx="1009544" cy="1100403"/>
          </a:xfrm>
          <a:prstGeom prst="rect">
            <a:avLst/>
          </a:prstGeom>
          <a:noFill/>
          <a:ln>
            <a:noFill/>
          </a:ln>
        </p:spPr>
      </p:pic>
      <p:sp>
        <p:nvSpPr>
          <p:cNvPr id="572" name="Google Shape;572;p26"/>
          <p:cNvSpPr txBox="1"/>
          <p:nvPr/>
        </p:nvSpPr>
        <p:spPr>
          <a:xfrm>
            <a:off x="2819019" y="1744499"/>
            <a:ext cx="2697605"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Internal Hierarchy</a:t>
            </a:r>
            <a:endParaRPr/>
          </a:p>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Lower &amp; upper bound</a:t>
            </a:r>
            <a:endParaRPr/>
          </a:p>
          <a:p>
            <a:pPr indent="-285750" lvl="0" marL="285750" marR="0" rtl="0" algn="l">
              <a:spcBef>
                <a:spcPts val="0"/>
              </a:spcBef>
              <a:spcAft>
                <a:spcPts val="0"/>
              </a:spcAft>
              <a:buClr>
                <a:schemeClr val="dk1"/>
              </a:buClr>
              <a:buSzPts val="1800"/>
              <a:buFont typeface="Calibri"/>
              <a:buChar char="-"/>
            </a:pPr>
            <a:r>
              <a:rPr i="1" lang="en-US" sz="1800">
                <a:solidFill>
                  <a:schemeClr val="dk1"/>
                </a:solidFill>
                <a:latin typeface="Calibri"/>
                <a:ea typeface="Calibri"/>
                <a:cs typeface="Calibri"/>
                <a:sym typeface="Calibri"/>
              </a:rPr>
              <a:t>Increasing Mixedness</a:t>
            </a:r>
            <a:endParaRPr/>
          </a:p>
        </p:txBody>
      </p:sp>
      <p:sp>
        <p:nvSpPr>
          <p:cNvPr id="573" name="Google Shape;573;p26"/>
          <p:cNvSpPr/>
          <p:nvPr/>
        </p:nvSpPr>
        <p:spPr>
          <a:xfrm>
            <a:off x="7450419" y="553295"/>
            <a:ext cx="4098482" cy="3958391"/>
          </a:xfrm>
          <a:prstGeom prst="rect">
            <a:avLst/>
          </a:prstGeom>
          <a:blipFill rotWithShape="1">
            <a:blip r:embed="rId8">
              <a:alphaModFix/>
            </a:blip>
            <a:stretch>
              <a:fillRect b="0" l="0" r="0" t="-508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574" name="Google Shape;574;p26"/>
          <p:cNvSpPr/>
          <p:nvPr/>
        </p:nvSpPr>
        <p:spPr>
          <a:xfrm>
            <a:off x="7319059" y="587668"/>
            <a:ext cx="4098482" cy="5804452"/>
          </a:xfrm>
          <a:prstGeom prst="roundRect">
            <a:avLst>
              <a:gd fmla="val 16667" name="adj"/>
            </a:avLst>
          </a:prstGeom>
          <a:noFill/>
          <a:ln cap="flat" cmpd="sng" w="28575">
            <a:solidFill>
              <a:srgbClr val="7030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5" name="Google Shape;575;p26"/>
          <p:cNvSpPr txBox="1"/>
          <p:nvPr/>
        </p:nvSpPr>
        <p:spPr>
          <a:xfrm>
            <a:off x="865414" y="3261465"/>
            <a:ext cx="4098482"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Applying the same procedure to build the Ensemble Feed &amp; Operating condition using volume fractions of H2, CH4, CO and CO2 for each dataset.</a:t>
            </a:r>
            <a:endParaRPr/>
          </a:p>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ransition spd="slow">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27"/>
          <p:cNvSpPr txBox="1"/>
          <p:nvPr>
            <p:ph type="title"/>
          </p:nvPr>
        </p:nvSpPr>
        <p:spPr>
          <a:xfrm>
            <a:off x="768626" y="593726"/>
            <a:ext cx="8305800" cy="96671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i="1" lang="en-US" sz="3600">
                <a:latin typeface="Times New Roman"/>
                <a:ea typeface="Times New Roman"/>
                <a:cs typeface="Times New Roman"/>
                <a:sym typeface="Times New Roman"/>
              </a:rPr>
              <a:t>Harmonious Event Representative Groups</a:t>
            </a:r>
            <a:endParaRPr/>
          </a:p>
        </p:txBody>
      </p:sp>
      <p:sp>
        <p:nvSpPr>
          <p:cNvPr id="581" name="Google Shape;581;p27"/>
          <p:cNvSpPr txBox="1"/>
          <p:nvPr>
            <p:ph idx="1" type="body"/>
          </p:nvPr>
        </p:nvSpPr>
        <p:spPr>
          <a:xfrm>
            <a:off x="838200" y="1825625"/>
            <a:ext cx="10515600" cy="4351338"/>
          </a:xfrm>
          <a:prstGeom prst="rect">
            <a:avLst/>
          </a:prstGeom>
          <a:blipFill rotWithShape="1">
            <a:blip r:embed="rId3">
              <a:alphaModFix/>
            </a:blip>
            <a:stretch>
              <a:fillRect b="0" l="-405" r="0" t="-126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pic>
        <p:nvPicPr>
          <p:cNvPr id="582" name="Google Shape;582;p27"/>
          <p:cNvPicPr preferRelativeResize="0"/>
          <p:nvPr/>
        </p:nvPicPr>
        <p:blipFill rotWithShape="1">
          <a:blip r:embed="rId4">
            <a:alphaModFix/>
          </a:blip>
          <a:srcRect b="0" l="0" r="0" t="0"/>
          <a:stretch/>
        </p:blipFill>
        <p:spPr>
          <a:xfrm>
            <a:off x="838200" y="3603195"/>
            <a:ext cx="3359187" cy="2255716"/>
          </a:xfrm>
          <a:prstGeom prst="rect">
            <a:avLst/>
          </a:prstGeom>
          <a:noFill/>
          <a:ln>
            <a:noFill/>
          </a:ln>
        </p:spPr>
      </p:pic>
      <p:pic>
        <p:nvPicPr>
          <p:cNvPr id="583" name="Google Shape;583;p27"/>
          <p:cNvPicPr preferRelativeResize="0"/>
          <p:nvPr/>
        </p:nvPicPr>
        <p:blipFill rotWithShape="1">
          <a:blip r:embed="rId5">
            <a:alphaModFix/>
          </a:blip>
          <a:srcRect b="0" l="0" r="0" t="0"/>
          <a:stretch/>
        </p:blipFill>
        <p:spPr>
          <a:xfrm>
            <a:off x="8397007" y="3726696"/>
            <a:ext cx="3163931" cy="2132215"/>
          </a:xfrm>
          <a:prstGeom prst="rect">
            <a:avLst/>
          </a:prstGeom>
          <a:noFill/>
          <a:ln>
            <a:noFill/>
          </a:ln>
        </p:spPr>
      </p:pic>
      <p:sp>
        <p:nvSpPr>
          <p:cNvPr id="584" name="Google Shape;584;p27"/>
          <p:cNvSpPr/>
          <p:nvPr/>
        </p:nvSpPr>
        <p:spPr>
          <a:xfrm>
            <a:off x="9317022" y="3251139"/>
            <a:ext cx="1489382" cy="369332"/>
          </a:xfrm>
          <a:prstGeom prst="rect">
            <a:avLst/>
          </a:prstGeom>
          <a:blipFill rotWithShape="1">
            <a:blip r:embed="rId6">
              <a:alphaModFix/>
            </a:blip>
            <a:stretch>
              <a:fillRect b="-24589" l="0"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585" name="Google Shape;585;p27"/>
          <p:cNvSpPr txBox="1"/>
          <p:nvPr/>
        </p:nvSpPr>
        <p:spPr>
          <a:xfrm>
            <a:off x="1385455" y="3251139"/>
            <a:ext cx="23183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Feed+OC</a:t>
            </a:r>
            <a:endParaRPr/>
          </a:p>
        </p:txBody>
      </p:sp>
      <p:sp>
        <p:nvSpPr>
          <p:cNvPr id="586" name="Google Shape;586;p27"/>
          <p:cNvSpPr txBox="1"/>
          <p:nvPr/>
        </p:nvSpPr>
        <p:spPr>
          <a:xfrm>
            <a:off x="5560835" y="3233863"/>
            <a:ext cx="231832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Product gas</a:t>
            </a:r>
            <a:endParaRPr/>
          </a:p>
        </p:txBody>
      </p:sp>
      <p:pic>
        <p:nvPicPr>
          <p:cNvPr id="587" name="Google Shape;587;p27"/>
          <p:cNvPicPr preferRelativeResize="0"/>
          <p:nvPr/>
        </p:nvPicPr>
        <p:blipFill rotWithShape="1">
          <a:blip r:embed="rId7">
            <a:alphaModFix/>
          </a:blip>
          <a:srcRect b="0" l="0" r="0" t="0"/>
          <a:stretch/>
        </p:blipFill>
        <p:spPr>
          <a:xfrm>
            <a:off x="4499939" y="3603195"/>
            <a:ext cx="3163931" cy="2299469"/>
          </a:xfrm>
          <a:prstGeom prst="rect">
            <a:avLst/>
          </a:prstGeom>
          <a:noFill/>
          <a:ln>
            <a:noFill/>
          </a:ln>
        </p:spPr>
      </p:pic>
    </p:spTree>
  </p:cSld>
  <p:clrMapOvr>
    <a:masterClrMapping/>
  </p:clrMapOvr>
  <p:transition spd="slow">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pic>
        <p:nvPicPr>
          <p:cNvPr id="592" name="Google Shape;592;p28"/>
          <p:cNvPicPr preferRelativeResize="0"/>
          <p:nvPr/>
        </p:nvPicPr>
        <p:blipFill rotWithShape="1">
          <a:blip r:embed="rId3">
            <a:alphaModFix/>
          </a:blip>
          <a:srcRect b="0" l="0" r="0" t="0"/>
          <a:stretch/>
        </p:blipFill>
        <p:spPr>
          <a:xfrm>
            <a:off x="852487" y="4324032"/>
            <a:ext cx="5248275" cy="1847850"/>
          </a:xfrm>
          <a:prstGeom prst="rect">
            <a:avLst/>
          </a:prstGeom>
          <a:noFill/>
          <a:ln>
            <a:noFill/>
          </a:ln>
        </p:spPr>
      </p:pic>
      <p:pic>
        <p:nvPicPr>
          <p:cNvPr id="593" name="Google Shape;593;p28"/>
          <p:cNvPicPr preferRelativeResize="0"/>
          <p:nvPr>
            <p:ph idx="1" type="body"/>
          </p:nvPr>
        </p:nvPicPr>
        <p:blipFill rotWithShape="1">
          <a:blip r:embed="rId4">
            <a:alphaModFix/>
          </a:blip>
          <a:srcRect b="0" l="0" r="0" t="0"/>
          <a:stretch/>
        </p:blipFill>
        <p:spPr>
          <a:xfrm>
            <a:off x="838200" y="365125"/>
            <a:ext cx="5276850" cy="1857375"/>
          </a:xfrm>
          <a:prstGeom prst="rect">
            <a:avLst/>
          </a:prstGeom>
          <a:noFill/>
          <a:ln>
            <a:noFill/>
          </a:ln>
        </p:spPr>
      </p:pic>
      <p:pic>
        <p:nvPicPr>
          <p:cNvPr id="594" name="Google Shape;594;p28"/>
          <p:cNvPicPr preferRelativeResize="0"/>
          <p:nvPr/>
        </p:nvPicPr>
        <p:blipFill rotWithShape="1">
          <a:blip r:embed="rId5">
            <a:alphaModFix/>
          </a:blip>
          <a:srcRect b="0" l="0" r="0" t="0"/>
          <a:stretch/>
        </p:blipFill>
        <p:spPr>
          <a:xfrm>
            <a:off x="852486" y="2349341"/>
            <a:ext cx="5248275" cy="1847850"/>
          </a:xfrm>
          <a:prstGeom prst="rect">
            <a:avLst/>
          </a:prstGeom>
          <a:noFill/>
          <a:ln>
            <a:noFill/>
          </a:ln>
        </p:spPr>
      </p:pic>
      <p:sp>
        <p:nvSpPr>
          <p:cNvPr id="595" name="Google Shape;595;p28"/>
          <p:cNvSpPr txBox="1"/>
          <p:nvPr/>
        </p:nvSpPr>
        <p:spPr>
          <a:xfrm>
            <a:off x="6586443" y="1077811"/>
            <a:ext cx="13208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B7B7B"/>
                </a:solidFill>
                <a:latin typeface="Times New Roman"/>
                <a:ea typeface="Times New Roman"/>
                <a:cs typeface="Times New Roman"/>
                <a:sym typeface="Times New Roman"/>
              </a:rPr>
              <a:t>L</a:t>
            </a:r>
            <a:r>
              <a:rPr lang="en-US" sz="1800">
                <a:solidFill>
                  <a:schemeClr val="dk1"/>
                </a:solidFill>
                <a:latin typeface="Times New Roman"/>
                <a:ea typeface="Times New Roman"/>
                <a:cs typeface="Times New Roman"/>
                <a:sym typeface="Times New Roman"/>
              </a:rPr>
              <a:t>inear</a:t>
            </a:r>
            <a:endParaRPr/>
          </a:p>
        </p:txBody>
      </p:sp>
      <p:sp>
        <p:nvSpPr>
          <p:cNvPr id="596" name="Google Shape;596;p28"/>
          <p:cNvSpPr txBox="1"/>
          <p:nvPr/>
        </p:nvSpPr>
        <p:spPr>
          <a:xfrm>
            <a:off x="6586443" y="2990721"/>
            <a:ext cx="190133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Hyperbolic </a:t>
            </a:r>
            <a:r>
              <a:rPr b="1" lang="en-US" sz="1800">
                <a:solidFill>
                  <a:srgbClr val="7B7B7B"/>
                </a:solidFill>
                <a:latin typeface="Times New Roman"/>
                <a:ea typeface="Times New Roman"/>
                <a:cs typeface="Times New Roman"/>
                <a:sym typeface="Times New Roman"/>
              </a:rPr>
              <a:t>T</a:t>
            </a:r>
            <a:r>
              <a:rPr lang="en-US" sz="1800">
                <a:solidFill>
                  <a:schemeClr val="dk1"/>
                </a:solidFill>
                <a:latin typeface="Times New Roman"/>
                <a:ea typeface="Times New Roman"/>
                <a:cs typeface="Times New Roman"/>
                <a:sym typeface="Times New Roman"/>
              </a:rPr>
              <a:t>angent Sigmoid</a:t>
            </a:r>
            <a:endParaRPr/>
          </a:p>
        </p:txBody>
      </p:sp>
      <p:sp>
        <p:nvSpPr>
          <p:cNvPr id="597" name="Google Shape;597;p28"/>
          <p:cNvSpPr txBox="1"/>
          <p:nvPr/>
        </p:nvSpPr>
        <p:spPr>
          <a:xfrm>
            <a:off x="6648280" y="4895211"/>
            <a:ext cx="177290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7B7B7B"/>
                </a:solidFill>
                <a:latin typeface="Times New Roman"/>
                <a:ea typeface="Times New Roman"/>
                <a:cs typeface="Times New Roman"/>
                <a:sym typeface="Times New Roman"/>
              </a:rPr>
              <a:t>E</a:t>
            </a:r>
            <a:r>
              <a:rPr lang="en-US" sz="1800">
                <a:solidFill>
                  <a:schemeClr val="dk1"/>
                </a:solidFill>
                <a:latin typeface="Times New Roman"/>
                <a:ea typeface="Times New Roman"/>
                <a:cs typeface="Times New Roman"/>
                <a:sym typeface="Times New Roman"/>
              </a:rPr>
              <a:t>lliot 2 Symmetric Sigmoid</a:t>
            </a:r>
            <a:endParaRPr/>
          </a:p>
        </p:txBody>
      </p:sp>
      <p:sp>
        <p:nvSpPr>
          <p:cNvPr id="598" name="Google Shape;598;p28"/>
          <p:cNvSpPr txBox="1"/>
          <p:nvPr/>
        </p:nvSpPr>
        <p:spPr>
          <a:xfrm>
            <a:off x="8523238" y="1036909"/>
            <a:ext cx="3020004" cy="4866337"/>
          </a:xfrm>
          <a:prstGeom prst="rect">
            <a:avLst/>
          </a:prstGeom>
          <a:blipFill rotWithShape="1">
            <a:blip r:embed="rId6">
              <a:alphaModFix/>
            </a:blip>
            <a:stretch>
              <a:fillRect b="0" l="-1814" r="-362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599" name="Google Shape;599;p28"/>
          <p:cNvSpPr/>
          <p:nvPr/>
        </p:nvSpPr>
        <p:spPr>
          <a:xfrm>
            <a:off x="116546" y="1027906"/>
            <a:ext cx="581954" cy="369332"/>
          </a:xfrm>
          <a:prstGeom prst="rect">
            <a:avLst/>
          </a:pr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0" name="Google Shape;600;p28"/>
          <p:cNvSpPr/>
          <p:nvPr/>
        </p:nvSpPr>
        <p:spPr>
          <a:xfrm>
            <a:off x="116545" y="4895211"/>
            <a:ext cx="581954" cy="369332"/>
          </a:xfrm>
          <a:prstGeom prst="rect">
            <a:avLst/>
          </a:pr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1" name="Google Shape;601;p28"/>
          <p:cNvSpPr/>
          <p:nvPr/>
        </p:nvSpPr>
        <p:spPr>
          <a:xfrm>
            <a:off x="116545" y="3032087"/>
            <a:ext cx="581954" cy="369332"/>
          </a:xfrm>
          <a:prstGeom prst="rect">
            <a:avLst/>
          </a:pr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2" name="Google Shape;602;p28"/>
          <p:cNvSpPr/>
          <p:nvPr/>
        </p:nvSpPr>
        <p:spPr>
          <a:xfrm>
            <a:off x="6096000" y="633345"/>
            <a:ext cx="465319" cy="369332"/>
          </a:xfrm>
          <a:prstGeom prst="rect">
            <a:avLst/>
          </a:pr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3" name="Google Shape;603;p28"/>
          <p:cNvSpPr/>
          <p:nvPr/>
        </p:nvSpPr>
        <p:spPr>
          <a:xfrm>
            <a:off x="6123639" y="1569443"/>
            <a:ext cx="532518" cy="369332"/>
          </a:xfrm>
          <a:prstGeom prst="rect">
            <a:avLst/>
          </a:pr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4" name="Google Shape;604;p28"/>
          <p:cNvSpPr/>
          <p:nvPr/>
        </p:nvSpPr>
        <p:spPr>
          <a:xfrm>
            <a:off x="6126447" y="2597948"/>
            <a:ext cx="465319" cy="369332"/>
          </a:xfrm>
          <a:prstGeom prst="rect">
            <a:avLst/>
          </a:pr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5" name="Google Shape;605;p28"/>
          <p:cNvSpPr/>
          <p:nvPr/>
        </p:nvSpPr>
        <p:spPr>
          <a:xfrm>
            <a:off x="6154086" y="3534046"/>
            <a:ext cx="532518" cy="369332"/>
          </a:xfrm>
          <a:prstGeom prst="rect">
            <a:avLst/>
          </a:pr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6" name="Google Shape;606;p28"/>
          <p:cNvSpPr/>
          <p:nvPr/>
        </p:nvSpPr>
        <p:spPr>
          <a:xfrm>
            <a:off x="6147505" y="4597816"/>
            <a:ext cx="465319" cy="369332"/>
          </a:xfrm>
          <a:prstGeom prst="rect">
            <a:avLst/>
          </a:pr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7" name="Google Shape;607;p28"/>
          <p:cNvSpPr/>
          <p:nvPr/>
        </p:nvSpPr>
        <p:spPr>
          <a:xfrm>
            <a:off x="6175144" y="5533914"/>
            <a:ext cx="532518" cy="369332"/>
          </a:xfrm>
          <a:prstGeom prst="rect">
            <a:avLst/>
          </a:prstGeom>
          <a:blipFill rotWithShape="1">
            <a:blip r:embed="rId1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8" name="Google Shape;608;p28"/>
          <p:cNvSpPr/>
          <p:nvPr/>
        </p:nvSpPr>
        <p:spPr>
          <a:xfrm>
            <a:off x="8114594" y="722266"/>
            <a:ext cx="3345852" cy="410177"/>
          </a:xfrm>
          <a:prstGeom prst="rect">
            <a:avLst/>
          </a:prstGeom>
          <a:blipFill rotWithShape="1">
            <a:blip r:embed="rId16">
              <a:alphaModFix/>
            </a:blip>
            <a:stretch>
              <a:fillRect b="-17645" l="0" r="0" t="-146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09" name="Google Shape;609;p28"/>
          <p:cNvSpPr/>
          <p:nvPr/>
        </p:nvSpPr>
        <p:spPr>
          <a:xfrm>
            <a:off x="8174867" y="1227977"/>
            <a:ext cx="3285579" cy="369332"/>
          </a:xfrm>
          <a:prstGeom prst="rect">
            <a:avLst/>
          </a:prstGeom>
          <a:blipFill rotWithShape="1">
            <a:blip r:embed="rId17">
              <a:alphaModFix/>
            </a:blip>
            <a:stretch>
              <a:fillRect b="-22949" l="-556" r="0" t="-983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10" name="Google Shape;610;p28"/>
          <p:cNvSpPr txBox="1"/>
          <p:nvPr>
            <p:ph type="title"/>
          </p:nvPr>
        </p:nvSpPr>
        <p:spPr>
          <a:xfrm>
            <a:off x="6928404" y="-45818"/>
            <a:ext cx="5060050" cy="9072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Font typeface="Times New Roman"/>
              <a:buNone/>
            </a:pPr>
            <a:r>
              <a:rPr i="1" lang="en-US" sz="1600">
                <a:latin typeface="Times New Roman"/>
                <a:ea typeface="Times New Roman"/>
                <a:cs typeface="Times New Roman"/>
                <a:sym typeface="Times New Roman"/>
              </a:rPr>
              <a:t>Quantification of Relative Responses from three routes</a:t>
            </a:r>
            <a:endParaRPr/>
          </a:p>
        </p:txBody>
      </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29"/>
          <p:cNvSpPr txBox="1"/>
          <p:nvPr>
            <p:ph type="title"/>
          </p:nvPr>
        </p:nvSpPr>
        <p:spPr>
          <a:xfrm>
            <a:off x="374374" y="-105195"/>
            <a:ext cx="11817626" cy="104310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i="1" lang="en-US" sz="2800">
                <a:latin typeface="Times New Roman"/>
                <a:ea typeface="Times New Roman"/>
                <a:cs typeface="Times New Roman"/>
                <a:sym typeface="Times New Roman"/>
              </a:rPr>
              <a:t>Stationary Characteristic Matrix &amp; Dynamic variable &amp; Integration </a:t>
            </a:r>
            <a:endParaRPr/>
          </a:p>
        </p:txBody>
      </p:sp>
      <p:sp>
        <p:nvSpPr>
          <p:cNvPr id="616" name="Google Shape;616;p29"/>
          <p:cNvSpPr txBox="1"/>
          <p:nvPr>
            <p:ph idx="1" type="body"/>
          </p:nvPr>
        </p:nvSpPr>
        <p:spPr>
          <a:xfrm>
            <a:off x="170773" y="3660261"/>
            <a:ext cx="3604590" cy="3394488"/>
          </a:xfrm>
          <a:prstGeom prst="rect">
            <a:avLst/>
          </a:prstGeom>
          <a:blipFill rotWithShape="1">
            <a:blip r:embed="rId3">
              <a:alphaModFix/>
            </a:blip>
            <a:stretch>
              <a:fillRect b="0" l="-168" r="-66834" t="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pic>
        <p:nvPicPr>
          <p:cNvPr id="617" name="Google Shape;617;p29"/>
          <p:cNvPicPr preferRelativeResize="0"/>
          <p:nvPr/>
        </p:nvPicPr>
        <p:blipFill rotWithShape="1">
          <a:blip r:embed="rId4">
            <a:alphaModFix/>
          </a:blip>
          <a:srcRect b="0" l="0" r="0" t="0"/>
          <a:stretch/>
        </p:blipFill>
        <p:spPr>
          <a:xfrm>
            <a:off x="530898" y="1332397"/>
            <a:ext cx="5277276" cy="1623063"/>
          </a:xfrm>
          <a:prstGeom prst="rect">
            <a:avLst/>
          </a:prstGeom>
          <a:noFill/>
          <a:ln>
            <a:noFill/>
          </a:ln>
        </p:spPr>
      </p:pic>
      <p:pic>
        <p:nvPicPr>
          <p:cNvPr id="618" name="Google Shape;618;p29"/>
          <p:cNvPicPr preferRelativeResize="0"/>
          <p:nvPr/>
        </p:nvPicPr>
        <p:blipFill rotWithShape="1">
          <a:blip r:embed="rId5">
            <a:alphaModFix/>
          </a:blip>
          <a:srcRect b="0" l="0" r="0" t="0"/>
          <a:stretch/>
        </p:blipFill>
        <p:spPr>
          <a:xfrm>
            <a:off x="2971112" y="4714071"/>
            <a:ext cx="4441131" cy="1940380"/>
          </a:xfrm>
          <a:prstGeom prst="rect">
            <a:avLst/>
          </a:prstGeom>
          <a:noFill/>
          <a:ln>
            <a:noFill/>
          </a:ln>
        </p:spPr>
      </p:pic>
      <p:pic>
        <p:nvPicPr>
          <p:cNvPr id="619" name="Google Shape;619;p29"/>
          <p:cNvPicPr preferRelativeResize="0"/>
          <p:nvPr/>
        </p:nvPicPr>
        <p:blipFill rotWithShape="1">
          <a:blip r:embed="rId6">
            <a:alphaModFix/>
          </a:blip>
          <a:srcRect b="0" l="0" r="0" t="0"/>
          <a:stretch/>
        </p:blipFill>
        <p:spPr>
          <a:xfrm>
            <a:off x="6383827" y="937914"/>
            <a:ext cx="5674122" cy="4164494"/>
          </a:xfrm>
          <a:prstGeom prst="rect">
            <a:avLst/>
          </a:prstGeom>
          <a:noFill/>
          <a:ln>
            <a:noFill/>
          </a:ln>
        </p:spPr>
      </p:pic>
      <p:pic>
        <p:nvPicPr>
          <p:cNvPr id="620" name="Google Shape;620;p29"/>
          <p:cNvPicPr preferRelativeResize="0"/>
          <p:nvPr/>
        </p:nvPicPr>
        <p:blipFill rotWithShape="1">
          <a:blip r:embed="rId7">
            <a:alphaModFix/>
          </a:blip>
          <a:srcRect b="0" l="0" r="0" t="0"/>
          <a:stretch/>
        </p:blipFill>
        <p:spPr>
          <a:xfrm>
            <a:off x="3292250" y="3505216"/>
            <a:ext cx="1820346" cy="1066892"/>
          </a:xfrm>
          <a:prstGeom prst="rect">
            <a:avLst/>
          </a:prstGeom>
          <a:noFill/>
          <a:ln>
            <a:noFill/>
          </a:ln>
        </p:spPr>
      </p:pic>
      <p:sp>
        <p:nvSpPr>
          <p:cNvPr id="621" name="Google Shape;621;p29"/>
          <p:cNvSpPr/>
          <p:nvPr/>
        </p:nvSpPr>
        <p:spPr>
          <a:xfrm>
            <a:off x="254588" y="937914"/>
            <a:ext cx="11712125" cy="47686"/>
          </a:xfrm>
          <a:prstGeom prst="rect">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30"/>
          <p:cNvSpPr txBox="1"/>
          <p:nvPr>
            <p:ph type="title"/>
          </p:nvPr>
        </p:nvSpPr>
        <p:spPr>
          <a:xfrm>
            <a:off x="617765" y="144689"/>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i="1" lang="en-US" sz="3600">
                <a:latin typeface="Times New Roman"/>
                <a:ea typeface="Times New Roman"/>
                <a:cs typeface="Times New Roman"/>
                <a:sym typeface="Times New Roman"/>
              </a:rPr>
              <a:t>Results of complete elliptic integral</a:t>
            </a:r>
            <a:endParaRPr/>
          </a:p>
        </p:txBody>
      </p:sp>
      <p:sp>
        <p:nvSpPr>
          <p:cNvPr id="627" name="Google Shape;627;p30"/>
          <p:cNvSpPr txBox="1"/>
          <p:nvPr>
            <p:ph idx="1" type="body"/>
          </p:nvPr>
        </p:nvSpPr>
        <p:spPr>
          <a:xfrm>
            <a:off x="707572" y="1470252"/>
            <a:ext cx="10515600" cy="4351338"/>
          </a:xfrm>
          <a:prstGeom prst="rect">
            <a:avLst/>
          </a:prstGeom>
          <a:blipFill rotWithShape="1">
            <a:blip r:embed="rId3">
              <a:alphaModFix/>
            </a:blip>
            <a:stretch>
              <a:fillRect b="-1118" l="-752" r="0" t="-1959"/>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pic>
        <p:nvPicPr>
          <p:cNvPr id="628" name="Google Shape;628;p30"/>
          <p:cNvPicPr preferRelativeResize="0"/>
          <p:nvPr/>
        </p:nvPicPr>
        <p:blipFill rotWithShape="1">
          <a:blip r:embed="rId4">
            <a:alphaModFix/>
          </a:blip>
          <a:srcRect b="0" l="0" r="0" t="0"/>
          <a:stretch/>
        </p:blipFill>
        <p:spPr>
          <a:xfrm>
            <a:off x="707572" y="2974789"/>
            <a:ext cx="10934700" cy="908422"/>
          </a:xfrm>
          <a:prstGeom prst="rect">
            <a:avLst/>
          </a:prstGeom>
          <a:noFill/>
          <a:ln>
            <a:noFill/>
          </a:ln>
        </p:spPr>
      </p:pic>
      <p:cxnSp>
        <p:nvCxnSpPr>
          <p:cNvPr id="629" name="Google Shape;629;p30"/>
          <p:cNvCxnSpPr/>
          <p:nvPr/>
        </p:nvCxnSpPr>
        <p:spPr>
          <a:xfrm>
            <a:off x="1069521" y="3820886"/>
            <a:ext cx="1012372" cy="514350"/>
          </a:xfrm>
          <a:prstGeom prst="straightConnector1">
            <a:avLst/>
          </a:prstGeom>
          <a:noFill/>
          <a:ln cap="flat" cmpd="sng" w="9525">
            <a:solidFill>
              <a:srgbClr val="FF0000"/>
            </a:solidFill>
            <a:prstDash val="solid"/>
            <a:miter lim="800000"/>
            <a:headEnd len="sm" w="sm" type="none"/>
            <a:tailEnd len="med" w="med" type="triangle"/>
          </a:ln>
        </p:spPr>
      </p:cxnSp>
      <p:cxnSp>
        <p:nvCxnSpPr>
          <p:cNvPr id="630" name="Google Shape;630;p30"/>
          <p:cNvCxnSpPr/>
          <p:nvPr/>
        </p:nvCxnSpPr>
        <p:spPr>
          <a:xfrm flipH="1" rot="10800000">
            <a:off x="4514850" y="3371850"/>
            <a:ext cx="3020786" cy="1796144"/>
          </a:xfrm>
          <a:prstGeom prst="straightConnector1">
            <a:avLst/>
          </a:prstGeom>
          <a:noFill/>
          <a:ln cap="flat" cmpd="sng" w="9525">
            <a:solidFill>
              <a:schemeClr val="accent1"/>
            </a:solidFill>
            <a:prstDash val="solid"/>
            <a:miter lim="800000"/>
            <a:headEnd len="sm" w="sm" type="none"/>
            <a:tailEnd len="med" w="med" type="triangle"/>
          </a:ln>
        </p:spPr>
      </p:cxnSp>
      <p:cxnSp>
        <p:nvCxnSpPr>
          <p:cNvPr id="631" name="Google Shape;631;p30"/>
          <p:cNvCxnSpPr/>
          <p:nvPr/>
        </p:nvCxnSpPr>
        <p:spPr>
          <a:xfrm flipH="1" rot="10800000">
            <a:off x="5429250" y="3536456"/>
            <a:ext cx="2106386" cy="1631538"/>
          </a:xfrm>
          <a:prstGeom prst="straightConnector1">
            <a:avLst/>
          </a:prstGeom>
          <a:noFill/>
          <a:ln cap="flat" cmpd="sng" w="9525">
            <a:solidFill>
              <a:srgbClr val="00B050"/>
            </a:solidFill>
            <a:prstDash val="solid"/>
            <a:miter lim="800000"/>
            <a:headEnd len="sm" w="sm" type="none"/>
            <a:tailEnd len="med" w="med" type="triangle"/>
          </a:ln>
        </p:spPr>
      </p:cxnSp>
    </p:spTree>
  </p:cSld>
  <p:clrMapOvr>
    <a:masterClrMapping/>
  </p:clrMapOvr>
  <p:transition spd="slow">
    <p:push/>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Times New Roman"/>
              <a:buNone/>
            </a:pPr>
            <a:r>
              <a:rPr i="1" lang="en-US" sz="3200">
                <a:latin typeface="Times New Roman"/>
                <a:ea typeface="Times New Roman"/>
                <a:cs typeface="Times New Roman"/>
                <a:sym typeface="Times New Roman"/>
              </a:rPr>
              <a:t>Monotonic relationship for Yield (Nm3/kg) as a function of feedstock properties and operating condition</a:t>
            </a:r>
            <a:endParaRPr/>
          </a:p>
        </p:txBody>
      </p:sp>
      <p:pic>
        <p:nvPicPr>
          <p:cNvPr id="637" name="Google Shape;637;p31"/>
          <p:cNvPicPr preferRelativeResize="0"/>
          <p:nvPr/>
        </p:nvPicPr>
        <p:blipFill rotWithShape="1">
          <a:blip r:embed="rId3">
            <a:alphaModFix/>
          </a:blip>
          <a:srcRect b="0" l="0" r="0" t="0"/>
          <a:stretch/>
        </p:blipFill>
        <p:spPr>
          <a:xfrm>
            <a:off x="2714625" y="1690688"/>
            <a:ext cx="6762750" cy="4762500"/>
          </a:xfrm>
          <a:prstGeom prst="rect">
            <a:avLst/>
          </a:prstGeom>
          <a:noFill/>
          <a:ln>
            <a:noFill/>
          </a:ln>
        </p:spPr>
      </p:pic>
    </p:spTree>
  </p:cSld>
  <p:clrMapOvr>
    <a:masterClrMapping/>
  </p:clrMapOvr>
  <p:transition spd="slow">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Times New Roman"/>
              <a:buNone/>
            </a:pPr>
            <a:r>
              <a:rPr i="1" lang="en-US" sz="3200">
                <a:latin typeface="Times New Roman"/>
                <a:ea typeface="Times New Roman"/>
                <a:cs typeface="Times New Roman"/>
                <a:sym typeface="Times New Roman"/>
              </a:rPr>
              <a:t>Monotonic relationship for CCE% as a function of feedstock properties and operating condition</a:t>
            </a:r>
            <a:endParaRPr/>
          </a:p>
        </p:txBody>
      </p:sp>
      <p:graphicFrame>
        <p:nvGraphicFramePr>
          <p:cNvPr id="643" name="Google Shape;643;p32"/>
          <p:cNvGraphicFramePr/>
          <p:nvPr/>
        </p:nvGraphicFramePr>
        <p:xfrm>
          <a:off x="2724727" y="1654175"/>
          <a:ext cx="6225309" cy="4838700"/>
        </p:xfrm>
        <a:graphic>
          <a:graphicData uri="http://schemas.openxmlformats.org/drawingml/2006/chart">
            <c:chart r:id="rId3"/>
          </a:graphicData>
        </a:graphic>
      </p:graphicFrame>
    </p:spTree>
  </p:cSld>
  <p:clrMapOvr>
    <a:masterClrMapping/>
  </p:clrMapOvr>
  <p:transition spd="slow">
    <p:push/>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i="1" lang="en-US">
                <a:latin typeface="Times New Roman"/>
                <a:ea typeface="Times New Roman"/>
                <a:cs typeface="Times New Roman"/>
                <a:sym typeface="Times New Roman"/>
              </a:rPr>
              <a:t>Future work</a:t>
            </a:r>
            <a:endParaRPr/>
          </a:p>
        </p:txBody>
      </p:sp>
      <p:sp>
        <p:nvSpPr>
          <p:cNvPr id="649" name="Google Shape;649;p33"/>
          <p:cNvSpPr txBox="1"/>
          <p:nvPr>
            <p:ph idx="1" type="body"/>
          </p:nvPr>
        </p:nvSpPr>
        <p:spPr>
          <a:xfrm>
            <a:off x="838200" y="1366887"/>
            <a:ext cx="10515600" cy="4810076"/>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marR="0" rtl="0" algn="l">
              <a:lnSpc>
                <a:spcPct val="200000"/>
              </a:lnSpc>
              <a:spcBef>
                <a:spcPts val="0"/>
              </a:spcBef>
              <a:spcAft>
                <a:spcPts val="0"/>
              </a:spcAft>
              <a:buClr>
                <a:schemeClr val="dk1"/>
              </a:buClr>
              <a:buSzPct val="100000"/>
              <a:buChar char="•"/>
            </a:pPr>
            <a:r>
              <a:rPr lang="en-US" sz="2400">
                <a:latin typeface="Times New Roman"/>
                <a:ea typeface="Times New Roman"/>
                <a:cs typeface="Times New Roman"/>
                <a:sym typeface="Times New Roman"/>
              </a:rPr>
              <a:t> “As of 2016 a rule of thumb is that a supervised deep learning algorithm will generally achieve acceptable performance with around 5000 labeled examples per category.” </a:t>
            </a:r>
            <a:endParaRPr/>
          </a:p>
          <a:p>
            <a:pPr indent="-228600" lvl="0" marL="228600" marR="0" rtl="0" algn="l">
              <a:lnSpc>
                <a:spcPct val="200000"/>
              </a:lnSpc>
              <a:spcBef>
                <a:spcPts val="0"/>
              </a:spcBef>
              <a:spcAft>
                <a:spcPts val="0"/>
              </a:spcAft>
              <a:buClr>
                <a:schemeClr val="dk1"/>
              </a:buClr>
              <a:buSzPct val="100000"/>
              <a:buChar char="•"/>
            </a:pPr>
            <a:r>
              <a:rPr lang="en-US" sz="2400">
                <a:latin typeface="Times New Roman"/>
                <a:ea typeface="Times New Roman"/>
                <a:cs typeface="Times New Roman"/>
                <a:sym typeface="Times New Roman"/>
              </a:rPr>
              <a:t>Working successfully with small datasets is an important research area in machine learning. In that context, applying machine learning techniques to modeling physical processes is limited by limitedness of experimental data specially for expensive experiments such as gasification.</a:t>
            </a:r>
            <a:endParaRPr/>
          </a:p>
          <a:p>
            <a:pPr indent="-228600" lvl="0" marL="228600" marR="0" rtl="0" algn="l">
              <a:lnSpc>
                <a:spcPct val="200000"/>
              </a:lnSpc>
              <a:spcBef>
                <a:spcPts val="0"/>
              </a:spcBef>
              <a:spcAft>
                <a:spcPts val="0"/>
              </a:spcAft>
              <a:buClr>
                <a:schemeClr val="dk1"/>
              </a:buClr>
              <a:buSzPct val="100000"/>
              <a:buChar char="•"/>
            </a:pPr>
            <a:r>
              <a:rPr lang="en-US" sz="2400">
                <a:latin typeface="Times New Roman"/>
                <a:ea typeface="Times New Roman"/>
                <a:cs typeface="Times New Roman"/>
                <a:sym typeface="Times New Roman"/>
              </a:rPr>
              <a:t>As far as the direction of research is concerned, additional improvements become feasible by resolving the following issues and alike:</a:t>
            </a:r>
            <a:endParaRPr/>
          </a:p>
          <a:p>
            <a:pPr indent="-342900" lvl="0" marL="342900" marR="0" rtl="0" algn="l">
              <a:lnSpc>
                <a:spcPct val="200000"/>
              </a:lnSpc>
              <a:spcBef>
                <a:spcPts val="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“It is not clear now who at NETL really decides what multiphase research area to follow.” </a:t>
            </a:r>
            <a:endParaRPr sz="2000">
              <a:latin typeface="Calibri"/>
              <a:ea typeface="Calibri"/>
              <a:cs typeface="Calibri"/>
              <a:sym typeface="Calibri"/>
            </a:endParaRPr>
          </a:p>
          <a:p>
            <a:pPr indent="-342900" lvl="0" marL="342900" marR="0" rtl="0" algn="l">
              <a:lnSpc>
                <a:spcPct val="200000"/>
              </a:lnSpc>
              <a:spcBef>
                <a:spcPts val="0"/>
              </a:spcBef>
              <a:spcAft>
                <a:spcPts val="0"/>
              </a:spcAft>
              <a:buClr>
                <a:schemeClr val="dk1"/>
              </a:buClr>
              <a:buSzPct val="100000"/>
              <a:buFont typeface="Times New Roman"/>
              <a:buChar char="-"/>
            </a:pPr>
            <a:r>
              <a:rPr lang="en-US" sz="2400">
                <a:latin typeface="Times New Roman"/>
                <a:ea typeface="Times New Roman"/>
                <a:cs typeface="Times New Roman"/>
                <a:sym typeface="Times New Roman"/>
              </a:rPr>
              <a:t>“The Multiphase Fluid Dynamics Research Consortium (MFDRC) was established in </a:t>
            </a:r>
            <a:r>
              <a:rPr b="1" i="1" lang="en-US" sz="2400" u="sng">
                <a:latin typeface="Times New Roman"/>
                <a:ea typeface="Times New Roman"/>
                <a:cs typeface="Times New Roman"/>
                <a:sym typeface="Times New Roman"/>
              </a:rPr>
              <a:t>1998</a:t>
            </a:r>
            <a:r>
              <a:rPr lang="en-US" sz="2400">
                <a:latin typeface="Times New Roman"/>
                <a:ea typeface="Times New Roman"/>
                <a:cs typeface="Times New Roman"/>
                <a:sym typeface="Times New Roman"/>
              </a:rPr>
              <a:t> in response to priority research needs identified in the Vision 2020 </a:t>
            </a:r>
            <a:r>
              <a:rPr i="1" lang="en-US" sz="2400">
                <a:latin typeface="Times New Roman"/>
                <a:ea typeface="Times New Roman"/>
                <a:cs typeface="Times New Roman"/>
                <a:sym typeface="Times New Roman"/>
              </a:rPr>
              <a:t>Computational Fluid Dynamics Roadmap.”</a:t>
            </a:r>
            <a:r>
              <a:rPr lang="en-US" sz="2400">
                <a:latin typeface="Times New Roman"/>
                <a:ea typeface="Times New Roman"/>
                <a:cs typeface="Times New Roman"/>
                <a:sym typeface="Times New Roman"/>
              </a:rPr>
              <a:t> </a:t>
            </a:r>
            <a:endParaRPr sz="2000">
              <a:latin typeface="Calibri"/>
              <a:ea typeface="Calibri"/>
              <a:cs typeface="Calibri"/>
              <a:sym typeface="Calibri"/>
            </a:endParaRPr>
          </a:p>
          <a:p>
            <a:pPr indent="-342900" lvl="0" marL="342900" marR="0" rtl="0" algn="l">
              <a:lnSpc>
                <a:spcPct val="200000"/>
              </a:lnSpc>
              <a:spcBef>
                <a:spcPts val="0"/>
              </a:spcBef>
              <a:spcAft>
                <a:spcPts val="0"/>
              </a:spcAft>
              <a:buClr>
                <a:schemeClr val="dk1"/>
              </a:buClr>
              <a:buSzPct val="100000"/>
              <a:buFont typeface="Times New Roman"/>
              <a:buChar char="-"/>
            </a:pPr>
            <a:r>
              <a:rPr i="1" lang="en-US" sz="2400">
                <a:latin typeface="Times New Roman"/>
                <a:ea typeface="Times New Roman"/>
                <a:cs typeface="Times New Roman"/>
                <a:sym typeface="Times New Roman"/>
              </a:rPr>
              <a:t> </a:t>
            </a:r>
            <a:r>
              <a:rPr lang="en-US" sz="2400">
                <a:latin typeface="Times New Roman"/>
                <a:ea typeface="Times New Roman"/>
                <a:cs typeface="Times New Roman"/>
                <a:sym typeface="Times New Roman"/>
              </a:rPr>
              <a:t>“That initiative is a model that should be followed if there is ever going to be an attempt to have a National Multiphase Computational Fluid Dynamics Initiative. With the current administration under President Donald Trump, the likelihood of this happening is precisely zero.” </a:t>
            </a:r>
            <a:endParaRPr sz="2000">
              <a:latin typeface="Calibri"/>
              <a:ea typeface="Calibri"/>
              <a:cs typeface="Calibri"/>
              <a:sym typeface="Calibri"/>
            </a:endParaRPr>
          </a:p>
          <a:p>
            <a:pPr indent="0" lvl="0" marL="0" rtl="0" algn="l">
              <a:lnSpc>
                <a:spcPct val="90000"/>
              </a:lnSpc>
              <a:spcBef>
                <a:spcPts val="2000"/>
              </a:spcBef>
              <a:spcAft>
                <a:spcPts val="0"/>
              </a:spcAft>
              <a:buClr>
                <a:schemeClr val="dk1"/>
              </a:buClr>
              <a:buSzPct val="100000"/>
              <a:buNone/>
            </a:pPr>
            <a:r>
              <a:t/>
            </a:r>
            <a:endParaRPr sz="2400">
              <a:latin typeface="Times New Roman"/>
              <a:ea typeface="Times New Roman"/>
              <a:cs typeface="Times New Roman"/>
              <a:sym typeface="Times New Roman"/>
            </a:endParaRPr>
          </a:p>
        </p:txBody>
      </p:sp>
    </p:spTree>
  </p:cSld>
  <p:clrMapOvr>
    <a:masterClrMapping/>
  </p:clrMapOvr>
  <p:transition spd="slow">
    <p:push/>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655" name="Google Shape;655;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6600"/>
              <a:buNone/>
            </a:pPr>
            <a:r>
              <a:rPr i="1" lang="en-US" sz="6600">
                <a:latin typeface="Times New Roman"/>
                <a:ea typeface="Times New Roman"/>
                <a:cs typeface="Times New Roman"/>
                <a:sym typeface="Times New Roman"/>
              </a:rPr>
              <a:t>Thank you for your attention</a:t>
            </a:r>
            <a:endParaRPr/>
          </a:p>
          <a:p>
            <a:pPr indent="0" lvl="0" marL="0" rtl="0" algn="ctr">
              <a:lnSpc>
                <a:spcPct val="90000"/>
              </a:lnSpc>
              <a:spcBef>
                <a:spcPts val="1000"/>
              </a:spcBef>
              <a:spcAft>
                <a:spcPts val="0"/>
              </a:spcAft>
              <a:buClr>
                <a:schemeClr val="dk1"/>
              </a:buClr>
              <a:buSzPts val="5400"/>
              <a:buNone/>
            </a:pPr>
            <a:r>
              <a:t/>
            </a:r>
            <a:endParaRPr i="1" sz="5400">
              <a:latin typeface="Times New Roman"/>
              <a:ea typeface="Times New Roman"/>
              <a:cs typeface="Times New Roman"/>
              <a:sym typeface="Times New Roman"/>
            </a:endParaRPr>
          </a:p>
          <a:p>
            <a:pPr indent="0" lvl="0" marL="0" rtl="0" algn="ctr">
              <a:lnSpc>
                <a:spcPct val="90000"/>
              </a:lnSpc>
              <a:spcBef>
                <a:spcPts val="1000"/>
              </a:spcBef>
              <a:spcAft>
                <a:spcPts val="0"/>
              </a:spcAft>
              <a:buClr>
                <a:schemeClr val="dk1"/>
              </a:buClr>
              <a:buSzPts val="5400"/>
              <a:buNone/>
            </a:pPr>
            <a:r>
              <a:rPr i="1" lang="en-US" sz="5400">
                <a:latin typeface="Times New Roman"/>
                <a:ea typeface="Times New Roman"/>
                <a:cs typeface="Times New Roman"/>
                <a:sym typeface="Times New Roman"/>
              </a:rPr>
              <a:t>Questions?</a:t>
            </a:r>
            <a:endParaRPr/>
          </a:p>
        </p:txBody>
      </p:sp>
    </p:spTree>
  </p:cSld>
  <p:clrMapOvr>
    <a:masterClrMapping/>
  </p:clrMapOvr>
  <p:transition spd="slow">
    <p:push/>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8000"/>
              <a:t>             </a:t>
            </a:r>
            <a:r>
              <a:rPr lang="en-US" sz="12000"/>
              <a:t>Backup</a:t>
            </a:r>
            <a:endParaRPr sz="6800"/>
          </a:p>
        </p:txBody>
      </p:sp>
    </p:spTree>
  </p:cSld>
  <p:clrMapOvr>
    <a:masterClrMapping/>
  </p:clrMapOvr>
  <p:transition spd="slow">
    <p:push/>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39"/>
          <p:cNvSpPr txBox="1"/>
          <p:nvPr>
            <p:ph type="title"/>
          </p:nvPr>
        </p:nvSpPr>
        <p:spPr>
          <a:xfrm>
            <a:off x="2949797" y="171126"/>
            <a:ext cx="6292406" cy="1071154"/>
          </a:xfrm>
          <a:prstGeom prst="rect">
            <a:avLst/>
          </a:prstGeom>
          <a:blipFill rotWithShape="1">
            <a:blip r:embed="rId3">
              <a:alphaModFix/>
            </a:blip>
            <a:stretch>
              <a:fillRect b="0" l="-580" r="0" t="-4544"/>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pic>
        <p:nvPicPr>
          <p:cNvPr id="666" name="Google Shape;666;p39"/>
          <p:cNvPicPr preferRelativeResize="0"/>
          <p:nvPr/>
        </p:nvPicPr>
        <p:blipFill rotWithShape="1">
          <a:blip r:embed="rId4">
            <a:alphaModFix/>
          </a:blip>
          <a:srcRect b="0" l="0" r="0" t="0"/>
          <a:stretch/>
        </p:blipFill>
        <p:spPr>
          <a:xfrm>
            <a:off x="2869081" y="1088139"/>
            <a:ext cx="6669365" cy="5473229"/>
          </a:xfrm>
          <a:prstGeom prst="rect">
            <a:avLst/>
          </a:prstGeom>
          <a:noFill/>
          <a:ln>
            <a:noFill/>
          </a:ln>
        </p:spPr>
      </p:pic>
      <p:pic>
        <p:nvPicPr>
          <p:cNvPr id="667" name="Google Shape;667;p39"/>
          <p:cNvPicPr preferRelativeResize="0"/>
          <p:nvPr/>
        </p:nvPicPr>
        <p:blipFill rotWithShape="1">
          <a:blip r:embed="rId5">
            <a:alphaModFix/>
          </a:blip>
          <a:srcRect b="0" l="0" r="0" t="0"/>
          <a:stretch/>
        </p:blipFill>
        <p:spPr>
          <a:xfrm>
            <a:off x="8502345" y="1795042"/>
            <a:ext cx="3255546" cy="1152244"/>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7"/>
                                        </p:tgtEl>
                                        <p:attrNameLst>
                                          <p:attrName>style.visibility</p:attrName>
                                        </p:attrNameLst>
                                      </p:cBhvr>
                                      <p:to>
                                        <p:strVal val="visible"/>
                                      </p:to>
                                    </p:set>
                                    <p:animEffect filter="fade" transition="in">
                                      <p:cBhvr>
                                        <p:cTn dur="500"/>
                                        <p:tgtEl>
                                          <p:spTgt spid="6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pic>
        <p:nvPicPr>
          <p:cNvPr id="672" name="Google Shape;672;p37"/>
          <p:cNvPicPr preferRelativeResize="0"/>
          <p:nvPr/>
        </p:nvPicPr>
        <p:blipFill rotWithShape="1">
          <a:blip r:embed="rId3">
            <a:alphaModFix/>
          </a:blip>
          <a:srcRect b="0" l="0" r="0" t="0"/>
          <a:stretch/>
        </p:blipFill>
        <p:spPr>
          <a:xfrm>
            <a:off x="250507" y="255587"/>
            <a:ext cx="9259253" cy="1876425"/>
          </a:xfrm>
          <a:prstGeom prst="rect">
            <a:avLst/>
          </a:prstGeom>
          <a:noFill/>
          <a:ln>
            <a:noFill/>
          </a:ln>
        </p:spPr>
      </p:pic>
      <p:pic>
        <p:nvPicPr>
          <p:cNvPr id="673" name="Google Shape;673;p37"/>
          <p:cNvPicPr preferRelativeResize="0"/>
          <p:nvPr/>
        </p:nvPicPr>
        <p:blipFill rotWithShape="1">
          <a:blip r:embed="rId4">
            <a:alphaModFix/>
          </a:blip>
          <a:srcRect b="0" l="0" r="0" t="0"/>
          <a:stretch/>
        </p:blipFill>
        <p:spPr>
          <a:xfrm>
            <a:off x="862012" y="2662555"/>
            <a:ext cx="10467975" cy="352425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73"/>
                                        </p:tgtEl>
                                        <p:attrNameLst>
                                          <p:attrName>style.visibility</p:attrName>
                                        </p:attrNameLst>
                                      </p:cBhvr>
                                      <p:to>
                                        <p:strVal val="visible"/>
                                      </p:to>
                                    </p:set>
                                    <p:anim calcmode="lin" valueType="num">
                                      <p:cBhvr additive="base">
                                        <p:cTn dur="500"/>
                                        <p:tgtEl>
                                          <p:spTgt spid="67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51"/>
          <p:cNvSpPr txBox="1"/>
          <p:nvPr/>
        </p:nvSpPr>
        <p:spPr>
          <a:xfrm>
            <a:off x="2336799" y="794327"/>
            <a:ext cx="738909"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51"/>
          <p:cNvSpPr txBox="1"/>
          <p:nvPr/>
        </p:nvSpPr>
        <p:spPr>
          <a:xfrm>
            <a:off x="630543" y="535637"/>
            <a:ext cx="200888" cy="276999"/>
          </a:xfrm>
          <a:prstGeom prst="rect">
            <a:avLst/>
          </a:prstGeom>
          <a:blipFill rotWithShape="1">
            <a:blip r:embed="rId3">
              <a:alphaModFix/>
            </a:blip>
            <a:stretch>
              <a:fillRect b="-6666" l="-27272" r="-2424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1" name="Google Shape;681;p51"/>
          <p:cNvSpPr txBox="1"/>
          <p:nvPr/>
        </p:nvSpPr>
        <p:spPr>
          <a:xfrm>
            <a:off x="782943" y="688037"/>
            <a:ext cx="227948" cy="276999"/>
          </a:xfrm>
          <a:prstGeom prst="rect">
            <a:avLst/>
          </a:prstGeom>
          <a:blipFill rotWithShape="1">
            <a:blip r:embed="rId4">
              <a:alphaModFix/>
            </a:blip>
            <a:stretch>
              <a:fillRect b="-6666" l="-23682" r="-2105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2" name="Google Shape;682;p51"/>
          <p:cNvSpPr txBox="1"/>
          <p:nvPr/>
        </p:nvSpPr>
        <p:spPr>
          <a:xfrm>
            <a:off x="926107" y="840437"/>
            <a:ext cx="214033" cy="276999"/>
          </a:xfrm>
          <a:prstGeom prst="rect">
            <a:avLst/>
          </a:prstGeom>
          <a:blipFill rotWithShape="1">
            <a:blip r:embed="rId5">
              <a:alphaModFix/>
            </a:blip>
            <a:stretch>
              <a:fillRect b="-6666" l="-28567" r="-2285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3" name="Google Shape;683;p51"/>
          <p:cNvSpPr txBox="1"/>
          <p:nvPr/>
        </p:nvSpPr>
        <p:spPr>
          <a:xfrm>
            <a:off x="1087743" y="992837"/>
            <a:ext cx="226857" cy="276999"/>
          </a:xfrm>
          <a:prstGeom prst="rect">
            <a:avLst/>
          </a:prstGeom>
          <a:blipFill rotWithShape="1">
            <a:blip r:embed="rId6">
              <a:alphaModFix/>
            </a:blip>
            <a:stretch>
              <a:fillRect b="-6666" l="-23682" r="-2105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4" name="Google Shape;684;p51"/>
          <p:cNvSpPr txBox="1"/>
          <p:nvPr/>
        </p:nvSpPr>
        <p:spPr>
          <a:xfrm>
            <a:off x="1240143" y="1145237"/>
            <a:ext cx="179216" cy="276999"/>
          </a:xfrm>
          <a:prstGeom prst="rect">
            <a:avLst/>
          </a:prstGeom>
          <a:blipFill rotWithShape="1">
            <a:blip r:embed="rId7">
              <a:alphaModFix/>
            </a:blip>
            <a:stretch>
              <a:fillRect b="-6666" l="-29995" r="-2666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5" name="Google Shape;685;p51"/>
          <p:cNvSpPr txBox="1"/>
          <p:nvPr/>
        </p:nvSpPr>
        <p:spPr>
          <a:xfrm>
            <a:off x="523377" y="1483615"/>
            <a:ext cx="456151" cy="276999"/>
          </a:xfrm>
          <a:prstGeom prst="rect">
            <a:avLst/>
          </a:prstGeom>
          <a:blipFill rotWithShape="1">
            <a:blip r:embed="rId8">
              <a:alphaModFix/>
            </a:blip>
            <a:stretch>
              <a:fillRect b="-6520" l="-11999" r="-1199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6" name="Google Shape;686;p51"/>
          <p:cNvSpPr txBox="1"/>
          <p:nvPr/>
        </p:nvSpPr>
        <p:spPr>
          <a:xfrm>
            <a:off x="803195" y="1798112"/>
            <a:ext cx="532966" cy="276999"/>
          </a:xfrm>
          <a:prstGeom prst="rect">
            <a:avLst/>
          </a:prstGeom>
          <a:blipFill rotWithShape="1">
            <a:blip r:embed="rId9">
              <a:alphaModFix/>
            </a:blip>
            <a:stretch>
              <a:fillRect b="-6666" l="-10344" r="-103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7" name="Google Shape;687;p51"/>
          <p:cNvSpPr txBox="1"/>
          <p:nvPr/>
        </p:nvSpPr>
        <p:spPr>
          <a:xfrm>
            <a:off x="1129592" y="2079027"/>
            <a:ext cx="395108" cy="276999"/>
          </a:xfrm>
          <a:prstGeom prst="rect">
            <a:avLst/>
          </a:prstGeom>
          <a:blipFill rotWithShape="1">
            <a:blip r:embed="rId10">
              <a:alphaModFix/>
            </a:blip>
            <a:stretch>
              <a:fillRect b="-35552" l="-21537" r="-18461" t="-222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8" name="Google Shape;688;p51"/>
          <p:cNvSpPr txBox="1"/>
          <p:nvPr/>
        </p:nvSpPr>
        <p:spPr>
          <a:xfrm>
            <a:off x="567231" y="2317750"/>
            <a:ext cx="307072" cy="276999"/>
          </a:xfrm>
          <a:prstGeom prst="rect">
            <a:avLst/>
          </a:prstGeom>
          <a:blipFill rotWithShape="1">
            <a:blip r:embed="rId11">
              <a:alphaModFix/>
            </a:blip>
            <a:stretch>
              <a:fillRect b="-6520" l="-17998" r="-1599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89" name="Google Shape;689;p51"/>
          <p:cNvSpPr txBox="1"/>
          <p:nvPr/>
        </p:nvSpPr>
        <p:spPr>
          <a:xfrm>
            <a:off x="742349" y="2598665"/>
            <a:ext cx="395108" cy="276999"/>
          </a:xfrm>
          <a:prstGeom prst="rect">
            <a:avLst/>
          </a:prstGeom>
          <a:blipFill rotWithShape="1">
            <a:blip r:embed="rId12">
              <a:alphaModFix/>
            </a:blip>
            <a:stretch>
              <a:fillRect b="-6520" l="-15384" r="-1230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0" name="Google Shape;690;p51"/>
          <p:cNvSpPr txBox="1"/>
          <p:nvPr/>
        </p:nvSpPr>
        <p:spPr>
          <a:xfrm>
            <a:off x="992829" y="2902222"/>
            <a:ext cx="438390" cy="276999"/>
          </a:xfrm>
          <a:prstGeom prst="rect">
            <a:avLst/>
          </a:prstGeom>
          <a:blipFill rotWithShape="1">
            <a:blip r:embed="rId13">
              <a:alphaModFix/>
            </a:blip>
            <a:stretch>
              <a:fillRect b="-6520" l="-12499" r="-1388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1" name="Google Shape;691;p51"/>
          <p:cNvSpPr txBox="1"/>
          <p:nvPr/>
        </p:nvSpPr>
        <p:spPr>
          <a:xfrm>
            <a:off x="2676307" y="1175865"/>
            <a:ext cx="200888" cy="276999"/>
          </a:xfrm>
          <a:prstGeom prst="rect">
            <a:avLst/>
          </a:prstGeom>
          <a:blipFill rotWithShape="1">
            <a:blip r:embed="rId14">
              <a:alphaModFix/>
            </a:blip>
            <a:stretch>
              <a:fillRect b="-8888" l="-27272" r="-2424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2" name="Google Shape;692;p51"/>
          <p:cNvSpPr txBox="1"/>
          <p:nvPr/>
        </p:nvSpPr>
        <p:spPr>
          <a:xfrm>
            <a:off x="2776361" y="1524597"/>
            <a:ext cx="623056" cy="284630"/>
          </a:xfrm>
          <a:prstGeom prst="rect">
            <a:avLst/>
          </a:prstGeom>
          <a:blipFill rotWithShape="1">
            <a:blip r:embed="rId15">
              <a:alphaModFix/>
            </a:blip>
            <a:stretch>
              <a:fillRect b="-8508" l="-7766" r="-5823" t="-638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3" name="Google Shape;693;p51"/>
          <p:cNvSpPr txBox="1"/>
          <p:nvPr/>
        </p:nvSpPr>
        <p:spPr>
          <a:xfrm>
            <a:off x="2907863" y="1898925"/>
            <a:ext cx="200888" cy="276999"/>
          </a:xfrm>
          <a:prstGeom prst="rect">
            <a:avLst/>
          </a:prstGeom>
          <a:blipFill rotWithShape="1">
            <a:blip r:embed="rId16">
              <a:alphaModFix/>
            </a:blip>
            <a:stretch>
              <a:fillRect b="-6666" l="-24240" r="-2727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4" name="Google Shape;694;p51"/>
          <p:cNvSpPr txBox="1"/>
          <p:nvPr/>
        </p:nvSpPr>
        <p:spPr>
          <a:xfrm>
            <a:off x="2980807" y="2226738"/>
            <a:ext cx="351378" cy="276999"/>
          </a:xfrm>
          <a:prstGeom prst="rect">
            <a:avLst/>
          </a:prstGeom>
          <a:blipFill rotWithShape="1">
            <a:blip r:embed="rId17">
              <a:alphaModFix/>
            </a:blip>
            <a:stretch>
              <a:fillRect b="-6520" l="-15515" r="-1379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5" name="Google Shape;695;p51"/>
          <p:cNvSpPr txBox="1"/>
          <p:nvPr/>
        </p:nvSpPr>
        <p:spPr>
          <a:xfrm>
            <a:off x="3078837" y="2575707"/>
            <a:ext cx="481222" cy="276999"/>
          </a:xfrm>
          <a:prstGeom prst="rect">
            <a:avLst/>
          </a:prstGeom>
          <a:blipFill rotWithShape="1">
            <a:blip r:embed="rId18">
              <a:alphaModFix/>
            </a:blip>
            <a:stretch>
              <a:fillRect b="-6666" l="-10126" r="-1139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6" name="Google Shape;696;p51"/>
          <p:cNvSpPr txBox="1"/>
          <p:nvPr/>
        </p:nvSpPr>
        <p:spPr>
          <a:xfrm>
            <a:off x="1696866" y="1218323"/>
            <a:ext cx="286810" cy="276999"/>
          </a:xfrm>
          <a:prstGeom prst="rect">
            <a:avLst/>
          </a:prstGeom>
          <a:blipFill rotWithShape="1">
            <a:blip r:embed="rId19">
              <a:alphaModFix/>
            </a:blip>
            <a:stretch>
              <a:fillRect b="-15553" l="-19148" r="-850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7" name="Google Shape;697;p51"/>
          <p:cNvSpPr txBox="1"/>
          <p:nvPr/>
        </p:nvSpPr>
        <p:spPr>
          <a:xfrm>
            <a:off x="1859544" y="1537687"/>
            <a:ext cx="292131" cy="276999"/>
          </a:xfrm>
          <a:prstGeom prst="rect">
            <a:avLst/>
          </a:prstGeom>
          <a:blipFill rotWithShape="1">
            <a:blip r:embed="rId20">
              <a:alphaModFix/>
            </a:blip>
            <a:stretch>
              <a:fillRect b="-15215" l="-16665" r="-1041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8" name="Google Shape;698;p51"/>
          <p:cNvSpPr txBox="1"/>
          <p:nvPr/>
        </p:nvSpPr>
        <p:spPr>
          <a:xfrm>
            <a:off x="2040053" y="1868161"/>
            <a:ext cx="272767" cy="276999"/>
          </a:xfrm>
          <a:prstGeom prst="rect">
            <a:avLst/>
          </a:prstGeom>
          <a:blipFill rotWithShape="1">
            <a:blip r:embed="rId21">
              <a:alphaModFix/>
            </a:blip>
            <a:stretch>
              <a:fillRect b="-15215" l="-22726" r="-908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699" name="Google Shape;699;p51"/>
          <p:cNvSpPr txBox="1"/>
          <p:nvPr/>
        </p:nvSpPr>
        <p:spPr>
          <a:xfrm>
            <a:off x="2169366" y="2207295"/>
            <a:ext cx="271934" cy="276999"/>
          </a:xfrm>
          <a:prstGeom prst="rect">
            <a:avLst/>
          </a:prstGeom>
          <a:blipFill rotWithShape="1">
            <a:blip r:embed="rId22">
              <a:alphaModFix/>
            </a:blip>
            <a:stretch>
              <a:fillRect b="-15215" l="-22725" r="-6817"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0" name="Google Shape;700;p51"/>
          <p:cNvSpPr txBox="1"/>
          <p:nvPr/>
        </p:nvSpPr>
        <p:spPr>
          <a:xfrm>
            <a:off x="4389526" y="2106879"/>
            <a:ext cx="301236" cy="281744"/>
          </a:xfrm>
          <a:prstGeom prst="rect">
            <a:avLst/>
          </a:prstGeom>
          <a:blipFill rotWithShape="1">
            <a:blip r:embed="rId23">
              <a:alphaModFix/>
            </a:blip>
            <a:stretch>
              <a:fillRect b="-17390" l="-12243" r="-10203"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1" name="Google Shape;701;p51"/>
          <p:cNvSpPr txBox="1"/>
          <p:nvPr/>
        </p:nvSpPr>
        <p:spPr>
          <a:xfrm>
            <a:off x="5515693" y="1401719"/>
            <a:ext cx="339837" cy="277705"/>
          </a:xfrm>
          <a:prstGeom prst="rect">
            <a:avLst/>
          </a:prstGeom>
          <a:blipFill rotWithShape="1">
            <a:blip r:embed="rId24">
              <a:alphaModFix/>
            </a:blip>
            <a:stretch>
              <a:fillRect b="-8888" l="-16070" r="-5356" t="-2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2" name="Google Shape;702;p51"/>
          <p:cNvSpPr txBox="1"/>
          <p:nvPr/>
        </p:nvSpPr>
        <p:spPr>
          <a:xfrm>
            <a:off x="4535455" y="2393179"/>
            <a:ext cx="301236" cy="282257"/>
          </a:xfrm>
          <a:prstGeom prst="rect">
            <a:avLst/>
          </a:prstGeom>
          <a:blipFill rotWithShape="1">
            <a:blip r:embed="rId25">
              <a:alphaModFix/>
            </a:blip>
            <a:stretch>
              <a:fillRect b="-17390" l="-12243" r="-10203"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3" name="Google Shape;703;p51"/>
          <p:cNvSpPr txBox="1"/>
          <p:nvPr/>
        </p:nvSpPr>
        <p:spPr>
          <a:xfrm>
            <a:off x="4672218" y="2635108"/>
            <a:ext cx="301236" cy="283667"/>
          </a:xfrm>
          <a:prstGeom prst="rect">
            <a:avLst/>
          </a:prstGeom>
          <a:blipFill rotWithShape="1">
            <a:blip r:embed="rId26">
              <a:alphaModFix/>
            </a:blip>
            <a:stretch>
              <a:fillRect b="-17018" l="-11998" r="-7997"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4" name="Google Shape;704;p51"/>
          <p:cNvSpPr txBox="1"/>
          <p:nvPr/>
        </p:nvSpPr>
        <p:spPr>
          <a:xfrm>
            <a:off x="4768861" y="2947246"/>
            <a:ext cx="301236" cy="281487"/>
          </a:xfrm>
          <a:prstGeom prst="rect">
            <a:avLst/>
          </a:prstGeom>
          <a:blipFill rotWithShape="1">
            <a:blip r:embed="rId27">
              <a:alphaModFix/>
            </a:blip>
            <a:stretch>
              <a:fillRect b="-17018" l="-11998" r="-7997"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5" name="Google Shape;705;p51"/>
          <p:cNvSpPr txBox="1"/>
          <p:nvPr/>
        </p:nvSpPr>
        <p:spPr>
          <a:xfrm>
            <a:off x="4381572" y="787071"/>
            <a:ext cx="303160" cy="281744"/>
          </a:xfrm>
          <a:prstGeom prst="rect">
            <a:avLst/>
          </a:prstGeom>
          <a:blipFill rotWithShape="1">
            <a:blip r:embed="rId28">
              <a:alphaModFix/>
            </a:blip>
            <a:stretch>
              <a:fillRect b="-19562" l="-12243" r="-8161"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6" name="Google Shape;706;p51"/>
          <p:cNvSpPr txBox="1"/>
          <p:nvPr/>
        </p:nvSpPr>
        <p:spPr>
          <a:xfrm>
            <a:off x="4527501" y="1073371"/>
            <a:ext cx="303160" cy="282257"/>
          </a:xfrm>
          <a:prstGeom prst="rect">
            <a:avLst/>
          </a:prstGeom>
          <a:blipFill rotWithShape="1">
            <a:blip r:embed="rId29">
              <a:alphaModFix/>
            </a:blip>
            <a:stretch>
              <a:fillRect b="-19562" l="-12243" r="-8161"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7" name="Google Shape;707;p51"/>
          <p:cNvSpPr txBox="1"/>
          <p:nvPr/>
        </p:nvSpPr>
        <p:spPr>
          <a:xfrm>
            <a:off x="4664264" y="1315300"/>
            <a:ext cx="303160" cy="283667"/>
          </a:xfrm>
          <a:prstGeom prst="rect">
            <a:avLst/>
          </a:prstGeom>
          <a:blipFill rotWithShape="1">
            <a:blip r:embed="rId30">
              <a:alphaModFix/>
            </a:blip>
            <a:stretch>
              <a:fillRect b="-17390" l="-11998" r="-7997"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8" name="Google Shape;708;p51"/>
          <p:cNvSpPr txBox="1"/>
          <p:nvPr/>
        </p:nvSpPr>
        <p:spPr>
          <a:xfrm>
            <a:off x="4828737" y="1656356"/>
            <a:ext cx="303160" cy="281487"/>
          </a:xfrm>
          <a:prstGeom prst="rect">
            <a:avLst/>
          </a:prstGeom>
          <a:blipFill rotWithShape="1">
            <a:blip r:embed="rId31">
              <a:alphaModFix/>
            </a:blip>
            <a:stretch>
              <a:fillRect b="-17390" l="-11998" r="-7997"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09" name="Google Shape;709;p51"/>
          <p:cNvSpPr txBox="1"/>
          <p:nvPr/>
        </p:nvSpPr>
        <p:spPr>
          <a:xfrm>
            <a:off x="3727535" y="859689"/>
            <a:ext cx="321370" cy="281744"/>
          </a:xfrm>
          <a:prstGeom prst="rect">
            <a:avLst/>
          </a:prstGeom>
          <a:blipFill rotWithShape="1">
            <a:blip r:embed="rId32">
              <a:alphaModFix/>
            </a:blip>
            <a:stretch>
              <a:fillRect b="-19562" l="-11320" r="-7546"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0" name="Google Shape;710;p51"/>
          <p:cNvSpPr txBox="1"/>
          <p:nvPr/>
        </p:nvSpPr>
        <p:spPr>
          <a:xfrm>
            <a:off x="3873464" y="1145989"/>
            <a:ext cx="321370" cy="282257"/>
          </a:xfrm>
          <a:prstGeom prst="rect">
            <a:avLst/>
          </a:prstGeom>
          <a:blipFill rotWithShape="1">
            <a:blip r:embed="rId33">
              <a:alphaModFix/>
            </a:blip>
            <a:stretch>
              <a:fillRect b="-17390" l="-11320" r="-7546"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1" name="Google Shape;711;p51"/>
          <p:cNvSpPr txBox="1"/>
          <p:nvPr/>
        </p:nvSpPr>
        <p:spPr>
          <a:xfrm>
            <a:off x="4010227" y="1387918"/>
            <a:ext cx="321370" cy="283667"/>
          </a:xfrm>
          <a:prstGeom prst="rect">
            <a:avLst/>
          </a:prstGeom>
          <a:blipFill rotWithShape="1">
            <a:blip r:embed="rId34">
              <a:alphaModFix/>
            </a:blip>
            <a:stretch>
              <a:fillRect b="-17390" l="-11320" r="-5659"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2" name="Google Shape;712;p51"/>
          <p:cNvSpPr txBox="1"/>
          <p:nvPr/>
        </p:nvSpPr>
        <p:spPr>
          <a:xfrm>
            <a:off x="4174700" y="1728974"/>
            <a:ext cx="321370" cy="281487"/>
          </a:xfrm>
          <a:prstGeom prst="rect">
            <a:avLst/>
          </a:prstGeom>
          <a:blipFill rotWithShape="1">
            <a:blip r:embed="rId35">
              <a:alphaModFix/>
            </a:blip>
            <a:stretch>
              <a:fillRect b="-17390" l="-11320" r="-5659"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3" name="Google Shape;713;p51"/>
          <p:cNvSpPr txBox="1"/>
          <p:nvPr/>
        </p:nvSpPr>
        <p:spPr>
          <a:xfrm>
            <a:off x="3778459" y="2181420"/>
            <a:ext cx="262315" cy="281744"/>
          </a:xfrm>
          <a:prstGeom prst="rect">
            <a:avLst/>
          </a:prstGeom>
          <a:blipFill rotWithShape="1">
            <a:blip r:embed="rId36">
              <a:alphaModFix/>
            </a:blip>
            <a:stretch>
              <a:fillRect b="-17390" l="-23255" r="-6975"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4" name="Google Shape;714;p51"/>
          <p:cNvSpPr txBox="1"/>
          <p:nvPr/>
        </p:nvSpPr>
        <p:spPr>
          <a:xfrm>
            <a:off x="3924388" y="2467720"/>
            <a:ext cx="262315" cy="282257"/>
          </a:xfrm>
          <a:prstGeom prst="rect">
            <a:avLst/>
          </a:prstGeom>
          <a:blipFill rotWithShape="1">
            <a:blip r:embed="rId37">
              <a:alphaModFix/>
            </a:blip>
            <a:stretch>
              <a:fillRect b="-17390" l="-23255" r="-6975"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5" name="Google Shape;715;p51"/>
          <p:cNvSpPr txBox="1"/>
          <p:nvPr/>
        </p:nvSpPr>
        <p:spPr>
          <a:xfrm>
            <a:off x="4061151" y="2709649"/>
            <a:ext cx="262315" cy="283667"/>
          </a:xfrm>
          <a:prstGeom prst="rect">
            <a:avLst/>
          </a:prstGeom>
          <a:blipFill rotWithShape="1">
            <a:blip r:embed="rId38">
              <a:alphaModFix/>
            </a:blip>
            <a:stretch>
              <a:fillRect b="-17018" l="-23255" r="-9301"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6" name="Google Shape;716;p51"/>
          <p:cNvSpPr txBox="1"/>
          <p:nvPr/>
        </p:nvSpPr>
        <p:spPr>
          <a:xfrm>
            <a:off x="4205614" y="3051965"/>
            <a:ext cx="262315" cy="281487"/>
          </a:xfrm>
          <a:prstGeom prst="rect">
            <a:avLst/>
          </a:prstGeom>
          <a:blipFill rotWithShape="1">
            <a:blip r:embed="rId39">
              <a:alphaModFix/>
            </a:blip>
            <a:stretch>
              <a:fillRect b="-17390" l="-23255" r="-6975"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7" name="Google Shape;717;p51"/>
          <p:cNvSpPr txBox="1"/>
          <p:nvPr/>
        </p:nvSpPr>
        <p:spPr>
          <a:xfrm>
            <a:off x="4856066" y="5246851"/>
            <a:ext cx="299120" cy="280333"/>
          </a:xfrm>
          <a:prstGeom prst="rect">
            <a:avLst/>
          </a:prstGeom>
          <a:blipFill rotWithShape="1">
            <a:blip r:embed="rId40">
              <a:alphaModFix/>
            </a:blip>
            <a:stretch>
              <a:fillRect b="-17390" l="-12243" r="-6121"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8" name="Google Shape;718;p51"/>
          <p:cNvSpPr txBox="1"/>
          <p:nvPr/>
        </p:nvSpPr>
        <p:spPr>
          <a:xfrm>
            <a:off x="4982337" y="5519286"/>
            <a:ext cx="299120" cy="280846"/>
          </a:xfrm>
          <a:prstGeom prst="rect">
            <a:avLst/>
          </a:prstGeom>
          <a:blipFill rotWithShape="1">
            <a:blip r:embed="rId41">
              <a:alphaModFix/>
            </a:blip>
            <a:stretch>
              <a:fillRect b="-19562" l="-12243" r="-8161"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19" name="Google Shape;719;p51"/>
          <p:cNvSpPr txBox="1"/>
          <p:nvPr/>
        </p:nvSpPr>
        <p:spPr>
          <a:xfrm>
            <a:off x="5142027" y="5781286"/>
            <a:ext cx="299120" cy="282257"/>
          </a:xfrm>
          <a:prstGeom prst="rect">
            <a:avLst/>
          </a:prstGeom>
          <a:blipFill rotWithShape="1">
            <a:blip r:embed="rId42">
              <a:alphaModFix/>
            </a:blip>
            <a:stretch>
              <a:fillRect b="-17018" l="-12243" r="-6121"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0" name="Google Shape;720;p51"/>
          <p:cNvSpPr txBox="1"/>
          <p:nvPr/>
        </p:nvSpPr>
        <p:spPr>
          <a:xfrm>
            <a:off x="5358715" y="6109645"/>
            <a:ext cx="299120" cy="280077"/>
          </a:xfrm>
          <a:prstGeom prst="rect">
            <a:avLst/>
          </a:prstGeom>
          <a:blipFill rotWithShape="1">
            <a:blip r:embed="rId43">
              <a:alphaModFix/>
            </a:blip>
            <a:stretch>
              <a:fillRect b="-19562" l="-12243" r="-8161"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1" name="Google Shape;721;p51"/>
          <p:cNvSpPr txBox="1"/>
          <p:nvPr/>
        </p:nvSpPr>
        <p:spPr>
          <a:xfrm>
            <a:off x="4566625" y="3806858"/>
            <a:ext cx="301043" cy="280333"/>
          </a:xfrm>
          <a:prstGeom prst="rect">
            <a:avLst/>
          </a:prstGeom>
          <a:blipFill rotWithShape="1">
            <a:blip r:embed="rId44">
              <a:alphaModFix/>
            </a:blip>
            <a:stretch>
              <a:fillRect b="-19562" l="-11999" r="-5997"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2" name="Google Shape;722;p51"/>
          <p:cNvSpPr txBox="1"/>
          <p:nvPr/>
        </p:nvSpPr>
        <p:spPr>
          <a:xfrm>
            <a:off x="4741249" y="4106393"/>
            <a:ext cx="301043" cy="280846"/>
          </a:xfrm>
          <a:prstGeom prst="rect">
            <a:avLst/>
          </a:prstGeom>
          <a:blipFill rotWithShape="1">
            <a:blip r:embed="rId45">
              <a:alphaModFix/>
            </a:blip>
            <a:stretch>
              <a:fillRect b="-17390" l="-12243" r="-6121"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3" name="Google Shape;723;p51"/>
          <p:cNvSpPr txBox="1"/>
          <p:nvPr/>
        </p:nvSpPr>
        <p:spPr>
          <a:xfrm>
            <a:off x="4878012" y="4348322"/>
            <a:ext cx="301043" cy="282257"/>
          </a:xfrm>
          <a:prstGeom prst="rect">
            <a:avLst/>
          </a:prstGeom>
          <a:blipFill rotWithShape="1">
            <a:blip r:embed="rId46">
              <a:alphaModFix/>
            </a:blip>
            <a:stretch>
              <a:fillRect b="-17018" l="-11999" r="-5997"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4" name="Google Shape;724;p51"/>
          <p:cNvSpPr txBox="1"/>
          <p:nvPr/>
        </p:nvSpPr>
        <p:spPr>
          <a:xfrm>
            <a:off x="5042485" y="4689378"/>
            <a:ext cx="301043" cy="280077"/>
          </a:xfrm>
          <a:prstGeom prst="rect">
            <a:avLst/>
          </a:prstGeom>
          <a:blipFill rotWithShape="1">
            <a:blip r:embed="rId47">
              <a:alphaModFix/>
            </a:blip>
            <a:stretch>
              <a:fillRect b="-19562" l="-11999" r="-5997"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5" name="Google Shape;725;p51"/>
          <p:cNvSpPr txBox="1"/>
          <p:nvPr/>
        </p:nvSpPr>
        <p:spPr>
          <a:xfrm>
            <a:off x="3878884" y="3927734"/>
            <a:ext cx="319254" cy="280333"/>
          </a:xfrm>
          <a:prstGeom prst="rect">
            <a:avLst/>
          </a:prstGeom>
          <a:blipFill rotWithShape="1">
            <a:blip r:embed="rId48">
              <a:alphaModFix/>
            </a:blip>
            <a:stretch>
              <a:fillRect b="-19562" l="-9433" r="-7546"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6" name="Google Shape;726;p51"/>
          <p:cNvSpPr txBox="1"/>
          <p:nvPr/>
        </p:nvSpPr>
        <p:spPr>
          <a:xfrm>
            <a:off x="4059097" y="4168702"/>
            <a:ext cx="319254" cy="280846"/>
          </a:xfrm>
          <a:prstGeom prst="rect">
            <a:avLst/>
          </a:prstGeom>
          <a:blipFill rotWithShape="1">
            <a:blip r:embed="rId49">
              <a:alphaModFix/>
            </a:blip>
            <a:stretch>
              <a:fillRect b="-17390" l="-9614" r="-7690"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7" name="Google Shape;727;p51"/>
          <p:cNvSpPr txBox="1"/>
          <p:nvPr/>
        </p:nvSpPr>
        <p:spPr>
          <a:xfrm>
            <a:off x="4195860" y="4410631"/>
            <a:ext cx="319254" cy="282257"/>
          </a:xfrm>
          <a:prstGeom prst="rect">
            <a:avLst/>
          </a:prstGeom>
          <a:blipFill rotWithShape="1">
            <a:blip r:embed="rId50">
              <a:alphaModFix/>
            </a:blip>
            <a:stretch>
              <a:fillRect b="-17390" l="-9433" r="-7546"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8" name="Google Shape;728;p51"/>
          <p:cNvSpPr txBox="1"/>
          <p:nvPr/>
        </p:nvSpPr>
        <p:spPr>
          <a:xfrm>
            <a:off x="4360333" y="4751687"/>
            <a:ext cx="319254" cy="280077"/>
          </a:xfrm>
          <a:prstGeom prst="rect">
            <a:avLst/>
          </a:prstGeom>
          <a:blipFill rotWithShape="1">
            <a:blip r:embed="rId51">
              <a:alphaModFix/>
            </a:blip>
            <a:stretch>
              <a:fillRect b="-19562" l="-9433" r="-7546"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29" name="Google Shape;729;p51"/>
          <p:cNvSpPr txBox="1"/>
          <p:nvPr/>
        </p:nvSpPr>
        <p:spPr>
          <a:xfrm>
            <a:off x="4163984" y="5299159"/>
            <a:ext cx="260199" cy="280333"/>
          </a:xfrm>
          <a:prstGeom prst="rect">
            <a:avLst/>
          </a:prstGeom>
          <a:blipFill rotWithShape="1">
            <a:blip r:embed="rId52">
              <a:alphaModFix/>
            </a:blip>
            <a:stretch>
              <a:fillRect b="-19562" l="-23255" r="-6975"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0" name="Google Shape;730;p51"/>
          <p:cNvSpPr txBox="1"/>
          <p:nvPr/>
        </p:nvSpPr>
        <p:spPr>
          <a:xfrm>
            <a:off x="4309913" y="5585459"/>
            <a:ext cx="260199" cy="280846"/>
          </a:xfrm>
          <a:prstGeom prst="rect">
            <a:avLst/>
          </a:prstGeom>
          <a:blipFill rotWithShape="1">
            <a:blip r:embed="rId53">
              <a:alphaModFix/>
            </a:blip>
            <a:stretch>
              <a:fillRect b="-19562" l="-23255" r="-6975"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1" name="Google Shape;731;p51"/>
          <p:cNvSpPr txBox="1"/>
          <p:nvPr/>
        </p:nvSpPr>
        <p:spPr>
          <a:xfrm>
            <a:off x="4446676" y="5827388"/>
            <a:ext cx="260199" cy="282257"/>
          </a:xfrm>
          <a:prstGeom prst="rect">
            <a:avLst/>
          </a:prstGeom>
          <a:blipFill rotWithShape="1">
            <a:blip r:embed="rId54">
              <a:alphaModFix/>
            </a:blip>
            <a:stretch>
              <a:fillRect b="-17390" l="-23255" r="-6975"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2" name="Google Shape;732;p51"/>
          <p:cNvSpPr txBox="1"/>
          <p:nvPr/>
        </p:nvSpPr>
        <p:spPr>
          <a:xfrm>
            <a:off x="4611149" y="6168444"/>
            <a:ext cx="260199" cy="280077"/>
          </a:xfrm>
          <a:prstGeom prst="rect">
            <a:avLst/>
          </a:prstGeom>
          <a:blipFill rotWithShape="1">
            <a:blip r:embed="rId55">
              <a:alphaModFix/>
            </a:blip>
            <a:stretch>
              <a:fillRect b="-17390" l="-23255" r="-6975"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3" name="Google Shape;733;p51"/>
          <p:cNvSpPr txBox="1"/>
          <p:nvPr/>
        </p:nvSpPr>
        <p:spPr>
          <a:xfrm>
            <a:off x="5682945" y="4281198"/>
            <a:ext cx="337720" cy="276999"/>
          </a:xfrm>
          <a:prstGeom prst="rect">
            <a:avLst/>
          </a:prstGeom>
          <a:blipFill rotWithShape="1">
            <a:blip r:embed="rId56">
              <a:alphaModFix/>
            </a:blip>
            <a:stretch>
              <a:fillRect b="-6521" l="-16070" r="-5356" t="-434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4" name="Google Shape;734;p51"/>
          <p:cNvSpPr txBox="1"/>
          <p:nvPr/>
        </p:nvSpPr>
        <p:spPr>
          <a:xfrm>
            <a:off x="5929104" y="2274238"/>
            <a:ext cx="293029" cy="277705"/>
          </a:xfrm>
          <a:prstGeom prst="rect">
            <a:avLst/>
          </a:prstGeom>
          <a:blipFill rotWithShape="1">
            <a:blip r:embed="rId57">
              <a:alphaModFix/>
            </a:blip>
            <a:stretch>
              <a:fillRect b="-8695" l="-20832" r="-6249"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5" name="Google Shape;735;p51"/>
          <p:cNvSpPr txBox="1"/>
          <p:nvPr/>
        </p:nvSpPr>
        <p:spPr>
          <a:xfrm>
            <a:off x="5791081" y="1974579"/>
            <a:ext cx="316497" cy="277705"/>
          </a:xfrm>
          <a:prstGeom prst="rect">
            <a:avLst/>
          </a:prstGeom>
          <a:blipFill rotWithShape="1">
            <a:blip r:embed="rId58">
              <a:alphaModFix/>
            </a:blip>
            <a:stretch>
              <a:fillRect b="-8888" l="-17307" r="-7691" t="-2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6" name="Google Shape;736;p51"/>
          <p:cNvSpPr txBox="1"/>
          <p:nvPr/>
        </p:nvSpPr>
        <p:spPr>
          <a:xfrm>
            <a:off x="5648389" y="1662958"/>
            <a:ext cx="337080" cy="277705"/>
          </a:xfrm>
          <a:prstGeom prst="rect">
            <a:avLst/>
          </a:prstGeom>
          <a:blipFill rotWithShape="1">
            <a:blip r:embed="rId59">
              <a:alphaModFix/>
            </a:blip>
            <a:stretch>
              <a:fillRect b="-8888" l="-16362" r="-7270" t="-2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7" name="Google Shape;737;p51"/>
          <p:cNvSpPr txBox="1"/>
          <p:nvPr/>
        </p:nvSpPr>
        <p:spPr>
          <a:xfrm>
            <a:off x="6295757" y="1743931"/>
            <a:ext cx="363818" cy="277705"/>
          </a:xfrm>
          <a:prstGeom prst="rect">
            <a:avLst/>
          </a:prstGeom>
          <a:blipFill rotWithShape="1">
            <a:blip r:embed="rId60">
              <a:alphaModFix/>
            </a:blip>
            <a:stretch>
              <a:fillRect b="-8695" l="-15251" r="-6778"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8" name="Google Shape;738;p51"/>
          <p:cNvSpPr txBox="1"/>
          <p:nvPr/>
        </p:nvSpPr>
        <p:spPr>
          <a:xfrm>
            <a:off x="6097415" y="5267699"/>
            <a:ext cx="290912" cy="276999"/>
          </a:xfrm>
          <a:prstGeom prst="rect">
            <a:avLst/>
          </a:prstGeom>
          <a:blipFill rotWithShape="1">
            <a:blip r:embed="rId61">
              <a:alphaModFix/>
            </a:blip>
            <a:stretch>
              <a:fillRect b="-6521" l="-18748" r="-6249" t="-434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39" name="Google Shape;739;p51"/>
          <p:cNvSpPr txBox="1"/>
          <p:nvPr/>
        </p:nvSpPr>
        <p:spPr>
          <a:xfrm>
            <a:off x="5983123" y="4932536"/>
            <a:ext cx="314380" cy="276999"/>
          </a:xfrm>
          <a:prstGeom prst="rect">
            <a:avLst/>
          </a:prstGeom>
          <a:blipFill rotWithShape="1">
            <a:blip r:embed="rId62">
              <a:alphaModFix/>
            </a:blip>
            <a:stretch>
              <a:fillRect b="-6521" l="-15384" r="-7689" t="-434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0" name="Google Shape;740;p51"/>
          <p:cNvSpPr txBox="1"/>
          <p:nvPr/>
        </p:nvSpPr>
        <p:spPr>
          <a:xfrm>
            <a:off x="5853183" y="4565068"/>
            <a:ext cx="334963" cy="276999"/>
          </a:xfrm>
          <a:prstGeom prst="rect">
            <a:avLst/>
          </a:prstGeom>
          <a:blipFill rotWithShape="1">
            <a:blip r:embed="rId63">
              <a:alphaModFix/>
            </a:blip>
            <a:stretch>
              <a:fillRect b="-6665" l="-14542" r="-7272" t="-44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1" name="Google Shape;741;p51"/>
          <p:cNvSpPr txBox="1"/>
          <p:nvPr/>
        </p:nvSpPr>
        <p:spPr>
          <a:xfrm>
            <a:off x="6491389" y="4651215"/>
            <a:ext cx="361701" cy="276999"/>
          </a:xfrm>
          <a:prstGeom prst="rect">
            <a:avLst/>
          </a:prstGeom>
          <a:blipFill rotWithShape="1">
            <a:blip r:embed="rId64">
              <a:alphaModFix/>
            </a:blip>
            <a:stretch>
              <a:fillRect b="-6665" l="-16947" r="-5082" t="-444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2" name="Google Shape;742;p51"/>
          <p:cNvSpPr txBox="1"/>
          <p:nvPr/>
        </p:nvSpPr>
        <p:spPr>
          <a:xfrm>
            <a:off x="6838901" y="1358762"/>
            <a:ext cx="323550" cy="281744"/>
          </a:xfrm>
          <a:prstGeom prst="rect">
            <a:avLst/>
          </a:prstGeom>
          <a:blipFill rotWithShape="1">
            <a:blip r:embed="rId65">
              <a:alphaModFix/>
            </a:blip>
            <a:stretch>
              <a:fillRect b="-34782" l="-26412" r="-5657"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3" name="Google Shape;743;p51"/>
          <p:cNvSpPr txBox="1"/>
          <p:nvPr/>
        </p:nvSpPr>
        <p:spPr>
          <a:xfrm>
            <a:off x="6984830" y="1645062"/>
            <a:ext cx="323550" cy="282257"/>
          </a:xfrm>
          <a:prstGeom prst="rect">
            <a:avLst/>
          </a:prstGeom>
          <a:blipFill rotWithShape="1">
            <a:blip r:embed="rId66">
              <a:alphaModFix/>
            </a:blip>
            <a:stretch>
              <a:fillRect b="-34782" l="-26412" r="-5657"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4" name="Google Shape;744;p51"/>
          <p:cNvSpPr txBox="1"/>
          <p:nvPr/>
        </p:nvSpPr>
        <p:spPr>
          <a:xfrm>
            <a:off x="7158857" y="1887854"/>
            <a:ext cx="323550" cy="283667"/>
          </a:xfrm>
          <a:prstGeom prst="rect">
            <a:avLst/>
          </a:prstGeom>
          <a:blipFill rotWithShape="1">
            <a:blip r:embed="rId67">
              <a:alphaModFix/>
            </a:blip>
            <a:stretch>
              <a:fillRect b="-34782" l="-26414" r="-7545"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5" name="Google Shape;745;p51"/>
          <p:cNvSpPr txBox="1"/>
          <p:nvPr/>
        </p:nvSpPr>
        <p:spPr>
          <a:xfrm>
            <a:off x="7278744" y="2184548"/>
            <a:ext cx="323550" cy="281487"/>
          </a:xfrm>
          <a:prstGeom prst="rect">
            <a:avLst/>
          </a:prstGeom>
          <a:blipFill rotWithShape="1">
            <a:blip r:embed="rId68">
              <a:alphaModFix/>
            </a:blip>
            <a:stretch>
              <a:fillRect b="-31911" l="-26414" r="-7545" t="-212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6" name="Google Shape;746;p51"/>
          <p:cNvSpPr txBox="1"/>
          <p:nvPr/>
        </p:nvSpPr>
        <p:spPr>
          <a:xfrm>
            <a:off x="7418205" y="2466035"/>
            <a:ext cx="323550" cy="287899"/>
          </a:xfrm>
          <a:prstGeom prst="rect">
            <a:avLst/>
          </a:prstGeom>
          <a:blipFill rotWithShape="1">
            <a:blip r:embed="rId69">
              <a:alphaModFix/>
            </a:blip>
            <a:stretch>
              <a:fillRect b="-34040" l="-26412" r="-5657"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7" name="Google Shape;747;p51"/>
          <p:cNvSpPr txBox="1"/>
          <p:nvPr/>
        </p:nvSpPr>
        <p:spPr>
          <a:xfrm>
            <a:off x="6919551" y="4237722"/>
            <a:ext cx="321435" cy="280333"/>
          </a:xfrm>
          <a:prstGeom prst="rect">
            <a:avLst/>
          </a:prstGeom>
          <a:blipFill rotWithShape="1">
            <a:blip r:embed="rId70">
              <a:alphaModFix/>
            </a:blip>
            <a:stretch>
              <a:fillRect b="-34782" l="-26412" r="-5657"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8" name="Google Shape;748;p51"/>
          <p:cNvSpPr txBox="1"/>
          <p:nvPr/>
        </p:nvSpPr>
        <p:spPr>
          <a:xfrm>
            <a:off x="7080268" y="4506891"/>
            <a:ext cx="321435" cy="280846"/>
          </a:xfrm>
          <a:prstGeom prst="rect">
            <a:avLst/>
          </a:prstGeom>
          <a:blipFill rotWithShape="1">
            <a:blip r:embed="rId71">
              <a:alphaModFix/>
            </a:blip>
            <a:stretch>
              <a:fillRect b="-34782" l="-26412" r="-5657"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49" name="Google Shape;749;p51"/>
          <p:cNvSpPr txBox="1"/>
          <p:nvPr/>
        </p:nvSpPr>
        <p:spPr>
          <a:xfrm>
            <a:off x="7233769" y="4789471"/>
            <a:ext cx="321435" cy="282257"/>
          </a:xfrm>
          <a:prstGeom prst="rect">
            <a:avLst/>
          </a:prstGeom>
          <a:blipFill rotWithShape="1">
            <a:blip r:embed="rId72">
              <a:alphaModFix/>
            </a:blip>
            <a:stretch>
              <a:fillRect b="-34782" l="-26920" r="-5766"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0" name="Google Shape;750;p51"/>
          <p:cNvSpPr txBox="1"/>
          <p:nvPr/>
        </p:nvSpPr>
        <p:spPr>
          <a:xfrm>
            <a:off x="7355714" y="5071728"/>
            <a:ext cx="321435" cy="280077"/>
          </a:xfrm>
          <a:prstGeom prst="rect">
            <a:avLst/>
          </a:prstGeom>
          <a:blipFill rotWithShape="1">
            <a:blip r:embed="rId73">
              <a:alphaModFix/>
            </a:blip>
            <a:stretch>
              <a:fillRect b="-34782" l="-26920" r="-5766"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1" name="Google Shape;751;p51"/>
          <p:cNvSpPr txBox="1"/>
          <p:nvPr/>
        </p:nvSpPr>
        <p:spPr>
          <a:xfrm>
            <a:off x="7482465" y="5356085"/>
            <a:ext cx="321435" cy="286489"/>
          </a:xfrm>
          <a:prstGeom prst="rect">
            <a:avLst/>
          </a:prstGeom>
          <a:blipFill rotWithShape="1">
            <a:blip r:embed="rId74">
              <a:alphaModFix/>
            </a:blip>
            <a:stretch>
              <a:fillRect b="-34040" l="-26412" r="-5657"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2" name="Google Shape;752;p51"/>
          <p:cNvSpPr txBox="1"/>
          <p:nvPr/>
        </p:nvSpPr>
        <p:spPr>
          <a:xfrm>
            <a:off x="7923185" y="3104775"/>
            <a:ext cx="440185" cy="282257"/>
          </a:xfrm>
          <a:prstGeom prst="rect">
            <a:avLst/>
          </a:prstGeom>
          <a:blipFill rotWithShape="1">
            <a:blip r:embed="rId75">
              <a:alphaModFix/>
            </a:blip>
            <a:stretch>
              <a:fillRect b="-31911" l="-18054" r="-4166" t="-212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3" name="Google Shape;753;p51"/>
          <p:cNvSpPr txBox="1"/>
          <p:nvPr/>
        </p:nvSpPr>
        <p:spPr>
          <a:xfrm>
            <a:off x="7920113" y="3476091"/>
            <a:ext cx="440185" cy="283667"/>
          </a:xfrm>
          <a:prstGeom prst="rect">
            <a:avLst/>
          </a:prstGeom>
          <a:blipFill rotWithShape="1">
            <a:blip r:embed="rId76">
              <a:alphaModFix/>
            </a:blip>
            <a:stretch>
              <a:fillRect b="-31911" l="-18054" r="-5553" t="-2125"/>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4" name="Google Shape;754;p51"/>
          <p:cNvSpPr txBox="1"/>
          <p:nvPr/>
        </p:nvSpPr>
        <p:spPr>
          <a:xfrm>
            <a:off x="7928287" y="3771734"/>
            <a:ext cx="440185" cy="281487"/>
          </a:xfrm>
          <a:prstGeom prst="rect">
            <a:avLst/>
          </a:prstGeom>
          <a:blipFill rotWithShape="1">
            <a:blip r:embed="rId77">
              <a:alphaModFix/>
            </a:blip>
            <a:stretch>
              <a:fillRect b="-34782" l="-18054" r="-4166"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5" name="Google Shape;755;p51"/>
          <p:cNvSpPr txBox="1"/>
          <p:nvPr/>
        </p:nvSpPr>
        <p:spPr>
          <a:xfrm>
            <a:off x="7928287" y="4101816"/>
            <a:ext cx="440185" cy="287899"/>
          </a:xfrm>
          <a:prstGeom prst="rect">
            <a:avLst/>
          </a:prstGeom>
          <a:blipFill rotWithShape="1">
            <a:blip r:embed="rId78">
              <a:alphaModFix/>
            </a:blip>
            <a:stretch>
              <a:fillRect b="-34040" l="-18054" r="-4166" t="-212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6" name="Google Shape;756;p51"/>
          <p:cNvSpPr txBox="1"/>
          <p:nvPr/>
        </p:nvSpPr>
        <p:spPr>
          <a:xfrm>
            <a:off x="7920114" y="2773671"/>
            <a:ext cx="440185" cy="281744"/>
          </a:xfrm>
          <a:prstGeom prst="rect">
            <a:avLst/>
          </a:prstGeom>
          <a:blipFill rotWithShape="1">
            <a:blip r:embed="rId79">
              <a:alphaModFix/>
            </a:blip>
            <a:stretch>
              <a:fillRect b="-34782" l="-18054" r="-5553"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7" name="Google Shape;757;p51"/>
          <p:cNvSpPr txBox="1"/>
          <p:nvPr/>
        </p:nvSpPr>
        <p:spPr>
          <a:xfrm>
            <a:off x="558090" y="3845424"/>
            <a:ext cx="315022" cy="276999"/>
          </a:xfrm>
          <a:prstGeom prst="rect">
            <a:avLst/>
          </a:prstGeom>
          <a:blipFill rotWithShape="1">
            <a:blip r:embed="rId80">
              <a:alphaModFix/>
            </a:blip>
            <a:stretch>
              <a:fillRect b="-15553" l="-19606" r="-784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8" name="Google Shape;758;p51"/>
          <p:cNvSpPr txBox="1"/>
          <p:nvPr/>
        </p:nvSpPr>
        <p:spPr>
          <a:xfrm>
            <a:off x="1026153" y="4797998"/>
            <a:ext cx="443455" cy="276999"/>
          </a:xfrm>
          <a:prstGeom prst="rect">
            <a:avLst/>
          </a:prstGeom>
          <a:blipFill rotWithShape="1">
            <a:blip r:embed="rId81">
              <a:alphaModFix/>
            </a:blip>
            <a:stretch>
              <a:fillRect b="-15215" l="-10957" r="-547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59" name="Google Shape;759;p51"/>
          <p:cNvSpPr txBox="1"/>
          <p:nvPr/>
        </p:nvSpPr>
        <p:spPr>
          <a:xfrm>
            <a:off x="886870" y="4474483"/>
            <a:ext cx="351891" cy="276999"/>
          </a:xfrm>
          <a:prstGeom prst="rect">
            <a:avLst/>
          </a:prstGeom>
          <a:blipFill rotWithShape="1">
            <a:blip r:embed="rId82">
              <a:alphaModFix/>
            </a:blip>
            <a:stretch>
              <a:fillRect b="-8888" l="-15515" r="-1551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0" name="Google Shape;760;p51"/>
          <p:cNvSpPr txBox="1"/>
          <p:nvPr/>
        </p:nvSpPr>
        <p:spPr>
          <a:xfrm>
            <a:off x="682268" y="4166512"/>
            <a:ext cx="452881" cy="276999"/>
          </a:xfrm>
          <a:prstGeom prst="rect">
            <a:avLst/>
          </a:prstGeom>
          <a:blipFill rotWithShape="1">
            <a:blip r:embed="rId83">
              <a:alphaModFix/>
            </a:blip>
            <a:stretch>
              <a:fillRect b="-15215" l="-12160" r="-540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1" name="Google Shape;761;p51"/>
          <p:cNvSpPr txBox="1"/>
          <p:nvPr/>
        </p:nvSpPr>
        <p:spPr>
          <a:xfrm>
            <a:off x="1887774" y="4000274"/>
            <a:ext cx="276614" cy="276999"/>
          </a:xfrm>
          <a:prstGeom prst="rect">
            <a:avLst/>
          </a:prstGeom>
          <a:blipFill rotWithShape="1">
            <a:blip r:embed="rId84">
              <a:alphaModFix/>
            </a:blip>
            <a:stretch>
              <a:fillRect b="-15215" l="-22221" r="-666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2" name="Google Shape;762;p51"/>
          <p:cNvSpPr txBox="1"/>
          <p:nvPr/>
        </p:nvSpPr>
        <p:spPr>
          <a:xfrm>
            <a:off x="2044325" y="4332067"/>
            <a:ext cx="281936" cy="276999"/>
          </a:xfrm>
          <a:prstGeom prst="rect">
            <a:avLst/>
          </a:prstGeom>
          <a:blipFill rotWithShape="1">
            <a:blip r:embed="rId85">
              <a:alphaModFix/>
            </a:blip>
            <a:stretch>
              <a:fillRect b="-15553" l="-19148" r="-638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3" name="Google Shape;763;p51"/>
          <p:cNvSpPr txBox="1"/>
          <p:nvPr/>
        </p:nvSpPr>
        <p:spPr>
          <a:xfrm>
            <a:off x="2197360" y="4659499"/>
            <a:ext cx="281936" cy="276999"/>
          </a:xfrm>
          <a:prstGeom prst="rect">
            <a:avLst/>
          </a:prstGeom>
          <a:blipFill rotWithShape="1">
            <a:blip r:embed="rId86">
              <a:alphaModFix/>
            </a:blip>
            <a:stretch>
              <a:fillRect b="-15215" l="-19148" r="-6381"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4" name="Google Shape;764;p51"/>
          <p:cNvSpPr txBox="1"/>
          <p:nvPr/>
        </p:nvSpPr>
        <p:spPr>
          <a:xfrm>
            <a:off x="8487610" y="3722569"/>
            <a:ext cx="423770" cy="277705"/>
          </a:xfrm>
          <a:prstGeom prst="rect">
            <a:avLst/>
          </a:prstGeom>
          <a:blipFill rotWithShape="1">
            <a:blip r:embed="rId87">
              <a:alphaModFix/>
            </a:blip>
            <a:stretch>
              <a:fillRect b="-8888" l="-11428" r="-5711" t="-2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5" name="Google Shape;765;p51"/>
          <p:cNvSpPr txBox="1"/>
          <p:nvPr/>
        </p:nvSpPr>
        <p:spPr>
          <a:xfrm>
            <a:off x="8461714" y="3273141"/>
            <a:ext cx="433132" cy="277705"/>
          </a:xfrm>
          <a:prstGeom prst="rect">
            <a:avLst/>
          </a:prstGeom>
          <a:blipFill rotWithShape="1">
            <a:blip r:embed="rId88">
              <a:alphaModFix/>
            </a:blip>
            <a:stretch>
              <a:fillRect b="-8888" l="-11265" r="-5633" t="-22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6" name="Google Shape;766;p51"/>
          <p:cNvSpPr txBox="1"/>
          <p:nvPr/>
        </p:nvSpPr>
        <p:spPr>
          <a:xfrm>
            <a:off x="8971419" y="3470691"/>
            <a:ext cx="306046" cy="277897"/>
          </a:xfrm>
          <a:prstGeom prst="rect">
            <a:avLst/>
          </a:prstGeom>
          <a:blipFill rotWithShape="1">
            <a:blip r:embed="rId89">
              <a:alphaModFix/>
            </a:blip>
            <a:stretch>
              <a:fillRect b="-8695" l="-19999" r="-3997" t="-2173"/>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7" name="Google Shape;767;p51"/>
          <p:cNvSpPr txBox="1"/>
          <p:nvPr/>
        </p:nvSpPr>
        <p:spPr>
          <a:xfrm>
            <a:off x="9319567" y="3443565"/>
            <a:ext cx="363113" cy="276999"/>
          </a:xfrm>
          <a:prstGeom prst="rect">
            <a:avLst/>
          </a:prstGeom>
          <a:blipFill rotWithShape="1">
            <a:blip r:embed="rId90">
              <a:alphaModFix/>
            </a:blip>
            <a:stretch>
              <a:fillRect b="-4441" l="-15252" r="-1186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8" name="Google Shape;768;p51"/>
          <p:cNvSpPr txBox="1"/>
          <p:nvPr/>
        </p:nvSpPr>
        <p:spPr>
          <a:xfrm>
            <a:off x="9730175" y="3470691"/>
            <a:ext cx="499304" cy="276999"/>
          </a:xfrm>
          <a:prstGeom prst="rect">
            <a:avLst/>
          </a:prstGeom>
          <a:blipFill rotWithShape="1">
            <a:blip r:embed="rId91">
              <a:alphaModFix/>
            </a:blip>
            <a:stretch>
              <a:fillRect b="-32607" l="-9754" r="-17072" t="-217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69" name="Google Shape;769;p51"/>
          <p:cNvSpPr txBox="1"/>
          <p:nvPr/>
        </p:nvSpPr>
        <p:spPr>
          <a:xfrm>
            <a:off x="9726969" y="3173511"/>
            <a:ext cx="505716" cy="276999"/>
          </a:xfrm>
          <a:prstGeom prst="rect">
            <a:avLst/>
          </a:prstGeom>
          <a:blipFill rotWithShape="1">
            <a:blip r:embed="rId92">
              <a:alphaModFix/>
            </a:blip>
            <a:stretch>
              <a:fillRect b="-35555" l="-10842" r="-16865" t="-4442"/>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0" name="Google Shape;770;p51"/>
          <p:cNvSpPr txBox="1"/>
          <p:nvPr/>
        </p:nvSpPr>
        <p:spPr>
          <a:xfrm>
            <a:off x="9726969" y="3806858"/>
            <a:ext cx="186268" cy="276999"/>
          </a:xfrm>
          <a:prstGeom prst="rect">
            <a:avLst/>
          </a:prstGeom>
          <a:blipFill rotWithShape="1">
            <a:blip r:embed="rId93">
              <a:alphaModFix/>
            </a:blip>
            <a:stretch>
              <a:fillRect b="-6520" l="-33332" r="-2999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1" name="Google Shape;771;p51"/>
          <p:cNvSpPr txBox="1"/>
          <p:nvPr/>
        </p:nvSpPr>
        <p:spPr>
          <a:xfrm>
            <a:off x="11001532" y="3568425"/>
            <a:ext cx="270202" cy="276999"/>
          </a:xfrm>
          <a:prstGeom prst="rect">
            <a:avLst/>
          </a:prstGeom>
          <a:blipFill rotWithShape="1">
            <a:blip r:embed="rId94">
              <a:alphaModFix/>
            </a:blip>
            <a:stretch>
              <a:fillRect b="-6520" l="-22726" r="-1590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2" name="Google Shape;772;p51"/>
          <p:cNvSpPr txBox="1"/>
          <p:nvPr/>
        </p:nvSpPr>
        <p:spPr>
          <a:xfrm>
            <a:off x="10843383" y="3890425"/>
            <a:ext cx="603370" cy="276999"/>
          </a:xfrm>
          <a:prstGeom prst="rect">
            <a:avLst/>
          </a:prstGeom>
          <a:blipFill rotWithShape="1">
            <a:blip r:embed="rId95">
              <a:alphaModFix/>
            </a:blip>
            <a:stretch>
              <a:fillRect b="-28259" l="-12120" r="-1312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3" name="Google Shape;773;p51"/>
          <p:cNvSpPr/>
          <p:nvPr/>
        </p:nvSpPr>
        <p:spPr>
          <a:xfrm>
            <a:off x="10395600" y="2955332"/>
            <a:ext cx="1498936" cy="659861"/>
          </a:xfrm>
          <a:prstGeom prst="rect">
            <a:avLst/>
          </a:prstGeom>
          <a:blipFill rotWithShape="1">
            <a:blip r:embed="rId9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4" name="Google Shape;774;p51"/>
          <p:cNvSpPr txBox="1"/>
          <p:nvPr/>
        </p:nvSpPr>
        <p:spPr>
          <a:xfrm>
            <a:off x="2659250" y="4148153"/>
            <a:ext cx="455702" cy="276999"/>
          </a:xfrm>
          <a:prstGeom prst="rect">
            <a:avLst/>
          </a:prstGeom>
          <a:blipFill rotWithShape="1">
            <a:blip r:embed="rId97">
              <a:alphaModFix/>
            </a:blip>
            <a:stretch>
              <a:fillRect b="-6520" l="-10666" r="-6665"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5" name="Google Shape;775;p51"/>
          <p:cNvSpPr txBox="1"/>
          <p:nvPr/>
        </p:nvSpPr>
        <p:spPr>
          <a:xfrm>
            <a:off x="2807851" y="4454587"/>
            <a:ext cx="403187" cy="276999"/>
          </a:xfrm>
          <a:prstGeom prst="rect">
            <a:avLst/>
          </a:prstGeom>
          <a:blipFill rotWithShape="1">
            <a:blip r:embed="rId98">
              <a:alphaModFix/>
            </a:blip>
            <a:stretch>
              <a:fillRect b="-6666" l="-15150" r="-4543"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6" name="Google Shape;776;p51"/>
          <p:cNvSpPr txBox="1"/>
          <p:nvPr/>
        </p:nvSpPr>
        <p:spPr>
          <a:xfrm>
            <a:off x="3058771" y="4731586"/>
            <a:ext cx="402033" cy="276999"/>
          </a:xfrm>
          <a:prstGeom prst="rect">
            <a:avLst/>
          </a:prstGeom>
          <a:blipFill rotWithShape="1">
            <a:blip r:embed="rId99">
              <a:alphaModFix/>
            </a:blip>
            <a:stretch>
              <a:fillRect b="0" l="-7574" r="-606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7" name="Google Shape;777;p51"/>
          <p:cNvSpPr txBox="1"/>
          <p:nvPr/>
        </p:nvSpPr>
        <p:spPr>
          <a:xfrm>
            <a:off x="3250310" y="5031764"/>
            <a:ext cx="435953" cy="276999"/>
          </a:xfrm>
          <a:prstGeom prst="rect">
            <a:avLst/>
          </a:prstGeom>
          <a:blipFill rotWithShape="1">
            <a:blip r:embed="rId100">
              <a:alphaModFix/>
            </a:blip>
            <a:stretch>
              <a:fillRect b="-6520" l="-11109" r="-6942"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8" name="Google Shape;778;p51"/>
          <p:cNvSpPr txBox="1"/>
          <p:nvPr/>
        </p:nvSpPr>
        <p:spPr>
          <a:xfrm>
            <a:off x="3458708" y="5305734"/>
            <a:ext cx="415370" cy="276999"/>
          </a:xfrm>
          <a:prstGeom prst="rect">
            <a:avLst/>
          </a:prstGeom>
          <a:blipFill rotWithShape="1">
            <a:blip r:embed="rId101">
              <a:alphaModFix/>
            </a:blip>
            <a:stretch>
              <a:fillRect b="-6520" l="-11593" r="-5796"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779" name="Google Shape;779;p51"/>
          <p:cNvSpPr/>
          <p:nvPr/>
        </p:nvSpPr>
        <p:spPr>
          <a:xfrm>
            <a:off x="302890" y="184854"/>
            <a:ext cx="11591646" cy="6571673"/>
          </a:xfrm>
          <a:prstGeom prst="roundRect">
            <a:avLst>
              <a:gd fmla="val 16667" name="adj"/>
            </a:avLst>
          </a:prstGeom>
          <a:noFill/>
          <a:ln cap="flat" cmpd="sng" w="5715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0" name="Google Shape;780;p51"/>
          <p:cNvSpPr txBox="1"/>
          <p:nvPr/>
        </p:nvSpPr>
        <p:spPr>
          <a:xfrm>
            <a:off x="8257309" y="688037"/>
            <a:ext cx="3008584" cy="12108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51"/>
          <p:cNvSpPr/>
          <p:nvPr/>
        </p:nvSpPr>
        <p:spPr>
          <a:xfrm>
            <a:off x="862989" y="535637"/>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2" name="Google Shape;782;p51"/>
          <p:cNvSpPr/>
          <p:nvPr/>
        </p:nvSpPr>
        <p:spPr>
          <a:xfrm>
            <a:off x="3134616" y="1449761"/>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3" name="Google Shape;783;p51"/>
          <p:cNvSpPr/>
          <p:nvPr/>
        </p:nvSpPr>
        <p:spPr>
          <a:xfrm>
            <a:off x="1958413" y="1224117"/>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4" name="Google Shape;784;p51"/>
          <p:cNvSpPr/>
          <p:nvPr/>
        </p:nvSpPr>
        <p:spPr>
          <a:xfrm>
            <a:off x="2102819" y="1499019"/>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5" name="Google Shape;785;p51"/>
          <p:cNvSpPr/>
          <p:nvPr/>
        </p:nvSpPr>
        <p:spPr>
          <a:xfrm>
            <a:off x="4079305" y="795400"/>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6" name="Google Shape;786;p51"/>
          <p:cNvSpPr/>
          <p:nvPr/>
        </p:nvSpPr>
        <p:spPr>
          <a:xfrm>
            <a:off x="4215041" y="1137402"/>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7" name="Google Shape;787;p51"/>
          <p:cNvSpPr/>
          <p:nvPr/>
        </p:nvSpPr>
        <p:spPr>
          <a:xfrm>
            <a:off x="877455" y="534843"/>
            <a:ext cx="10787009" cy="3581883"/>
          </a:xfrm>
          <a:custGeom>
            <a:rect b="b" l="l" r="r" t="t"/>
            <a:pathLst>
              <a:path extrusionOk="0" h="3581883" w="10787009">
                <a:moveTo>
                  <a:pt x="0" y="37812"/>
                </a:moveTo>
                <a:cubicBezTo>
                  <a:pt x="402551" y="96"/>
                  <a:pt x="805102" y="-37619"/>
                  <a:pt x="988290" y="74757"/>
                </a:cubicBezTo>
                <a:cubicBezTo>
                  <a:pt x="1171478" y="187133"/>
                  <a:pt x="1054485" y="559666"/>
                  <a:pt x="1099127" y="712066"/>
                </a:cubicBezTo>
                <a:cubicBezTo>
                  <a:pt x="1143769" y="864466"/>
                  <a:pt x="1088351" y="1007630"/>
                  <a:pt x="1256145" y="989157"/>
                </a:cubicBezTo>
                <a:cubicBezTo>
                  <a:pt x="1423939" y="970684"/>
                  <a:pt x="1930399" y="610466"/>
                  <a:pt x="2105890" y="601230"/>
                </a:cubicBezTo>
                <a:cubicBezTo>
                  <a:pt x="2281381" y="591994"/>
                  <a:pt x="2133599" y="987618"/>
                  <a:pt x="2309090" y="933739"/>
                </a:cubicBezTo>
                <a:cubicBezTo>
                  <a:pt x="2484581" y="879860"/>
                  <a:pt x="2994121" y="342611"/>
                  <a:pt x="3158836" y="277957"/>
                </a:cubicBezTo>
                <a:cubicBezTo>
                  <a:pt x="3323551" y="213303"/>
                  <a:pt x="3245042" y="462685"/>
                  <a:pt x="3297381" y="545812"/>
                </a:cubicBezTo>
                <a:cubicBezTo>
                  <a:pt x="3349720" y="628939"/>
                  <a:pt x="3417454" y="688976"/>
                  <a:pt x="3472872" y="776721"/>
                </a:cubicBezTo>
                <a:cubicBezTo>
                  <a:pt x="3528290" y="864466"/>
                  <a:pt x="3659138" y="918345"/>
                  <a:pt x="3629890" y="1072284"/>
                </a:cubicBezTo>
                <a:cubicBezTo>
                  <a:pt x="3600642" y="1226223"/>
                  <a:pt x="3335866" y="1566430"/>
                  <a:pt x="3297381" y="1700357"/>
                </a:cubicBezTo>
                <a:cubicBezTo>
                  <a:pt x="3258896" y="1834284"/>
                  <a:pt x="3363575" y="1791181"/>
                  <a:pt x="3398981" y="1875848"/>
                </a:cubicBezTo>
                <a:cubicBezTo>
                  <a:pt x="3434387" y="1960515"/>
                  <a:pt x="3471333" y="2097521"/>
                  <a:pt x="3509818" y="2208357"/>
                </a:cubicBezTo>
                <a:cubicBezTo>
                  <a:pt x="3548303" y="2319193"/>
                  <a:pt x="3509817" y="2517775"/>
                  <a:pt x="3629890" y="2540866"/>
                </a:cubicBezTo>
                <a:cubicBezTo>
                  <a:pt x="3749963" y="2563957"/>
                  <a:pt x="4145587" y="2434647"/>
                  <a:pt x="4230254" y="2346902"/>
                </a:cubicBezTo>
                <a:cubicBezTo>
                  <a:pt x="4314921" y="2259157"/>
                  <a:pt x="4171757" y="2105217"/>
                  <a:pt x="4137890" y="2014393"/>
                </a:cubicBezTo>
                <a:cubicBezTo>
                  <a:pt x="4104023" y="1923569"/>
                  <a:pt x="4074775" y="1882006"/>
                  <a:pt x="4027054" y="1801957"/>
                </a:cubicBezTo>
                <a:cubicBezTo>
                  <a:pt x="3979333" y="1721909"/>
                  <a:pt x="3819236" y="1668029"/>
                  <a:pt x="3851563" y="1534102"/>
                </a:cubicBezTo>
                <a:cubicBezTo>
                  <a:pt x="3883890" y="1400175"/>
                  <a:pt x="4180994" y="1135399"/>
                  <a:pt x="4221018" y="998393"/>
                </a:cubicBezTo>
                <a:cubicBezTo>
                  <a:pt x="4261042" y="861387"/>
                  <a:pt x="4130194" y="793654"/>
                  <a:pt x="4091709" y="712066"/>
                </a:cubicBezTo>
                <a:cubicBezTo>
                  <a:pt x="4053224" y="630478"/>
                  <a:pt x="4030133" y="584296"/>
                  <a:pt x="3990109" y="508866"/>
                </a:cubicBezTo>
                <a:cubicBezTo>
                  <a:pt x="3950085" y="433436"/>
                  <a:pt x="3671454" y="200987"/>
                  <a:pt x="3851563" y="259484"/>
                </a:cubicBezTo>
                <a:cubicBezTo>
                  <a:pt x="4031672" y="317981"/>
                  <a:pt x="4858327" y="722842"/>
                  <a:pt x="5070763" y="859848"/>
                </a:cubicBezTo>
                <a:cubicBezTo>
                  <a:pt x="5283199" y="996854"/>
                  <a:pt x="5093854" y="999933"/>
                  <a:pt x="5126181" y="1081521"/>
                </a:cubicBezTo>
                <a:cubicBezTo>
                  <a:pt x="5158508" y="1163109"/>
                  <a:pt x="5230860" y="1244696"/>
                  <a:pt x="5264727" y="1349375"/>
                </a:cubicBezTo>
                <a:cubicBezTo>
                  <a:pt x="5298594" y="1454054"/>
                  <a:pt x="5258569" y="1744999"/>
                  <a:pt x="5329381" y="1709593"/>
                </a:cubicBezTo>
                <a:cubicBezTo>
                  <a:pt x="5400193" y="1674187"/>
                  <a:pt x="5524885" y="1293957"/>
                  <a:pt x="5689600" y="1136939"/>
                </a:cubicBezTo>
                <a:cubicBezTo>
                  <a:pt x="5854315" y="979921"/>
                  <a:pt x="6188363" y="778260"/>
                  <a:pt x="6317672" y="767484"/>
                </a:cubicBezTo>
                <a:cubicBezTo>
                  <a:pt x="6446981" y="756708"/>
                  <a:pt x="6408496" y="979920"/>
                  <a:pt x="6465454" y="1072284"/>
                </a:cubicBezTo>
                <a:cubicBezTo>
                  <a:pt x="6522412" y="1164648"/>
                  <a:pt x="6617854" y="1238539"/>
                  <a:pt x="6659418" y="1321666"/>
                </a:cubicBezTo>
                <a:cubicBezTo>
                  <a:pt x="6700982" y="1404793"/>
                  <a:pt x="6677891" y="1483303"/>
                  <a:pt x="6714836" y="1571048"/>
                </a:cubicBezTo>
                <a:cubicBezTo>
                  <a:pt x="6751781" y="1658794"/>
                  <a:pt x="6747163" y="1731145"/>
                  <a:pt x="6881090" y="1848139"/>
                </a:cubicBezTo>
                <a:cubicBezTo>
                  <a:pt x="7015017" y="1965133"/>
                  <a:pt x="7409103" y="2139085"/>
                  <a:pt x="7518400" y="2273012"/>
                </a:cubicBezTo>
                <a:cubicBezTo>
                  <a:pt x="7627697" y="2406939"/>
                  <a:pt x="7538411" y="2519314"/>
                  <a:pt x="7536872" y="2651702"/>
                </a:cubicBezTo>
                <a:cubicBezTo>
                  <a:pt x="7535333" y="2784090"/>
                  <a:pt x="7516860" y="2942648"/>
                  <a:pt x="7509163" y="3067339"/>
                </a:cubicBezTo>
                <a:cubicBezTo>
                  <a:pt x="7501466" y="3192030"/>
                  <a:pt x="7481454" y="3315181"/>
                  <a:pt x="7490690" y="3399848"/>
                </a:cubicBezTo>
                <a:cubicBezTo>
                  <a:pt x="7499926" y="3484515"/>
                  <a:pt x="7487611" y="3612285"/>
                  <a:pt x="7564581" y="3575339"/>
                </a:cubicBezTo>
                <a:cubicBezTo>
                  <a:pt x="7641551" y="3538394"/>
                  <a:pt x="7870921" y="3319799"/>
                  <a:pt x="7952509" y="3178175"/>
                </a:cubicBezTo>
                <a:cubicBezTo>
                  <a:pt x="8034097" y="3036551"/>
                  <a:pt x="7981758" y="2771775"/>
                  <a:pt x="8054109" y="2725593"/>
                </a:cubicBezTo>
                <a:cubicBezTo>
                  <a:pt x="8126460" y="2679411"/>
                  <a:pt x="8269624" y="2874914"/>
                  <a:pt x="8386618" y="2901084"/>
                </a:cubicBezTo>
                <a:cubicBezTo>
                  <a:pt x="8503612" y="2927254"/>
                  <a:pt x="8614448" y="2938030"/>
                  <a:pt x="8756072" y="2882612"/>
                </a:cubicBezTo>
                <a:cubicBezTo>
                  <a:pt x="8897696" y="2827194"/>
                  <a:pt x="9130145" y="2556260"/>
                  <a:pt x="9236363" y="2568575"/>
                </a:cubicBezTo>
                <a:cubicBezTo>
                  <a:pt x="9342581" y="2580890"/>
                  <a:pt x="9371830" y="2816417"/>
                  <a:pt x="9393381" y="2956502"/>
                </a:cubicBezTo>
                <a:cubicBezTo>
                  <a:pt x="9414932" y="3096587"/>
                  <a:pt x="9143999" y="3502987"/>
                  <a:pt x="9365672" y="3409084"/>
                </a:cubicBezTo>
                <a:cubicBezTo>
                  <a:pt x="9587345" y="3315181"/>
                  <a:pt x="10520218" y="2440805"/>
                  <a:pt x="10723418" y="2393084"/>
                </a:cubicBezTo>
                <a:cubicBezTo>
                  <a:pt x="10926618" y="2345363"/>
                  <a:pt x="10577175" y="2947266"/>
                  <a:pt x="10584872" y="3122757"/>
                </a:cubicBezTo>
                <a:cubicBezTo>
                  <a:pt x="10592569" y="3298248"/>
                  <a:pt x="10741891" y="3382915"/>
                  <a:pt x="10769600" y="3446030"/>
                </a:cubicBezTo>
                <a:cubicBezTo>
                  <a:pt x="10797309" y="3509145"/>
                  <a:pt x="10751127" y="3501448"/>
                  <a:pt x="10751127" y="3501448"/>
                </a:cubicBezTo>
                <a:lnTo>
                  <a:pt x="10751127" y="3501448"/>
                </a:lnTo>
                <a:lnTo>
                  <a:pt x="10695709" y="3473739"/>
                </a:lnTo>
              </a:path>
            </a:pathLst>
          </a:cu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8" name="Google Shape;788;p51"/>
          <p:cNvSpPr/>
          <p:nvPr/>
        </p:nvSpPr>
        <p:spPr>
          <a:xfrm>
            <a:off x="2982877" y="1117436"/>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89" name="Google Shape;789;p51"/>
          <p:cNvSpPr/>
          <p:nvPr/>
        </p:nvSpPr>
        <p:spPr>
          <a:xfrm>
            <a:off x="4401616" y="1380981"/>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0" name="Google Shape;790;p51"/>
          <p:cNvSpPr/>
          <p:nvPr/>
        </p:nvSpPr>
        <p:spPr>
          <a:xfrm>
            <a:off x="4462304" y="1653855"/>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1" name="Google Shape;791;p51"/>
          <p:cNvSpPr/>
          <p:nvPr/>
        </p:nvSpPr>
        <p:spPr>
          <a:xfrm>
            <a:off x="4282523" y="2471448"/>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2" name="Google Shape;792;p51"/>
          <p:cNvSpPr/>
          <p:nvPr/>
        </p:nvSpPr>
        <p:spPr>
          <a:xfrm>
            <a:off x="4767104" y="1958655"/>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3" name="Google Shape;793;p51"/>
          <p:cNvSpPr/>
          <p:nvPr/>
        </p:nvSpPr>
        <p:spPr>
          <a:xfrm>
            <a:off x="4374866" y="2774476"/>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4" name="Google Shape;794;p51"/>
          <p:cNvSpPr/>
          <p:nvPr/>
        </p:nvSpPr>
        <p:spPr>
          <a:xfrm>
            <a:off x="4462304" y="3038900"/>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5" name="Google Shape;795;p51"/>
          <p:cNvSpPr/>
          <p:nvPr/>
        </p:nvSpPr>
        <p:spPr>
          <a:xfrm>
            <a:off x="5085700" y="2867081"/>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6" name="Google Shape;796;p51"/>
          <p:cNvSpPr/>
          <p:nvPr/>
        </p:nvSpPr>
        <p:spPr>
          <a:xfrm>
            <a:off x="5042770" y="2596568"/>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7" name="Google Shape;797;p51"/>
          <p:cNvSpPr/>
          <p:nvPr/>
        </p:nvSpPr>
        <p:spPr>
          <a:xfrm>
            <a:off x="4919479" y="2379424"/>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8" name="Google Shape;798;p51"/>
          <p:cNvSpPr/>
          <p:nvPr/>
        </p:nvSpPr>
        <p:spPr>
          <a:xfrm>
            <a:off x="5071403" y="1542555"/>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99" name="Google Shape;799;p51"/>
          <p:cNvSpPr/>
          <p:nvPr/>
        </p:nvSpPr>
        <p:spPr>
          <a:xfrm>
            <a:off x="4965198" y="1253467"/>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0" name="Google Shape;800;p51"/>
          <p:cNvSpPr/>
          <p:nvPr/>
        </p:nvSpPr>
        <p:spPr>
          <a:xfrm>
            <a:off x="4875070" y="1090564"/>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1" name="Google Shape;801;p51"/>
          <p:cNvSpPr/>
          <p:nvPr/>
        </p:nvSpPr>
        <p:spPr>
          <a:xfrm>
            <a:off x="4671427" y="799984"/>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2" name="Google Shape;802;p51"/>
          <p:cNvSpPr/>
          <p:nvPr/>
        </p:nvSpPr>
        <p:spPr>
          <a:xfrm>
            <a:off x="5857443" y="1349129"/>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3" name="Google Shape;803;p51"/>
          <p:cNvSpPr/>
          <p:nvPr/>
        </p:nvSpPr>
        <p:spPr>
          <a:xfrm>
            <a:off x="4143666" y="2213264"/>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4" name="Google Shape;804;p51"/>
          <p:cNvSpPr/>
          <p:nvPr/>
        </p:nvSpPr>
        <p:spPr>
          <a:xfrm>
            <a:off x="6009843" y="1501529"/>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5" name="Google Shape;805;p51"/>
          <p:cNvSpPr/>
          <p:nvPr/>
        </p:nvSpPr>
        <p:spPr>
          <a:xfrm>
            <a:off x="6133895" y="1921930"/>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6" name="Google Shape;806;p51"/>
          <p:cNvSpPr/>
          <p:nvPr/>
        </p:nvSpPr>
        <p:spPr>
          <a:xfrm>
            <a:off x="6139190" y="2194683"/>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7" name="Google Shape;807;p51"/>
          <p:cNvSpPr/>
          <p:nvPr/>
        </p:nvSpPr>
        <p:spPr>
          <a:xfrm>
            <a:off x="6540540" y="1671585"/>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8" name="Google Shape;808;p51"/>
          <p:cNvSpPr/>
          <p:nvPr/>
        </p:nvSpPr>
        <p:spPr>
          <a:xfrm>
            <a:off x="7195266" y="1287639"/>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09" name="Google Shape;809;p51"/>
          <p:cNvSpPr/>
          <p:nvPr/>
        </p:nvSpPr>
        <p:spPr>
          <a:xfrm>
            <a:off x="7366365" y="1645062"/>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0" name="Google Shape;810;p51"/>
          <p:cNvSpPr/>
          <p:nvPr/>
        </p:nvSpPr>
        <p:spPr>
          <a:xfrm>
            <a:off x="7528864" y="1878540"/>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1" name="Google Shape;811;p51"/>
          <p:cNvSpPr/>
          <p:nvPr/>
        </p:nvSpPr>
        <p:spPr>
          <a:xfrm>
            <a:off x="7604660" y="2140403"/>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2" name="Google Shape;812;p51"/>
          <p:cNvSpPr/>
          <p:nvPr/>
        </p:nvSpPr>
        <p:spPr>
          <a:xfrm>
            <a:off x="7714540" y="2369122"/>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3" name="Google Shape;813;p51"/>
          <p:cNvSpPr/>
          <p:nvPr/>
        </p:nvSpPr>
        <p:spPr>
          <a:xfrm>
            <a:off x="8368747" y="2760389"/>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4" name="Google Shape;814;p51"/>
          <p:cNvSpPr/>
          <p:nvPr/>
        </p:nvSpPr>
        <p:spPr>
          <a:xfrm>
            <a:off x="8402732" y="3107738"/>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5" name="Google Shape;815;p51"/>
          <p:cNvSpPr/>
          <p:nvPr/>
        </p:nvSpPr>
        <p:spPr>
          <a:xfrm>
            <a:off x="8372124" y="3517713"/>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6" name="Google Shape;816;p51"/>
          <p:cNvSpPr/>
          <p:nvPr/>
        </p:nvSpPr>
        <p:spPr>
          <a:xfrm>
            <a:off x="8343634" y="3826898"/>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7" name="Google Shape;817;p51"/>
          <p:cNvSpPr/>
          <p:nvPr/>
        </p:nvSpPr>
        <p:spPr>
          <a:xfrm>
            <a:off x="8391606" y="4100931"/>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8" name="Google Shape;818;p51"/>
          <p:cNvSpPr/>
          <p:nvPr/>
        </p:nvSpPr>
        <p:spPr>
          <a:xfrm>
            <a:off x="8907725" y="3273345"/>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9" name="Google Shape;819;p51"/>
          <p:cNvSpPr/>
          <p:nvPr/>
        </p:nvSpPr>
        <p:spPr>
          <a:xfrm>
            <a:off x="8835288" y="3631228"/>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0" name="Google Shape;820;p51"/>
          <p:cNvSpPr/>
          <p:nvPr/>
        </p:nvSpPr>
        <p:spPr>
          <a:xfrm>
            <a:off x="9172633" y="3387032"/>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1" name="Google Shape;821;p51"/>
          <p:cNvSpPr/>
          <p:nvPr/>
        </p:nvSpPr>
        <p:spPr>
          <a:xfrm>
            <a:off x="9466032" y="3424971"/>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2" name="Google Shape;822;p51"/>
          <p:cNvSpPr/>
          <p:nvPr/>
        </p:nvSpPr>
        <p:spPr>
          <a:xfrm>
            <a:off x="10085458" y="3097940"/>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3" name="Google Shape;823;p51"/>
          <p:cNvSpPr/>
          <p:nvPr/>
        </p:nvSpPr>
        <p:spPr>
          <a:xfrm>
            <a:off x="10246917" y="3527986"/>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4" name="Google Shape;824;p51"/>
          <p:cNvSpPr/>
          <p:nvPr/>
        </p:nvSpPr>
        <p:spPr>
          <a:xfrm>
            <a:off x="10206619" y="3939041"/>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5" name="Google Shape;825;p51"/>
          <p:cNvSpPr/>
          <p:nvPr/>
        </p:nvSpPr>
        <p:spPr>
          <a:xfrm>
            <a:off x="11577092" y="2912800"/>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6" name="Google Shape;826;p51"/>
          <p:cNvSpPr/>
          <p:nvPr/>
        </p:nvSpPr>
        <p:spPr>
          <a:xfrm>
            <a:off x="11445239" y="3646852"/>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7" name="Google Shape;827;p51"/>
          <p:cNvSpPr/>
          <p:nvPr/>
        </p:nvSpPr>
        <p:spPr>
          <a:xfrm>
            <a:off x="11532749" y="4003985"/>
            <a:ext cx="45719" cy="45719"/>
          </a:xfrm>
          <a:prstGeom prst="flowChartConnector">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28" name="Google Shape;828;p51"/>
          <p:cNvSpPr txBox="1"/>
          <p:nvPr/>
        </p:nvSpPr>
        <p:spPr>
          <a:xfrm>
            <a:off x="7528431" y="920040"/>
            <a:ext cx="4108115"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000">
                <a:solidFill>
                  <a:schemeClr val="dk1"/>
                </a:solidFill>
                <a:latin typeface="Times New Roman"/>
                <a:ea typeface="Times New Roman"/>
                <a:cs typeface="Times New Roman"/>
                <a:sym typeface="Times New Roman"/>
              </a:rPr>
              <a:t>Full Connectedness &amp;</a:t>
            </a:r>
            <a:endParaRPr/>
          </a:p>
          <a:p>
            <a:pPr indent="0" lvl="0" marL="0" marR="0" rtl="0" algn="ctr">
              <a:spcBef>
                <a:spcPts val="0"/>
              </a:spcBef>
              <a:spcAft>
                <a:spcPts val="0"/>
              </a:spcAft>
              <a:buNone/>
            </a:pPr>
            <a:r>
              <a:rPr i="1" lang="en-US" sz="2000">
                <a:solidFill>
                  <a:schemeClr val="dk1"/>
                </a:solidFill>
                <a:latin typeface="Times New Roman"/>
                <a:ea typeface="Times New Roman"/>
                <a:cs typeface="Times New Roman"/>
                <a:sym typeface="Times New Roman"/>
              </a:rPr>
              <a:t>Mulyiplicity of path</a:t>
            </a:r>
            <a:endParaRPr/>
          </a:p>
          <a:p>
            <a:pPr indent="0" lvl="0" marL="0" marR="0" rtl="0" algn="ctr">
              <a:spcBef>
                <a:spcPts val="0"/>
              </a:spcBef>
              <a:spcAft>
                <a:spcPts val="0"/>
              </a:spcAft>
              <a:buNone/>
            </a:pPr>
            <a:r>
              <a:rPr i="1" lang="en-US" sz="2000">
                <a:solidFill>
                  <a:schemeClr val="dk1"/>
                </a:solidFill>
                <a:latin typeface="Times New Roman"/>
                <a:ea typeface="Times New Roman"/>
                <a:cs typeface="Times New Roman"/>
                <a:sym typeface="Times New Roman"/>
              </a:rPr>
              <a:t>Guaranteed For All</a:t>
            </a:r>
            <a:endParaRPr/>
          </a:p>
        </p:txBody>
      </p:sp>
      <p:sp>
        <p:nvSpPr>
          <p:cNvPr id="829" name="Google Shape;829;p51"/>
          <p:cNvSpPr txBox="1"/>
          <p:nvPr/>
        </p:nvSpPr>
        <p:spPr>
          <a:xfrm>
            <a:off x="7485883" y="386337"/>
            <a:ext cx="4108115"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2800">
                <a:solidFill>
                  <a:schemeClr val="dk1"/>
                </a:solidFill>
                <a:latin typeface="Times New Roman"/>
                <a:ea typeface="Times New Roman"/>
                <a:cs typeface="Times New Roman"/>
                <a:sym typeface="Times New Roman"/>
              </a:rPr>
              <a:t>Abstraction of Justice</a:t>
            </a:r>
            <a:endParaRPr/>
          </a:p>
        </p:txBody>
      </p:sp>
    </p:spTree>
  </p:cSld>
  <p:clrMapOvr>
    <a:masterClrMapping/>
  </p:clrMapOvr>
  <p:transition spd="slow">
    <p:push/>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pic>
        <p:nvPicPr>
          <p:cNvPr id="834" name="Google Shape;834;p54"/>
          <p:cNvPicPr preferRelativeResize="0"/>
          <p:nvPr>
            <p:ph idx="1" type="body"/>
          </p:nvPr>
        </p:nvPicPr>
        <p:blipFill rotWithShape="1">
          <a:blip r:embed="rId3">
            <a:alphaModFix/>
          </a:blip>
          <a:srcRect b="0" l="0" r="0" t="0"/>
          <a:stretch/>
        </p:blipFill>
        <p:spPr>
          <a:xfrm>
            <a:off x="150406" y="1701838"/>
            <a:ext cx="10905066" cy="1826597"/>
          </a:xfrm>
          <a:prstGeom prst="rect">
            <a:avLst/>
          </a:prstGeom>
          <a:noFill/>
          <a:ln>
            <a:noFill/>
          </a:ln>
        </p:spPr>
      </p:pic>
      <p:pic>
        <p:nvPicPr>
          <p:cNvPr id="835" name="Google Shape;835;p54"/>
          <p:cNvPicPr preferRelativeResize="0"/>
          <p:nvPr/>
        </p:nvPicPr>
        <p:blipFill rotWithShape="1">
          <a:blip r:embed="rId4">
            <a:alphaModFix/>
          </a:blip>
          <a:srcRect b="0" l="0" r="0" t="0"/>
          <a:stretch/>
        </p:blipFill>
        <p:spPr>
          <a:xfrm>
            <a:off x="3102657" y="3894063"/>
            <a:ext cx="4767485" cy="2633700"/>
          </a:xfrm>
          <a:prstGeom prst="rect">
            <a:avLst/>
          </a:prstGeom>
          <a:noFill/>
          <a:ln>
            <a:noFill/>
          </a:ln>
        </p:spPr>
      </p:pic>
      <p:sp>
        <p:nvSpPr>
          <p:cNvPr id="836" name="Google Shape;836;p54"/>
          <p:cNvSpPr txBox="1"/>
          <p:nvPr/>
        </p:nvSpPr>
        <p:spPr>
          <a:xfrm>
            <a:off x="2277035" y="403411"/>
            <a:ext cx="6849035" cy="369332"/>
          </a:xfrm>
          <a:prstGeom prst="rect">
            <a:avLst/>
          </a:prstGeom>
          <a:blipFill rotWithShape="1">
            <a:blip r:embed="rId5">
              <a:alphaModFix/>
            </a:blip>
            <a:stretch>
              <a:fillRect b="-24589" l="0" r="0" t="-81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Tree>
  </p:cSld>
  <p:clrMapOvr>
    <a:masterClrMapping/>
  </p:clrMapOvr>
  <p:transition spd="slow">
    <p:push/>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14141"/>
        </a:solidFill>
      </p:bgPr>
    </p:bg>
    <p:spTree>
      <p:nvGrpSpPr>
        <p:cNvPr id="840" name="Shape 840"/>
        <p:cNvGrpSpPr/>
        <p:nvPr/>
      </p:nvGrpSpPr>
      <p:grpSpPr>
        <a:xfrm>
          <a:off x="0" y="0"/>
          <a:ext cx="0" cy="0"/>
          <a:chOff x="0" y="0"/>
          <a:chExt cx="0" cy="0"/>
        </a:xfrm>
      </p:grpSpPr>
      <p:sp>
        <p:nvSpPr>
          <p:cNvPr id="841" name="Google Shape;841;p55"/>
          <p:cNvSpPr/>
          <p:nvPr/>
        </p:nvSpPr>
        <p:spPr>
          <a:xfrm>
            <a:off x="5761975" y="361702"/>
            <a:ext cx="1691640" cy="1691640"/>
          </a:xfrm>
          <a:custGeom>
            <a:rect b="b" l="l" r="r" t="t"/>
            <a:pathLst>
              <a:path extrusionOk="0" h="1691640" w="1691640">
                <a:moveTo>
                  <a:pt x="845820" y="0"/>
                </a:moveTo>
                <a:cubicBezTo>
                  <a:pt x="1312954" y="0"/>
                  <a:pt x="1691640" y="378686"/>
                  <a:pt x="1691640" y="845820"/>
                </a:cubicBezTo>
                <a:cubicBezTo>
                  <a:pt x="1691640" y="1312954"/>
                  <a:pt x="1312954" y="1691640"/>
                  <a:pt x="845820" y="1691640"/>
                </a:cubicBezTo>
                <a:cubicBezTo>
                  <a:pt x="378687" y="1691640"/>
                  <a:pt x="0" y="1312954"/>
                  <a:pt x="0" y="845820"/>
                </a:cubicBezTo>
                <a:cubicBezTo>
                  <a:pt x="0" y="378686"/>
                  <a:pt x="378687" y="0"/>
                  <a:pt x="84582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2" name="Google Shape;842;p55"/>
          <p:cNvSpPr txBox="1"/>
          <p:nvPr>
            <p:ph idx="1" type="body"/>
          </p:nvPr>
        </p:nvSpPr>
        <p:spPr>
          <a:xfrm>
            <a:off x="913872" y="2110721"/>
            <a:ext cx="4426757" cy="2020825"/>
          </a:xfrm>
          <a:prstGeom prst="rect">
            <a:avLst/>
          </a:prstGeom>
          <a:noFill/>
          <a:ln>
            <a:noFill/>
          </a:ln>
        </p:spPr>
        <p:txBody>
          <a:bodyPr anchorCtr="0" anchor="t" bIns="45700" lIns="91425" spcFirstLastPara="1" rIns="91425" wrap="square" tIns="45700">
            <a:normAutofit/>
          </a:bodyPr>
          <a:lstStyle/>
          <a:p>
            <a:pPr indent="0" lvl="0" marL="0" rtl="1" algn="r">
              <a:lnSpc>
                <a:spcPct val="115000"/>
              </a:lnSpc>
              <a:spcBef>
                <a:spcPts val="1200"/>
              </a:spcBef>
              <a:spcAft>
                <a:spcPts val="0"/>
              </a:spcAft>
              <a:buClr>
                <a:schemeClr val="dk1"/>
              </a:buClr>
              <a:buSzPts val="1100"/>
              <a:buFont typeface="Arial"/>
              <a:buNone/>
            </a:pPr>
            <a:r>
              <a:rPr lang="en-US" sz="1800"/>
              <a:t>نتایج انتگرال‌های کامل </a:t>
            </a:r>
            <a:endParaRPr sz="1800"/>
          </a:p>
          <a:p>
            <a:pPr indent="-114300" lvl="0" marL="228600" rtl="0" algn="l">
              <a:lnSpc>
                <a:spcPct val="90000"/>
              </a:lnSpc>
              <a:spcBef>
                <a:spcPts val="1200"/>
              </a:spcBef>
              <a:spcAft>
                <a:spcPts val="0"/>
              </a:spcAft>
              <a:buClr>
                <a:schemeClr val="lt1"/>
              </a:buClr>
              <a:buSzPts val="1800"/>
              <a:buNone/>
            </a:pPr>
            <a:r>
              <a:t/>
            </a:r>
            <a:endParaRPr sz="1800"/>
          </a:p>
        </p:txBody>
      </p:sp>
      <p:sp>
        <p:nvSpPr>
          <p:cNvPr id="843" name="Google Shape;843;p55"/>
          <p:cNvSpPr/>
          <p:nvPr/>
        </p:nvSpPr>
        <p:spPr>
          <a:xfrm>
            <a:off x="5597383" y="197110"/>
            <a:ext cx="2020824" cy="2020824"/>
          </a:xfrm>
          <a:prstGeom prst="ellipse">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descr="A picture containing tree, outdoor, sky, water&#10;&#10;Description automatically generated" id="844" name="Google Shape;844;p55"/>
          <p:cNvPicPr preferRelativeResize="0"/>
          <p:nvPr/>
        </p:nvPicPr>
        <p:blipFill rotWithShape="1">
          <a:blip r:embed="rId3">
            <a:alphaModFix/>
          </a:blip>
          <a:srcRect b="0" l="0" r="0" t="0"/>
          <a:stretch/>
        </p:blipFill>
        <p:spPr>
          <a:xfrm>
            <a:off x="6178332" y="715300"/>
            <a:ext cx="858927" cy="984444"/>
          </a:xfrm>
          <a:prstGeom prst="rect">
            <a:avLst/>
          </a:prstGeom>
          <a:noFill/>
          <a:ln>
            <a:noFill/>
          </a:ln>
        </p:spPr>
      </p:pic>
      <p:sp>
        <p:nvSpPr>
          <p:cNvPr id="845" name="Google Shape;845;p55"/>
          <p:cNvSpPr/>
          <p:nvPr/>
        </p:nvSpPr>
        <p:spPr>
          <a:xfrm>
            <a:off x="5933788" y="2715337"/>
            <a:ext cx="2743200" cy="2743200"/>
          </a:xfrm>
          <a:custGeom>
            <a:rect b="b" l="l" r="r" t="t"/>
            <a:pathLst>
              <a:path extrusionOk="0" h="2743200" w="2743200">
                <a:moveTo>
                  <a:pt x="1371600" y="0"/>
                </a:moveTo>
                <a:cubicBezTo>
                  <a:pt x="2129114" y="0"/>
                  <a:pt x="2743200" y="614087"/>
                  <a:pt x="2743200" y="1371600"/>
                </a:cubicBezTo>
                <a:cubicBezTo>
                  <a:pt x="2743200" y="2129114"/>
                  <a:pt x="2129114" y="2743200"/>
                  <a:pt x="1371600" y="2743200"/>
                </a:cubicBezTo>
                <a:cubicBezTo>
                  <a:pt x="614087" y="2743200"/>
                  <a:pt x="0" y="2129114"/>
                  <a:pt x="0" y="1371600"/>
                </a:cubicBezTo>
                <a:cubicBezTo>
                  <a:pt x="0" y="614087"/>
                  <a:pt x="614087" y="0"/>
                  <a:pt x="1371600"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55"/>
          <p:cNvSpPr/>
          <p:nvPr/>
        </p:nvSpPr>
        <p:spPr>
          <a:xfrm>
            <a:off x="8278624" y="2"/>
            <a:ext cx="3913376" cy="3281569"/>
          </a:xfrm>
          <a:custGeom>
            <a:rect b="b" l="l" r="r" t="t"/>
            <a:pathLst>
              <a:path extrusionOk="0" h="3281569" w="3913376">
                <a:moveTo>
                  <a:pt x="267865" y="0"/>
                </a:moveTo>
                <a:lnTo>
                  <a:pt x="3913376" y="0"/>
                </a:lnTo>
                <a:lnTo>
                  <a:pt x="3913376" y="2499938"/>
                </a:lnTo>
                <a:lnTo>
                  <a:pt x="3794714" y="2630499"/>
                </a:lnTo>
                <a:cubicBezTo>
                  <a:pt x="3392450" y="3032763"/>
                  <a:pt x="2836727" y="3281569"/>
                  <a:pt x="2222892" y="3281569"/>
                </a:cubicBezTo>
                <a:cubicBezTo>
                  <a:pt x="995223" y="3281569"/>
                  <a:pt x="0" y="2286346"/>
                  <a:pt x="0" y="1058677"/>
                </a:cubicBezTo>
                <a:cubicBezTo>
                  <a:pt x="0" y="751760"/>
                  <a:pt x="62202" y="459370"/>
                  <a:pt x="174686" y="19342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 name="Google Shape;847;p55"/>
          <p:cNvSpPr/>
          <p:nvPr/>
        </p:nvSpPr>
        <p:spPr>
          <a:xfrm>
            <a:off x="8114932" y="1"/>
            <a:ext cx="4077068" cy="3445261"/>
          </a:xfrm>
          <a:custGeom>
            <a:rect b="b" l="l" r="r" t="t"/>
            <a:pathLst>
              <a:path extrusionOk="0" h="3445261" w="4077068">
                <a:moveTo>
                  <a:pt x="250035" y="0"/>
                </a:moveTo>
                <a:lnTo>
                  <a:pt x="4077068" y="0"/>
                </a:lnTo>
                <a:lnTo>
                  <a:pt x="4077068" y="2743040"/>
                </a:lnTo>
                <a:lnTo>
                  <a:pt x="4074154" y="2746247"/>
                </a:lnTo>
                <a:cubicBezTo>
                  <a:pt x="3642267" y="3178134"/>
                  <a:pt x="3045621" y="3445261"/>
                  <a:pt x="2386584" y="3445261"/>
                </a:cubicBezTo>
                <a:cubicBezTo>
                  <a:pt x="1068510" y="3445261"/>
                  <a:pt x="0" y="2376751"/>
                  <a:pt x="0" y="1058677"/>
                </a:cubicBezTo>
                <a:cubicBezTo>
                  <a:pt x="0" y="729159"/>
                  <a:pt x="66782" y="415238"/>
                  <a:pt x="187550" y="129711"/>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pic>
        <p:nvPicPr>
          <p:cNvPr id="848" name="Google Shape;848;p55"/>
          <p:cNvPicPr preferRelativeResize="0"/>
          <p:nvPr/>
        </p:nvPicPr>
        <p:blipFill rotWithShape="1">
          <a:blip r:embed="rId4">
            <a:alphaModFix/>
          </a:blip>
          <a:srcRect b="0" l="0" r="0" t="0"/>
          <a:stretch/>
        </p:blipFill>
        <p:spPr>
          <a:xfrm>
            <a:off x="9009416" y="619950"/>
            <a:ext cx="2852862" cy="1576206"/>
          </a:xfrm>
          <a:prstGeom prst="rect">
            <a:avLst/>
          </a:prstGeom>
          <a:noFill/>
          <a:ln>
            <a:noFill/>
          </a:ln>
        </p:spPr>
      </p:pic>
      <p:sp>
        <p:nvSpPr>
          <p:cNvPr id="849" name="Google Shape;849;p55"/>
          <p:cNvSpPr/>
          <p:nvPr/>
        </p:nvSpPr>
        <p:spPr>
          <a:xfrm>
            <a:off x="5769196" y="2550745"/>
            <a:ext cx="3072384" cy="3072384"/>
          </a:xfrm>
          <a:prstGeom prst="ellipse">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0" name="Google Shape;850;p55"/>
          <p:cNvSpPr/>
          <p:nvPr/>
        </p:nvSpPr>
        <p:spPr>
          <a:xfrm>
            <a:off x="1700930" y="4604085"/>
            <a:ext cx="4281112" cy="2253913"/>
          </a:xfrm>
          <a:custGeom>
            <a:rect b="b" l="l" r="r" t="t"/>
            <a:pathLst>
              <a:path extrusionOk="0" h="2253913" w="4281112">
                <a:moveTo>
                  <a:pt x="2140556" y="0"/>
                </a:moveTo>
                <a:cubicBezTo>
                  <a:pt x="3322752" y="0"/>
                  <a:pt x="4281112" y="958360"/>
                  <a:pt x="4281112" y="2140556"/>
                </a:cubicBezTo>
                <a:lnTo>
                  <a:pt x="4275388" y="2253913"/>
                </a:lnTo>
                <a:lnTo>
                  <a:pt x="5724" y="2253913"/>
                </a:lnTo>
                <a:lnTo>
                  <a:pt x="0" y="2140556"/>
                </a:lnTo>
                <a:cubicBezTo>
                  <a:pt x="0" y="958360"/>
                  <a:pt x="958360" y="0"/>
                  <a:pt x="2140556" y="0"/>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1" name="Google Shape;851;p55"/>
          <p:cNvSpPr/>
          <p:nvPr/>
        </p:nvSpPr>
        <p:spPr>
          <a:xfrm>
            <a:off x="0" y="4250935"/>
            <a:ext cx="1732108" cy="2175118"/>
          </a:xfrm>
          <a:custGeom>
            <a:rect b="b" l="l" r="r" t="t"/>
            <a:pathLst>
              <a:path extrusionOk="0" h="2175118" w="1732108">
                <a:moveTo>
                  <a:pt x="644549" y="0"/>
                </a:moveTo>
                <a:cubicBezTo>
                  <a:pt x="1245191" y="0"/>
                  <a:pt x="1732108" y="486917"/>
                  <a:pt x="1732108" y="1087559"/>
                </a:cubicBezTo>
                <a:cubicBezTo>
                  <a:pt x="1732108" y="1688201"/>
                  <a:pt x="1245191" y="2175118"/>
                  <a:pt x="644549" y="2175118"/>
                </a:cubicBezTo>
                <a:cubicBezTo>
                  <a:pt x="419308" y="2175118"/>
                  <a:pt x="210060" y="2106646"/>
                  <a:pt x="36485" y="1989380"/>
                </a:cubicBezTo>
                <a:lnTo>
                  <a:pt x="0" y="1959278"/>
                </a:lnTo>
                <a:lnTo>
                  <a:pt x="0" y="215841"/>
                </a:lnTo>
                <a:lnTo>
                  <a:pt x="36485" y="185738"/>
                </a:lnTo>
                <a:cubicBezTo>
                  <a:pt x="210060" y="68473"/>
                  <a:pt x="419308" y="0"/>
                  <a:pt x="644549" y="0"/>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2" name="Google Shape;852;p55"/>
          <p:cNvSpPr/>
          <p:nvPr/>
        </p:nvSpPr>
        <p:spPr>
          <a:xfrm>
            <a:off x="0" y="4414950"/>
            <a:ext cx="1568092" cy="1847088"/>
          </a:xfrm>
          <a:custGeom>
            <a:rect b="b" l="l" r="r" t="t"/>
            <a:pathLst>
              <a:path extrusionOk="0" h="1847088" w="1568092">
                <a:moveTo>
                  <a:pt x="644548" y="0"/>
                </a:moveTo>
                <a:cubicBezTo>
                  <a:pt x="1154607" y="0"/>
                  <a:pt x="1568092" y="413485"/>
                  <a:pt x="1568092" y="923544"/>
                </a:cubicBezTo>
                <a:cubicBezTo>
                  <a:pt x="1568092" y="1433603"/>
                  <a:pt x="1154607" y="1847088"/>
                  <a:pt x="644548" y="1847088"/>
                </a:cubicBezTo>
                <a:cubicBezTo>
                  <a:pt x="453276" y="1847088"/>
                  <a:pt x="275584" y="1788942"/>
                  <a:pt x="128186" y="1689361"/>
                </a:cubicBezTo>
                <a:lnTo>
                  <a:pt x="0" y="1583598"/>
                </a:lnTo>
                <a:lnTo>
                  <a:pt x="0" y="263490"/>
                </a:lnTo>
                <a:lnTo>
                  <a:pt x="128186" y="157727"/>
                </a:lnTo>
                <a:cubicBezTo>
                  <a:pt x="275584" y="58147"/>
                  <a:pt x="453276" y="0"/>
                  <a:pt x="64454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body of water with trees and a sunset in the background&#10;&#10;Description automatically generated with medium confidence" id="853" name="Google Shape;853;p55"/>
          <p:cNvPicPr preferRelativeResize="0"/>
          <p:nvPr/>
        </p:nvPicPr>
        <p:blipFill rotWithShape="1">
          <a:blip r:embed="rId5">
            <a:alphaModFix/>
          </a:blip>
          <a:srcRect b="0" l="0" r="0" t="0"/>
          <a:stretch/>
        </p:blipFill>
        <p:spPr>
          <a:xfrm>
            <a:off x="210066" y="4794931"/>
            <a:ext cx="934109" cy="1122053"/>
          </a:xfrm>
          <a:prstGeom prst="rect">
            <a:avLst/>
          </a:prstGeom>
          <a:noFill/>
          <a:ln>
            <a:noFill/>
          </a:ln>
        </p:spPr>
      </p:pic>
      <p:sp>
        <p:nvSpPr>
          <p:cNvPr id="854" name="Google Shape;854;p55"/>
          <p:cNvSpPr/>
          <p:nvPr/>
        </p:nvSpPr>
        <p:spPr>
          <a:xfrm>
            <a:off x="1866382" y="4769538"/>
            <a:ext cx="3950208" cy="2088462"/>
          </a:xfrm>
          <a:custGeom>
            <a:rect b="b" l="l" r="r" t="t"/>
            <a:pathLst>
              <a:path extrusionOk="0" h="2088462" w="3950208">
                <a:moveTo>
                  <a:pt x="1975104" y="0"/>
                </a:moveTo>
                <a:cubicBezTo>
                  <a:pt x="3065924" y="0"/>
                  <a:pt x="3950208" y="884284"/>
                  <a:pt x="3950208" y="1975104"/>
                </a:cubicBezTo>
                <a:lnTo>
                  <a:pt x="3944484" y="2088462"/>
                </a:lnTo>
                <a:lnTo>
                  <a:pt x="5724" y="2088462"/>
                </a:lnTo>
                <a:lnTo>
                  <a:pt x="0" y="1975104"/>
                </a:lnTo>
                <a:cubicBezTo>
                  <a:pt x="0" y="884284"/>
                  <a:pt x="884284" y="0"/>
                  <a:pt x="1975104"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outdoor, tree, nature, pond&#10;&#10;Description automatically generated" id="855" name="Google Shape;855;p55"/>
          <p:cNvPicPr preferRelativeResize="0"/>
          <p:nvPr/>
        </p:nvPicPr>
        <p:blipFill rotWithShape="1">
          <a:blip r:embed="rId6">
            <a:alphaModFix/>
          </a:blip>
          <a:srcRect b="0" l="0" r="0" t="0"/>
          <a:stretch/>
        </p:blipFill>
        <p:spPr>
          <a:xfrm>
            <a:off x="6599547" y="3268570"/>
            <a:ext cx="1411683" cy="1636734"/>
          </a:xfrm>
          <a:prstGeom prst="rect">
            <a:avLst/>
          </a:prstGeom>
          <a:noFill/>
          <a:ln>
            <a:noFill/>
          </a:ln>
        </p:spPr>
      </p:pic>
      <p:pic>
        <p:nvPicPr>
          <p:cNvPr id="856" name="Google Shape;856;p55"/>
          <p:cNvPicPr preferRelativeResize="0"/>
          <p:nvPr/>
        </p:nvPicPr>
        <p:blipFill rotWithShape="1">
          <a:blip r:embed="rId7">
            <a:alphaModFix/>
          </a:blip>
          <a:srcRect b="0" l="0" r="0" t="0"/>
          <a:stretch/>
        </p:blipFill>
        <p:spPr>
          <a:xfrm>
            <a:off x="2816607" y="5801551"/>
            <a:ext cx="1929327" cy="323162"/>
          </a:xfrm>
          <a:prstGeom prst="rect">
            <a:avLst/>
          </a:prstGeom>
          <a:noFill/>
          <a:ln>
            <a:noFill/>
          </a:ln>
        </p:spPr>
      </p:pic>
      <p:sp>
        <p:nvSpPr>
          <p:cNvPr id="857" name="Google Shape;857;p55"/>
          <p:cNvSpPr/>
          <p:nvPr/>
        </p:nvSpPr>
        <p:spPr>
          <a:xfrm>
            <a:off x="8848370" y="3966828"/>
            <a:ext cx="3339958" cy="2891173"/>
          </a:xfrm>
          <a:custGeom>
            <a:rect b="b" l="l" r="r" t="t"/>
            <a:pathLst>
              <a:path extrusionOk="0" h="2891173" w="3339958">
                <a:moveTo>
                  <a:pt x="2002536" y="0"/>
                </a:moveTo>
                <a:cubicBezTo>
                  <a:pt x="2486398" y="0"/>
                  <a:pt x="2930179" y="171609"/>
                  <a:pt x="3276335" y="457282"/>
                </a:cubicBezTo>
                <a:lnTo>
                  <a:pt x="3339958" y="515107"/>
                </a:lnTo>
                <a:lnTo>
                  <a:pt x="3339958" y="2891173"/>
                </a:lnTo>
                <a:lnTo>
                  <a:pt x="209954" y="2891173"/>
                </a:lnTo>
                <a:lnTo>
                  <a:pt x="157369" y="2782014"/>
                </a:lnTo>
                <a:cubicBezTo>
                  <a:pt x="56036" y="2542434"/>
                  <a:pt x="0" y="2279029"/>
                  <a:pt x="0" y="2002536"/>
                </a:cubicBezTo>
                <a:cubicBezTo>
                  <a:pt x="0" y="896566"/>
                  <a:pt x="896566" y="0"/>
                  <a:pt x="2002536" y="0"/>
                </a:cubicBezTo>
                <a:close/>
              </a:path>
            </a:pathLst>
          </a:custGeom>
          <a:solidFill>
            <a:srgbClr val="FFFFF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8" name="Google Shape;858;p55"/>
          <p:cNvSpPr/>
          <p:nvPr/>
        </p:nvSpPr>
        <p:spPr>
          <a:xfrm>
            <a:off x="9009416" y="4131546"/>
            <a:ext cx="3178912" cy="2726454"/>
          </a:xfrm>
          <a:custGeom>
            <a:rect b="b" l="l" r="r" t="t"/>
            <a:pathLst>
              <a:path extrusionOk="0" h="2726454" w="3178912">
                <a:moveTo>
                  <a:pt x="1837818" y="0"/>
                </a:moveTo>
                <a:cubicBezTo>
                  <a:pt x="2345318" y="0"/>
                  <a:pt x="2804772" y="205705"/>
                  <a:pt x="3137352" y="538285"/>
                </a:cubicBezTo>
                <a:lnTo>
                  <a:pt x="3178912" y="584013"/>
                </a:lnTo>
                <a:lnTo>
                  <a:pt x="3178912" y="2726454"/>
                </a:lnTo>
                <a:lnTo>
                  <a:pt x="229483" y="2726454"/>
                </a:lnTo>
                <a:lnTo>
                  <a:pt x="221815" y="2713832"/>
                </a:lnTo>
                <a:cubicBezTo>
                  <a:pt x="80353" y="2453425"/>
                  <a:pt x="0" y="2155005"/>
                  <a:pt x="0" y="1837818"/>
                </a:cubicBezTo>
                <a:cubicBezTo>
                  <a:pt x="0" y="822819"/>
                  <a:pt x="822819" y="0"/>
                  <a:pt x="1837818"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A picture containing tree, water, sky, outdoor&#10;&#10;Description automatically generated" id="859" name="Google Shape;859;p55"/>
          <p:cNvPicPr preferRelativeResize="0"/>
          <p:nvPr/>
        </p:nvPicPr>
        <p:blipFill rotWithShape="1">
          <a:blip r:embed="rId8">
            <a:alphaModFix/>
          </a:blip>
          <a:srcRect b="0" l="0" r="0" t="0"/>
          <a:stretch/>
        </p:blipFill>
        <p:spPr>
          <a:xfrm>
            <a:off x="9948590" y="4813202"/>
            <a:ext cx="1602964" cy="1751874"/>
          </a:xfrm>
          <a:prstGeom prst="rect">
            <a:avLst/>
          </a:prstGeom>
          <a:noFill/>
          <a:ln>
            <a:noFill/>
          </a:ln>
        </p:spPr>
      </p:pic>
    </p:spTree>
  </p:cSld>
  <p:clrMapOvr>
    <a:masterClrMapping/>
  </p:clrMapOvr>
  <p:transition spd="slow">
    <p:push/>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23900"/>
              <a:t> </a:t>
            </a:r>
            <a:r>
              <a:rPr lang="en-US" sz="23900"/>
              <a:t>CCE(%)</a:t>
            </a:r>
            <a:endParaRPr/>
          </a:p>
        </p:txBody>
      </p:sp>
    </p:spTree>
  </p:cSld>
  <p:clrMapOvr>
    <a:masterClrMapping/>
  </p:clrMapOvr>
  <p:transition spd="slow">
    <p:push/>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70" name="Google Shape;870;p58"/>
          <p:cNvPicPr preferRelativeResize="0"/>
          <p:nvPr/>
        </p:nvPicPr>
        <p:blipFill rotWithShape="1">
          <a:blip r:embed="rId3">
            <a:alphaModFix/>
          </a:blip>
          <a:srcRect b="0" l="0" r="0" t="0"/>
          <a:stretch/>
        </p:blipFill>
        <p:spPr>
          <a:xfrm>
            <a:off x="2380166" y="307577"/>
            <a:ext cx="7431668" cy="6242845"/>
          </a:xfrm>
          <a:prstGeom prst="rect">
            <a:avLst/>
          </a:prstGeom>
          <a:noFill/>
          <a:ln>
            <a:noFill/>
          </a:ln>
        </p:spPr>
      </p:pic>
    </p:spTree>
  </p:cSld>
  <p:clrMapOvr>
    <a:masterClrMapping/>
  </p:clrMapOvr>
  <p:transition spd="slow">
    <p:push/>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76" name="Google Shape;876;p59"/>
          <p:cNvPicPr preferRelativeResize="0"/>
          <p:nvPr/>
        </p:nvPicPr>
        <p:blipFill rotWithShape="1">
          <a:blip r:embed="rId3">
            <a:alphaModFix/>
          </a:blip>
          <a:srcRect b="0" l="0" r="0" t="0"/>
          <a:stretch/>
        </p:blipFill>
        <p:spPr>
          <a:xfrm>
            <a:off x="2383214" y="307577"/>
            <a:ext cx="7425572" cy="6242845"/>
          </a:xfrm>
          <a:prstGeom prst="rect">
            <a:avLst/>
          </a:prstGeom>
          <a:noFill/>
          <a:ln>
            <a:noFill/>
          </a:ln>
        </p:spPr>
      </p:pic>
    </p:spTree>
  </p:cSld>
  <p:clrMapOvr>
    <a:masterClrMapping/>
  </p:clrMapOvr>
  <p:transition spd="slow">
    <p:push/>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82" name="Google Shape;882;p60"/>
          <p:cNvPicPr preferRelativeResize="0"/>
          <p:nvPr/>
        </p:nvPicPr>
        <p:blipFill rotWithShape="1">
          <a:blip r:embed="rId3">
            <a:alphaModFix/>
          </a:blip>
          <a:srcRect b="0" l="0" r="0" t="0"/>
          <a:stretch/>
        </p:blipFill>
        <p:spPr>
          <a:xfrm>
            <a:off x="2380166" y="307577"/>
            <a:ext cx="7431668" cy="6242845"/>
          </a:xfrm>
          <a:prstGeom prst="rect">
            <a:avLst/>
          </a:prstGeom>
          <a:noFill/>
          <a:ln>
            <a:noFill/>
          </a:ln>
        </p:spPr>
      </p:pic>
    </p:spTree>
  </p:cSld>
  <p:clrMapOvr>
    <a:masterClrMapping/>
  </p:clrMapOvr>
  <p:transition spd="slow">
    <p:push/>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88" name="Google Shape;888;p61"/>
          <p:cNvPicPr preferRelativeResize="0"/>
          <p:nvPr/>
        </p:nvPicPr>
        <p:blipFill rotWithShape="1">
          <a:blip r:embed="rId3">
            <a:alphaModFix/>
          </a:blip>
          <a:srcRect b="0" l="0" r="0" t="0"/>
          <a:stretch/>
        </p:blipFill>
        <p:spPr>
          <a:xfrm>
            <a:off x="2383214" y="307577"/>
            <a:ext cx="7425572" cy="6242845"/>
          </a:xfrm>
          <a:prstGeom prst="rect">
            <a:avLst/>
          </a:prstGeom>
          <a:noFill/>
          <a:ln>
            <a:noFill/>
          </a:ln>
        </p:spPr>
      </p:pic>
    </p:spTree>
  </p:cSld>
  <p:clrMapOvr>
    <a:masterClrMapping/>
  </p:clrMapOvr>
  <p:transition spd="slow">
    <p:push/>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94" name="Google Shape;894;p62"/>
          <p:cNvPicPr preferRelativeResize="0"/>
          <p:nvPr/>
        </p:nvPicPr>
        <p:blipFill rotWithShape="1">
          <a:blip r:embed="rId3">
            <a:alphaModFix/>
          </a:blip>
          <a:srcRect b="0" l="0" r="0" t="0"/>
          <a:stretch/>
        </p:blipFill>
        <p:spPr>
          <a:xfrm>
            <a:off x="2468565" y="307577"/>
            <a:ext cx="7254869" cy="6242845"/>
          </a:xfrm>
          <a:prstGeom prst="rect">
            <a:avLst/>
          </a:prstGeom>
          <a:noFill/>
          <a:ln>
            <a:noFill/>
          </a:ln>
        </p:spPr>
      </p:pic>
    </p:spTree>
  </p:cSld>
  <p:clrMapOvr>
    <a:masterClrMapping/>
  </p:clrMapOvr>
  <p:transition spd="slow">
    <p:push/>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8" name="Shape 898"/>
        <p:cNvGrpSpPr/>
        <p:nvPr/>
      </p:nvGrpSpPr>
      <p:grpSpPr>
        <a:xfrm>
          <a:off x="0" y="0"/>
          <a:ext cx="0" cy="0"/>
          <a:chOff x="0" y="0"/>
          <a:chExt cx="0" cy="0"/>
        </a:xfrm>
      </p:grpSpPr>
      <p:sp>
        <p:nvSpPr>
          <p:cNvPr id="899" name="Google Shape;899;p6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00" name="Google Shape;900;p63"/>
          <p:cNvPicPr preferRelativeResize="0"/>
          <p:nvPr/>
        </p:nvPicPr>
        <p:blipFill rotWithShape="1">
          <a:blip r:embed="rId3">
            <a:alphaModFix/>
          </a:blip>
          <a:srcRect b="0" l="0" r="0" t="0"/>
          <a:stretch/>
        </p:blipFill>
        <p:spPr>
          <a:xfrm>
            <a:off x="2468565" y="307577"/>
            <a:ext cx="7254869" cy="6242845"/>
          </a:xfrm>
          <a:prstGeom prst="rect">
            <a:avLst/>
          </a:prstGeom>
          <a:noFill/>
          <a:ln>
            <a:noFill/>
          </a:ln>
        </p:spPr>
      </p:pic>
    </p:spTree>
  </p:cSld>
  <p:clrMapOvr>
    <a:masterClrMapping/>
  </p:clrMapOvr>
  <p:transition spd="slow">
    <p:push/>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06" name="Google Shape;906;p64"/>
          <p:cNvPicPr preferRelativeResize="0"/>
          <p:nvPr/>
        </p:nvPicPr>
        <p:blipFill rotWithShape="1">
          <a:blip r:embed="rId3">
            <a:alphaModFix/>
          </a:blip>
          <a:srcRect b="0" l="0" r="0" t="0"/>
          <a:stretch/>
        </p:blipFill>
        <p:spPr>
          <a:xfrm>
            <a:off x="2468565" y="307577"/>
            <a:ext cx="7254869" cy="6242845"/>
          </a:xfrm>
          <a:prstGeom prst="rect">
            <a:avLst/>
          </a:prstGeom>
          <a:noFill/>
          <a:ln>
            <a:noFill/>
          </a:ln>
        </p:spPr>
      </p:pic>
    </p:spTree>
  </p:cSld>
  <p:clrMapOvr>
    <a:masterClrMapping/>
  </p:clrMapOvr>
  <p:transition spd="slow">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sp>
        <p:nvSpPr>
          <p:cNvPr id="911" name="Google Shape;911;p6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12" name="Google Shape;912;p65"/>
          <p:cNvPicPr preferRelativeResize="0"/>
          <p:nvPr/>
        </p:nvPicPr>
        <p:blipFill rotWithShape="1">
          <a:blip r:embed="rId3">
            <a:alphaModFix/>
          </a:blip>
          <a:srcRect b="0" l="0" r="0" t="0"/>
          <a:stretch/>
        </p:blipFill>
        <p:spPr>
          <a:xfrm>
            <a:off x="2468565" y="307577"/>
            <a:ext cx="7254869" cy="6242845"/>
          </a:xfrm>
          <a:prstGeom prst="rect">
            <a:avLst/>
          </a:prstGeom>
          <a:noFill/>
          <a:ln>
            <a:noFill/>
          </a:ln>
        </p:spPr>
      </p:pic>
    </p:spTree>
  </p:cSld>
  <p:clrMapOvr>
    <a:masterClrMapping/>
  </p:clrMapOvr>
  <p:transition spd="slow">
    <p:push/>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18" name="Google Shape;918;p66"/>
          <p:cNvPicPr preferRelativeResize="0"/>
          <p:nvPr/>
        </p:nvPicPr>
        <p:blipFill rotWithShape="1">
          <a:blip r:embed="rId3">
            <a:alphaModFix/>
          </a:blip>
          <a:srcRect b="0" l="0" r="0" t="0"/>
          <a:stretch/>
        </p:blipFill>
        <p:spPr>
          <a:xfrm>
            <a:off x="2496000" y="307577"/>
            <a:ext cx="7200000" cy="6242845"/>
          </a:xfrm>
          <a:prstGeom prst="rect">
            <a:avLst/>
          </a:prstGeom>
          <a:noFill/>
          <a:ln>
            <a:noFill/>
          </a:ln>
        </p:spPr>
      </p:pic>
    </p:spTree>
  </p:cSld>
  <p:clrMapOvr>
    <a:masterClrMapping/>
  </p:clrMapOvr>
  <p:transition spd="slow">
    <p:push/>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24" name="Google Shape;924;p67"/>
          <p:cNvPicPr preferRelativeResize="0"/>
          <p:nvPr/>
        </p:nvPicPr>
        <p:blipFill rotWithShape="1">
          <a:blip r:embed="rId3">
            <a:alphaModFix/>
          </a:blip>
          <a:srcRect b="0" l="0" r="0" t="0"/>
          <a:stretch/>
        </p:blipFill>
        <p:spPr>
          <a:xfrm>
            <a:off x="2496000" y="307577"/>
            <a:ext cx="7200000" cy="6242845"/>
          </a:xfrm>
          <a:prstGeom prst="rect">
            <a:avLst/>
          </a:prstGeom>
          <a:noFill/>
          <a:ln>
            <a:noFill/>
          </a:ln>
        </p:spPr>
      </p:pic>
    </p:spTree>
  </p:cSld>
  <p:clrMapOvr>
    <a:masterClrMapping/>
  </p:clrMapOvr>
  <p:transition spd="slow">
    <p:push/>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
        <p:nvSpPr>
          <p:cNvPr id="929" name="Google Shape;929;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30" name="Google Shape;930;p68"/>
          <p:cNvPicPr preferRelativeResize="0"/>
          <p:nvPr/>
        </p:nvPicPr>
        <p:blipFill rotWithShape="1">
          <a:blip r:embed="rId3">
            <a:alphaModFix/>
          </a:blip>
          <a:srcRect b="0" l="0" r="0" t="0"/>
          <a:stretch/>
        </p:blipFill>
        <p:spPr>
          <a:xfrm>
            <a:off x="2496000" y="307577"/>
            <a:ext cx="7200000" cy="6242845"/>
          </a:xfrm>
          <a:prstGeom prst="rect">
            <a:avLst/>
          </a:prstGeom>
          <a:noFill/>
          <a:ln>
            <a:noFill/>
          </a:ln>
        </p:spPr>
      </p:pic>
    </p:spTree>
  </p:cSld>
  <p:clrMapOvr>
    <a:masterClrMapping/>
  </p:clrMapOvr>
  <p:transition spd="slow">
    <p:push/>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4" name="Shape 934"/>
        <p:cNvGrpSpPr/>
        <p:nvPr/>
      </p:nvGrpSpPr>
      <p:grpSpPr>
        <a:xfrm>
          <a:off x="0" y="0"/>
          <a:ext cx="0" cy="0"/>
          <a:chOff x="0" y="0"/>
          <a:chExt cx="0" cy="0"/>
        </a:xfrm>
      </p:grpSpPr>
      <p:sp>
        <p:nvSpPr>
          <p:cNvPr id="935" name="Google Shape;935;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36" name="Google Shape;936;p69"/>
          <p:cNvPicPr preferRelativeResize="0"/>
          <p:nvPr/>
        </p:nvPicPr>
        <p:blipFill rotWithShape="1">
          <a:blip r:embed="rId3">
            <a:alphaModFix/>
          </a:blip>
          <a:srcRect b="0" l="0" r="0" t="0"/>
          <a:stretch/>
        </p:blipFill>
        <p:spPr>
          <a:xfrm>
            <a:off x="2492951" y="307577"/>
            <a:ext cx="7206097" cy="6242845"/>
          </a:xfrm>
          <a:prstGeom prst="rect">
            <a:avLst/>
          </a:prstGeom>
          <a:noFill/>
          <a:ln>
            <a:noFill/>
          </a:ln>
        </p:spPr>
      </p:pic>
    </p:spTree>
  </p:cSld>
  <p:clrMapOvr>
    <a:masterClrMapping/>
  </p:clrMapOvr>
  <p:transition spd="slow">
    <p:push/>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0" name="Shape 940"/>
        <p:cNvGrpSpPr/>
        <p:nvPr/>
      </p:nvGrpSpPr>
      <p:grpSpPr>
        <a:xfrm>
          <a:off x="0" y="0"/>
          <a:ext cx="0" cy="0"/>
          <a:chOff x="0" y="0"/>
          <a:chExt cx="0" cy="0"/>
        </a:xfrm>
      </p:grpSpPr>
      <p:sp>
        <p:nvSpPr>
          <p:cNvPr id="941" name="Google Shape;941;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42" name="Google Shape;942;p70"/>
          <p:cNvPicPr preferRelativeResize="0"/>
          <p:nvPr/>
        </p:nvPicPr>
        <p:blipFill rotWithShape="1">
          <a:blip r:embed="rId3">
            <a:alphaModFix/>
          </a:blip>
          <a:srcRect b="0" l="0" r="0" t="0"/>
          <a:stretch/>
        </p:blipFill>
        <p:spPr>
          <a:xfrm>
            <a:off x="2544772" y="420363"/>
            <a:ext cx="7102456" cy="6017274"/>
          </a:xfrm>
          <a:prstGeom prst="rect">
            <a:avLst/>
          </a:prstGeom>
          <a:noFill/>
          <a:ln>
            <a:noFill/>
          </a:ln>
        </p:spPr>
      </p:pic>
    </p:spTree>
  </p:cSld>
  <p:clrMapOvr>
    <a:masterClrMapping/>
  </p:clrMapOvr>
  <p:transition spd="slow">
    <p:push/>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7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48" name="Google Shape;948;p71"/>
          <p:cNvPicPr preferRelativeResize="0"/>
          <p:nvPr/>
        </p:nvPicPr>
        <p:blipFill rotWithShape="1">
          <a:blip r:embed="rId3">
            <a:alphaModFix/>
          </a:blip>
          <a:srcRect b="0" l="0" r="0" t="0"/>
          <a:stretch/>
        </p:blipFill>
        <p:spPr>
          <a:xfrm>
            <a:off x="2544772" y="423411"/>
            <a:ext cx="7102456" cy="6011177"/>
          </a:xfrm>
          <a:prstGeom prst="rect">
            <a:avLst/>
          </a:prstGeom>
          <a:noFill/>
          <a:ln>
            <a:noFill/>
          </a:ln>
        </p:spPr>
      </p:pic>
    </p:spTree>
  </p:cSld>
  <p:clrMapOvr>
    <a:masterClrMapping/>
  </p:clrMapOvr>
  <p:transition spd="slow">
    <p:push/>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54" name="Google Shape;954;p72"/>
          <p:cNvPicPr preferRelativeResize="0"/>
          <p:nvPr/>
        </p:nvPicPr>
        <p:blipFill rotWithShape="1">
          <a:blip r:embed="rId3">
            <a:alphaModFix/>
          </a:blip>
          <a:srcRect b="0" l="0" r="0" t="0"/>
          <a:stretch/>
        </p:blipFill>
        <p:spPr>
          <a:xfrm>
            <a:off x="2541724" y="420363"/>
            <a:ext cx="7108552" cy="6017274"/>
          </a:xfrm>
          <a:prstGeom prst="rect">
            <a:avLst/>
          </a:prstGeom>
          <a:noFill/>
          <a:ln>
            <a:noFill/>
          </a:ln>
        </p:spPr>
      </p:pic>
    </p:spTree>
  </p:cSld>
  <p:clrMapOvr>
    <a:masterClrMapping/>
  </p:clrMapOvr>
  <p:transition spd="slow">
    <p:push/>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sp>
        <p:nvSpPr>
          <p:cNvPr id="959" name="Google Shape;959;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60" name="Google Shape;960;p73"/>
          <p:cNvPicPr preferRelativeResize="0"/>
          <p:nvPr/>
        </p:nvPicPr>
        <p:blipFill rotWithShape="1">
          <a:blip r:embed="rId3">
            <a:alphaModFix/>
          </a:blip>
          <a:srcRect b="0" l="0" r="0" t="0"/>
          <a:stretch/>
        </p:blipFill>
        <p:spPr>
          <a:xfrm>
            <a:off x="2544772" y="420363"/>
            <a:ext cx="7102456" cy="6017274"/>
          </a:xfrm>
          <a:prstGeom prst="rect">
            <a:avLst/>
          </a:prstGeom>
          <a:noFill/>
          <a:ln>
            <a:noFill/>
          </a:ln>
        </p:spPr>
      </p:pic>
    </p:spTree>
  </p:cSld>
  <p:clrMapOvr>
    <a:masterClrMapping/>
  </p:clrMapOvr>
  <p:transition spd="slow">
    <p:push/>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66" name="Google Shape;966;p74"/>
          <p:cNvPicPr preferRelativeResize="0"/>
          <p:nvPr/>
        </p:nvPicPr>
        <p:blipFill rotWithShape="1">
          <a:blip r:embed="rId3">
            <a:alphaModFix/>
          </a:blip>
          <a:srcRect b="0" l="0" r="0" t="0"/>
          <a:stretch/>
        </p:blipFill>
        <p:spPr>
          <a:xfrm>
            <a:off x="157981" y="187894"/>
            <a:ext cx="5938019" cy="3005588"/>
          </a:xfrm>
          <a:prstGeom prst="rect">
            <a:avLst/>
          </a:prstGeom>
          <a:noFill/>
          <a:ln>
            <a:noFill/>
          </a:ln>
        </p:spPr>
      </p:pic>
      <p:pic>
        <p:nvPicPr>
          <p:cNvPr id="967" name="Google Shape;967;p74"/>
          <p:cNvPicPr preferRelativeResize="0"/>
          <p:nvPr/>
        </p:nvPicPr>
        <p:blipFill rotWithShape="1">
          <a:blip r:embed="rId4">
            <a:alphaModFix/>
          </a:blip>
          <a:srcRect b="0" l="0" r="0" t="0"/>
          <a:stretch/>
        </p:blipFill>
        <p:spPr>
          <a:xfrm>
            <a:off x="6096000" y="187894"/>
            <a:ext cx="5931922" cy="3005588"/>
          </a:xfrm>
          <a:prstGeom prst="rect">
            <a:avLst/>
          </a:prstGeom>
          <a:noFill/>
          <a:ln>
            <a:noFill/>
          </a:ln>
        </p:spPr>
      </p:pic>
      <p:pic>
        <p:nvPicPr>
          <p:cNvPr id="968" name="Google Shape;968;p74"/>
          <p:cNvPicPr preferRelativeResize="0"/>
          <p:nvPr/>
        </p:nvPicPr>
        <p:blipFill rotWithShape="1">
          <a:blip r:embed="rId5">
            <a:alphaModFix/>
          </a:blip>
          <a:srcRect b="0" l="0" r="0" t="0"/>
          <a:stretch/>
        </p:blipFill>
        <p:spPr>
          <a:xfrm>
            <a:off x="157981" y="3370713"/>
            <a:ext cx="5938019" cy="3005588"/>
          </a:xfrm>
          <a:prstGeom prst="rect">
            <a:avLst/>
          </a:prstGeom>
          <a:noFill/>
          <a:ln>
            <a:noFill/>
          </a:ln>
        </p:spPr>
      </p:pic>
      <p:pic>
        <p:nvPicPr>
          <p:cNvPr id="969" name="Google Shape;969;p74"/>
          <p:cNvPicPr preferRelativeResize="0"/>
          <p:nvPr/>
        </p:nvPicPr>
        <p:blipFill rotWithShape="1">
          <a:blip r:embed="rId6">
            <a:alphaModFix/>
          </a:blip>
          <a:srcRect b="0" l="0" r="0" t="0"/>
          <a:stretch/>
        </p:blipFill>
        <p:spPr>
          <a:xfrm>
            <a:off x="6096000" y="3376809"/>
            <a:ext cx="5938019" cy="2999492"/>
          </a:xfrm>
          <a:prstGeom prst="rect">
            <a:avLst/>
          </a:prstGeom>
          <a:noFill/>
          <a:ln>
            <a:noFill/>
          </a:ln>
        </p:spPr>
      </p:pic>
    </p:spTree>
  </p:cSld>
  <p:clrMapOvr>
    <a:masterClrMapping/>
  </p:clrMapOvr>
  <p:transition spd="slow">
    <p:push/>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pic>
        <p:nvPicPr>
          <p:cNvPr id="974" name="Google Shape;974;p75"/>
          <p:cNvPicPr preferRelativeResize="0"/>
          <p:nvPr/>
        </p:nvPicPr>
        <p:blipFill rotWithShape="1">
          <a:blip r:embed="rId3">
            <a:alphaModFix/>
          </a:blip>
          <a:srcRect b="0" l="0" r="0" t="0"/>
          <a:stretch/>
        </p:blipFill>
        <p:spPr>
          <a:xfrm>
            <a:off x="317171" y="201909"/>
            <a:ext cx="5931922" cy="3005588"/>
          </a:xfrm>
          <a:prstGeom prst="rect">
            <a:avLst/>
          </a:prstGeom>
          <a:noFill/>
          <a:ln>
            <a:noFill/>
          </a:ln>
        </p:spPr>
      </p:pic>
      <p:pic>
        <p:nvPicPr>
          <p:cNvPr id="975" name="Google Shape;975;p75"/>
          <p:cNvPicPr preferRelativeResize="0"/>
          <p:nvPr/>
        </p:nvPicPr>
        <p:blipFill rotWithShape="1">
          <a:blip r:embed="rId4">
            <a:alphaModFix/>
          </a:blip>
          <a:srcRect b="0" l="0" r="0" t="0"/>
          <a:stretch/>
        </p:blipFill>
        <p:spPr>
          <a:xfrm>
            <a:off x="6253981" y="208005"/>
            <a:ext cx="5938019" cy="2999492"/>
          </a:xfrm>
          <a:prstGeom prst="rect">
            <a:avLst/>
          </a:prstGeom>
          <a:noFill/>
          <a:ln>
            <a:noFill/>
          </a:ln>
        </p:spPr>
      </p:pic>
      <p:pic>
        <p:nvPicPr>
          <p:cNvPr id="976" name="Google Shape;976;p75"/>
          <p:cNvPicPr preferRelativeResize="0"/>
          <p:nvPr/>
        </p:nvPicPr>
        <p:blipFill rotWithShape="1">
          <a:blip r:embed="rId5">
            <a:alphaModFix/>
          </a:blip>
          <a:srcRect b="0" l="0" r="0" t="0"/>
          <a:stretch/>
        </p:blipFill>
        <p:spPr>
          <a:xfrm>
            <a:off x="317171" y="3429000"/>
            <a:ext cx="5931922" cy="3005588"/>
          </a:xfrm>
          <a:prstGeom prst="rect">
            <a:avLst/>
          </a:prstGeom>
          <a:noFill/>
          <a:ln>
            <a:noFill/>
          </a:ln>
        </p:spPr>
      </p:pic>
      <p:pic>
        <p:nvPicPr>
          <p:cNvPr id="977" name="Google Shape;977;p75"/>
          <p:cNvPicPr preferRelativeResize="0"/>
          <p:nvPr/>
        </p:nvPicPr>
        <p:blipFill rotWithShape="1">
          <a:blip r:embed="rId6">
            <a:alphaModFix/>
          </a:blip>
          <a:srcRect b="0" l="0" r="0" t="0"/>
          <a:stretch/>
        </p:blipFill>
        <p:spPr>
          <a:xfrm>
            <a:off x="6249093" y="3435096"/>
            <a:ext cx="5931922" cy="2999492"/>
          </a:xfrm>
          <a:prstGeom prst="rect">
            <a:avLst/>
          </a:prstGeom>
          <a:noFill/>
          <a:ln>
            <a:noFill/>
          </a:ln>
        </p:spPr>
      </p:pic>
    </p:spTree>
  </p:cSld>
  <p:clrMapOvr>
    <a:masterClrMapping/>
  </p:clrMapOvr>
  <p:transition spd="slow">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pic>
        <p:nvPicPr>
          <p:cNvPr id="982" name="Google Shape;982;p76"/>
          <p:cNvPicPr preferRelativeResize="0"/>
          <p:nvPr/>
        </p:nvPicPr>
        <p:blipFill rotWithShape="1">
          <a:blip r:embed="rId3">
            <a:alphaModFix/>
          </a:blip>
          <a:srcRect b="0" l="0" r="0" t="0"/>
          <a:stretch/>
        </p:blipFill>
        <p:spPr>
          <a:xfrm>
            <a:off x="38570" y="201909"/>
            <a:ext cx="5931922" cy="3005588"/>
          </a:xfrm>
          <a:prstGeom prst="rect">
            <a:avLst/>
          </a:prstGeom>
          <a:noFill/>
          <a:ln>
            <a:noFill/>
          </a:ln>
        </p:spPr>
      </p:pic>
      <p:pic>
        <p:nvPicPr>
          <p:cNvPr id="983" name="Google Shape;983;p76"/>
          <p:cNvPicPr preferRelativeResize="0"/>
          <p:nvPr/>
        </p:nvPicPr>
        <p:blipFill rotWithShape="1">
          <a:blip r:embed="rId4">
            <a:alphaModFix/>
          </a:blip>
          <a:srcRect b="0" l="0" r="0" t="0"/>
          <a:stretch/>
        </p:blipFill>
        <p:spPr>
          <a:xfrm>
            <a:off x="5973541" y="201909"/>
            <a:ext cx="6218459" cy="3005588"/>
          </a:xfrm>
          <a:prstGeom prst="rect">
            <a:avLst/>
          </a:prstGeom>
          <a:noFill/>
          <a:ln>
            <a:noFill/>
          </a:ln>
        </p:spPr>
      </p:pic>
      <p:pic>
        <p:nvPicPr>
          <p:cNvPr id="984" name="Google Shape;984;p76"/>
          <p:cNvPicPr preferRelativeResize="0"/>
          <p:nvPr/>
        </p:nvPicPr>
        <p:blipFill rotWithShape="1">
          <a:blip r:embed="rId5">
            <a:alphaModFix/>
          </a:blip>
          <a:srcRect b="0" l="0" r="0" t="0"/>
          <a:stretch/>
        </p:blipFill>
        <p:spPr>
          <a:xfrm>
            <a:off x="35522" y="3566466"/>
            <a:ext cx="5938019" cy="2999492"/>
          </a:xfrm>
          <a:prstGeom prst="rect">
            <a:avLst/>
          </a:prstGeom>
          <a:noFill/>
          <a:ln>
            <a:noFill/>
          </a:ln>
        </p:spPr>
      </p:pic>
      <p:pic>
        <p:nvPicPr>
          <p:cNvPr id="985" name="Google Shape;985;p76"/>
          <p:cNvPicPr preferRelativeResize="0"/>
          <p:nvPr/>
        </p:nvPicPr>
        <p:blipFill rotWithShape="1">
          <a:blip r:embed="rId6">
            <a:alphaModFix/>
          </a:blip>
          <a:srcRect b="0" l="0" r="0" t="0"/>
          <a:stretch/>
        </p:blipFill>
        <p:spPr>
          <a:xfrm>
            <a:off x="5973541" y="3566466"/>
            <a:ext cx="6218459" cy="3005588"/>
          </a:xfrm>
          <a:prstGeom prst="rect">
            <a:avLst/>
          </a:prstGeom>
          <a:noFill/>
          <a:ln>
            <a:noFill/>
          </a:ln>
        </p:spPr>
      </p:pic>
    </p:spTree>
  </p:cSld>
  <p:clrMapOvr>
    <a:masterClrMapping/>
  </p:clrMapOvr>
  <p:transition spd="slow">
    <p:push/>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9" name="Shape 989"/>
        <p:cNvGrpSpPr/>
        <p:nvPr/>
      </p:nvGrpSpPr>
      <p:grpSpPr>
        <a:xfrm>
          <a:off x="0" y="0"/>
          <a:ext cx="0" cy="0"/>
          <a:chOff x="0" y="0"/>
          <a:chExt cx="0" cy="0"/>
        </a:xfrm>
      </p:grpSpPr>
      <p:pic>
        <p:nvPicPr>
          <p:cNvPr id="990" name="Google Shape;990;p77"/>
          <p:cNvPicPr preferRelativeResize="0"/>
          <p:nvPr/>
        </p:nvPicPr>
        <p:blipFill rotWithShape="1">
          <a:blip r:embed="rId3">
            <a:alphaModFix/>
          </a:blip>
          <a:srcRect b="0" l="0" r="0" t="0"/>
          <a:stretch/>
        </p:blipFill>
        <p:spPr>
          <a:xfrm>
            <a:off x="41619" y="106115"/>
            <a:ext cx="5931922" cy="3005588"/>
          </a:xfrm>
          <a:prstGeom prst="rect">
            <a:avLst/>
          </a:prstGeom>
          <a:noFill/>
          <a:ln>
            <a:noFill/>
          </a:ln>
        </p:spPr>
      </p:pic>
      <p:pic>
        <p:nvPicPr>
          <p:cNvPr id="991" name="Google Shape;991;p77"/>
          <p:cNvPicPr preferRelativeResize="0"/>
          <p:nvPr/>
        </p:nvPicPr>
        <p:blipFill rotWithShape="1">
          <a:blip r:embed="rId4">
            <a:alphaModFix/>
          </a:blip>
          <a:srcRect b="0" l="0" r="0" t="0"/>
          <a:stretch/>
        </p:blipFill>
        <p:spPr>
          <a:xfrm>
            <a:off x="5931922" y="106115"/>
            <a:ext cx="6218459" cy="3005588"/>
          </a:xfrm>
          <a:prstGeom prst="rect">
            <a:avLst/>
          </a:prstGeom>
          <a:noFill/>
          <a:ln>
            <a:noFill/>
          </a:ln>
        </p:spPr>
      </p:pic>
      <p:pic>
        <p:nvPicPr>
          <p:cNvPr id="992" name="Google Shape;992;p77"/>
          <p:cNvPicPr preferRelativeResize="0"/>
          <p:nvPr/>
        </p:nvPicPr>
        <p:blipFill rotWithShape="1">
          <a:blip r:embed="rId5">
            <a:alphaModFix/>
          </a:blip>
          <a:srcRect b="0" l="0" r="0" t="0"/>
          <a:stretch/>
        </p:blipFill>
        <p:spPr>
          <a:xfrm>
            <a:off x="41619" y="3505505"/>
            <a:ext cx="5931922" cy="2999492"/>
          </a:xfrm>
          <a:prstGeom prst="rect">
            <a:avLst/>
          </a:prstGeom>
          <a:noFill/>
          <a:ln>
            <a:noFill/>
          </a:ln>
        </p:spPr>
      </p:pic>
      <p:pic>
        <p:nvPicPr>
          <p:cNvPr id="993" name="Google Shape;993;p77"/>
          <p:cNvPicPr preferRelativeResize="0"/>
          <p:nvPr/>
        </p:nvPicPr>
        <p:blipFill rotWithShape="1">
          <a:blip r:embed="rId6">
            <a:alphaModFix/>
          </a:blip>
          <a:srcRect b="0" l="0" r="0" t="0"/>
          <a:stretch/>
        </p:blipFill>
        <p:spPr>
          <a:xfrm>
            <a:off x="5931921" y="3502457"/>
            <a:ext cx="6218459" cy="3005588"/>
          </a:xfrm>
          <a:prstGeom prst="rect">
            <a:avLst/>
          </a:prstGeom>
          <a:noFill/>
          <a:ln>
            <a:noFill/>
          </a:ln>
        </p:spPr>
      </p:pic>
    </p:spTree>
  </p:cSld>
  <p:clrMapOvr>
    <a:masterClrMapping/>
  </p:clrMapOvr>
  <p:transition spd="slow">
    <p:push/>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18200"/>
              <a:t>    </a:t>
            </a:r>
            <a:r>
              <a:rPr lang="en-US" sz="18200"/>
              <a:t>YIELD</a:t>
            </a:r>
            <a:endParaRPr sz="100"/>
          </a:p>
        </p:txBody>
      </p:sp>
    </p:spTree>
  </p:cSld>
  <p:clrMapOvr>
    <a:masterClrMapping/>
  </p:clrMapOvr>
  <p:transition spd="slow">
    <p:push/>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pic>
        <p:nvPicPr>
          <p:cNvPr id="1003" name="Google Shape;1003;p79"/>
          <p:cNvPicPr preferRelativeResize="0"/>
          <p:nvPr/>
        </p:nvPicPr>
        <p:blipFill rotWithShape="1">
          <a:blip r:embed="rId3">
            <a:alphaModFix/>
          </a:blip>
          <a:srcRect b="0" l="0" r="0" t="0"/>
          <a:stretch/>
        </p:blipFill>
        <p:spPr>
          <a:xfrm>
            <a:off x="2063146" y="331963"/>
            <a:ext cx="8065707" cy="6194073"/>
          </a:xfrm>
          <a:prstGeom prst="rect">
            <a:avLst/>
          </a:prstGeom>
          <a:noFill/>
          <a:ln>
            <a:noFill/>
          </a:ln>
        </p:spPr>
      </p:pic>
    </p:spTree>
  </p:cSld>
  <p:clrMapOvr>
    <a:masterClrMapping/>
  </p:clrMapOvr>
  <p:transition spd="slow">
    <p:push/>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8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09" name="Google Shape;1009;p80"/>
          <p:cNvPicPr preferRelativeResize="0"/>
          <p:nvPr/>
        </p:nvPicPr>
        <p:blipFill rotWithShape="1">
          <a:blip r:embed="rId3">
            <a:alphaModFix/>
          </a:blip>
          <a:srcRect b="0" l="0" r="0" t="0"/>
          <a:stretch/>
        </p:blipFill>
        <p:spPr>
          <a:xfrm>
            <a:off x="2066194" y="335012"/>
            <a:ext cx="8059611" cy="6187976"/>
          </a:xfrm>
          <a:prstGeom prst="rect">
            <a:avLst/>
          </a:prstGeom>
          <a:noFill/>
          <a:ln>
            <a:noFill/>
          </a:ln>
        </p:spPr>
      </p:pic>
    </p:spTree>
  </p:cSld>
  <p:clrMapOvr>
    <a:masterClrMapping/>
  </p:clrMapOvr>
  <p:transition spd="slow">
    <p:push/>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8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15" name="Google Shape;1015;p81"/>
          <p:cNvPicPr preferRelativeResize="0"/>
          <p:nvPr/>
        </p:nvPicPr>
        <p:blipFill rotWithShape="1">
          <a:blip r:embed="rId3">
            <a:alphaModFix/>
          </a:blip>
          <a:srcRect b="0" l="0" r="0" t="0"/>
          <a:stretch/>
        </p:blipFill>
        <p:spPr>
          <a:xfrm>
            <a:off x="2063146" y="331963"/>
            <a:ext cx="8065707" cy="6194073"/>
          </a:xfrm>
          <a:prstGeom prst="rect">
            <a:avLst/>
          </a:prstGeom>
          <a:noFill/>
          <a:ln>
            <a:noFill/>
          </a:ln>
        </p:spPr>
      </p:pic>
    </p:spTree>
  </p:cSld>
  <p:clrMapOvr>
    <a:masterClrMapping/>
  </p:clrMapOvr>
  <p:transition spd="slow">
    <p:push/>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21" name="Google Shape;1021;p82"/>
          <p:cNvPicPr preferRelativeResize="0"/>
          <p:nvPr/>
        </p:nvPicPr>
        <p:blipFill rotWithShape="1">
          <a:blip r:embed="rId3">
            <a:alphaModFix/>
          </a:blip>
          <a:srcRect b="0" l="0" r="0" t="0"/>
          <a:stretch/>
        </p:blipFill>
        <p:spPr>
          <a:xfrm>
            <a:off x="2066194" y="335012"/>
            <a:ext cx="8059611" cy="6187976"/>
          </a:xfrm>
          <a:prstGeom prst="rect">
            <a:avLst/>
          </a:prstGeom>
          <a:noFill/>
          <a:ln>
            <a:noFill/>
          </a:ln>
        </p:spPr>
      </p:pic>
    </p:spTree>
  </p:cSld>
  <p:clrMapOvr>
    <a:masterClrMapping/>
  </p:clrMapOvr>
  <p:transition spd="slow">
    <p:push/>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27" name="Google Shape;1027;p83"/>
          <p:cNvPicPr preferRelativeResize="0"/>
          <p:nvPr/>
        </p:nvPicPr>
        <p:blipFill rotWithShape="1">
          <a:blip r:embed="rId3">
            <a:alphaModFix/>
          </a:blip>
          <a:srcRect b="0" l="0" r="0" t="0"/>
          <a:stretch/>
        </p:blipFill>
        <p:spPr>
          <a:xfrm>
            <a:off x="1861961" y="331963"/>
            <a:ext cx="8468078" cy="6194073"/>
          </a:xfrm>
          <a:prstGeom prst="rect">
            <a:avLst/>
          </a:prstGeom>
          <a:noFill/>
          <a:ln>
            <a:noFill/>
          </a:ln>
        </p:spPr>
      </p:pic>
    </p:spTree>
  </p:cSld>
  <p:clrMapOvr>
    <a:masterClrMapping/>
  </p:clrMapOvr>
  <p:transition spd="slow">
    <p:push/>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8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33" name="Google Shape;1033;p84"/>
          <p:cNvPicPr preferRelativeResize="0"/>
          <p:nvPr/>
        </p:nvPicPr>
        <p:blipFill rotWithShape="1">
          <a:blip r:embed="rId3">
            <a:alphaModFix/>
          </a:blip>
          <a:srcRect b="0" l="0" r="0" t="0"/>
          <a:stretch/>
        </p:blipFill>
        <p:spPr>
          <a:xfrm>
            <a:off x="1861961" y="335012"/>
            <a:ext cx="8468078" cy="6187976"/>
          </a:xfrm>
          <a:prstGeom prst="rect">
            <a:avLst/>
          </a:prstGeom>
          <a:noFill/>
          <a:ln>
            <a:noFill/>
          </a:ln>
        </p:spPr>
      </p:pic>
    </p:spTree>
  </p:cSld>
  <p:clrMapOvr>
    <a:masterClrMapping/>
  </p:clrMapOvr>
  <p:transition spd="slow">
    <p:push/>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7" name="Shape 1037"/>
        <p:cNvGrpSpPr/>
        <p:nvPr/>
      </p:nvGrpSpPr>
      <p:grpSpPr>
        <a:xfrm>
          <a:off x="0" y="0"/>
          <a:ext cx="0" cy="0"/>
          <a:chOff x="0" y="0"/>
          <a:chExt cx="0" cy="0"/>
        </a:xfrm>
      </p:grpSpPr>
      <p:sp>
        <p:nvSpPr>
          <p:cNvPr id="1038" name="Google Shape;1038;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39" name="Google Shape;1039;p85"/>
          <p:cNvPicPr preferRelativeResize="0"/>
          <p:nvPr/>
        </p:nvPicPr>
        <p:blipFill rotWithShape="1">
          <a:blip r:embed="rId3">
            <a:alphaModFix/>
          </a:blip>
          <a:srcRect b="0" l="0" r="0" t="0"/>
          <a:stretch/>
        </p:blipFill>
        <p:spPr>
          <a:xfrm>
            <a:off x="1861961" y="331963"/>
            <a:ext cx="8468078" cy="6194073"/>
          </a:xfrm>
          <a:prstGeom prst="rect">
            <a:avLst/>
          </a:prstGeom>
          <a:noFill/>
          <a:ln>
            <a:noFill/>
          </a:ln>
        </p:spPr>
      </p:pic>
    </p:spTree>
  </p:cSld>
  <p:clrMapOvr>
    <a:masterClrMapping/>
  </p:clrMapOvr>
  <p:transition spd="slow">
    <p:push/>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3" name="Shape 1043"/>
        <p:cNvGrpSpPr/>
        <p:nvPr/>
      </p:nvGrpSpPr>
      <p:grpSpPr>
        <a:xfrm>
          <a:off x="0" y="0"/>
          <a:ext cx="0" cy="0"/>
          <a:chOff x="0" y="0"/>
          <a:chExt cx="0" cy="0"/>
        </a:xfrm>
      </p:grpSpPr>
      <p:sp>
        <p:nvSpPr>
          <p:cNvPr id="1044" name="Google Shape;1044;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45" name="Google Shape;1045;p86"/>
          <p:cNvPicPr preferRelativeResize="0"/>
          <p:nvPr/>
        </p:nvPicPr>
        <p:blipFill rotWithShape="1">
          <a:blip r:embed="rId3">
            <a:alphaModFix/>
          </a:blip>
          <a:srcRect b="0" l="0" r="0" t="0"/>
          <a:stretch/>
        </p:blipFill>
        <p:spPr>
          <a:xfrm>
            <a:off x="1858913" y="335012"/>
            <a:ext cx="8474174" cy="6187976"/>
          </a:xfrm>
          <a:prstGeom prst="rect">
            <a:avLst/>
          </a:prstGeom>
          <a:noFill/>
          <a:ln>
            <a:noFill/>
          </a:ln>
        </p:spPr>
      </p:pic>
    </p:spTree>
  </p:cSld>
  <p:clrMapOvr>
    <a:masterClrMapping/>
  </p:clrMapOvr>
  <p:transition spd="slow">
    <p:push/>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sp>
        <p:nvSpPr>
          <p:cNvPr id="1050" name="Google Shape;1050;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51" name="Google Shape;1051;p87"/>
          <p:cNvPicPr preferRelativeResize="0"/>
          <p:nvPr/>
        </p:nvPicPr>
        <p:blipFill rotWithShape="1">
          <a:blip r:embed="rId3">
            <a:alphaModFix/>
          </a:blip>
          <a:srcRect b="0" l="0" r="0" t="0"/>
          <a:stretch/>
        </p:blipFill>
        <p:spPr>
          <a:xfrm>
            <a:off x="1825382" y="94199"/>
            <a:ext cx="8541236" cy="6669602"/>
          </a:xfrm>
          <a:prstGeom prst="rect">
            <a:avLst/>
          </a:prstGeom>
          <a:noFill/>
          <a:ln>
            <a:noFill/>
          </a:ln>
        </p:spPr>
      </p:pic>
    </p:spTree>
  </p:cSld>
  <p:clrMapOvr>
    <a:masterClrMapping/>
  </p:clrMapOvr>
  <p:transition spd="slow">
    <p:push/>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57" name="Google Shape;1057;p88"/>
          <p:cNvPicPr preferRelativeResize="0"/>
          <p:nvPr/>
        </p:nvPicPr>
        <p:blipFill rotWithShape="1">
          <a:blip r:embed="rId3">
            <a:alphaModFix/>
          </a:blip>
          <a:srcRect b="0" l="0" r="0" t="0"/>
          <a:stretch/>
        </p:blipFill>
        <p:spPr>
          <a:xfrm>
            <a:off x="1825382" y="97247"/>
            <a:ext cx="8541236" cy="6663506"/>
          </a:xfrm>
          <a:prstGeom prst="rect">
            <a:avLst/>
          </a:prstGeom>
          <a:noFill/>
          <a:ln>
            <a:noFill/>
          </a:ln>
        </p:spPr>
      </p:pic>
    </p:spTree>
  </p:cSld>
  <p:clrMapOvr>
    <a:masterClrMapping/>
  </p:clrMapOvr>
  <p:transition spd="slow">
    <p:push/>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63" name="Google Shape;1063;p89"/>
          <p:cNvPicPr preferRelativeResize="0"/>
          <p:nvPr/>
        </p:nvPicPr>
        <p:blipFill rotWithShape="1">
          <a:blip r:embed="rId3">
            <a:alphaModFix/>
          </a:blip>
          <a:srcRect b="0" l="0" r="0" t="0"/>
          <a:stretch/>
        </p:blipFill>
        <p:spPr>
          <a:xfrm>
            <a:off x="1825382" y="94199"/>
            <a:ext cx="8541236" cy="6669602"/>
          </a:xfrm>
          <a:prstGeom prst="rect">
            <a:avLst/>
          </a:prstGeom>
          <a:noFill/>
          <a:ln>
            <a:noFill/>
          </a:ln>
        </p:spPr>
      </p:pic>
    </p:spTree>
  </p:cSld>
  <p:clrMapOvr>
    <a:masterClrMapping/>
  </p:clrMapOvr>
  <p:transition spd="slow">
    <p:push/>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69" name="Google Shape;1069;p90"/>
          <p:cNvPicPr preferRelativeResize="0"/>
          <p:nvPr/>
        </p:nvPicPr>
        <p:blipFill rotWithShape="1">
          <a:blip r:embed="rId3">
            <a:alphaModFix/>
          </a:blip>
          <a:srcRect b="0" l="0" r="0" t="0"/>
          <a:stretch/>
        </p:blipFill>
        <p:spPr>
          <a:xfrm>
            <a:off x="1825382" y="94199"/>
            <a:ext cx="8541236" cy="6669602"/>
          </a:xfrm>
          <a:prstGeom prst="rect">
            <a:avLst/>
          </a:prstGeom>
          <a:noFill/>
          <a:ln>
            <a:noFill/>
          </a:ln>
        </p:spPr>
      </p:pic>
    </p:spTree>
  </p:cSld>
  <p:clrMapOvr>
    <a:masterClrMapping/>
  </p:clrMapOvr>
  <p:transition spd="slow">
    <p:push/>
  </p:transition>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9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75" name="Google Shape;1075;p91"/>
          <p:cNvPicPr preferRelativeResize="0"/>
          <p:nvPr/>
        </p:nvPicPr>
        <p:blipFill rotWithShape="1">
          <a:blip r:embed="rId3">
            <a:alphaModFix/>
          </a:blip>
          <a:srcRect b="0" l="0" r="0" t="0"/>
          <a:stretch/>
        </p:blipFill>
        <p:spPr>
          <a:xfrm>
            <a:off x="1865009" y="335012"/>
            <a:ext cx="8461981" cy="6187976"/>
          </a:xfrm>
          <a:prstGeom prst="rect">
            <a:avLst/>
          </a:prstGeom>
          <a:noFill/>
          <a:ln>
            <a:noFill/>
          </a:ln>
        </p:spPr>
      </p:pic>
    </p:spTree>
  </p:cSld>
  <p:clrMapOvr>
    <a:masterClrMapping/>
  </p:clrMapOvr>
  <p:transition spd="slow">
    <p:push/>
  </p:transition>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9" name="Shape 1079"/>
        <p:cNvGrpSpPr/>
        <p:nvPr/>
      </p:nvGrpSpPr>
      <p:grpSpPr>
        <a:xfrm>
          <a:off x="0" y="0"/>
          <a:ext cx="0" cy="0"/>
          <a:chOff x="0" y="0"/>
          <a:chExt cx="0" cy="0"/>
        </a:xfrm>
      </p:grpSpPr>
      <p:sp>
        <p:nvSpPr>
          <p:cNvPr id="1080" name="Google Shape;1080;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81" name="Google Shape;1081;p92"/>
          <p:cNvPicPr preferRelativeResize="0"/>
          <p:nvPr/>
        </p:nvPicPr>
        <p:blipFill rotWithShape="1">
          <a:blip r:embed="rId3">
            <a:alphaModFix/>
          </a:blip>
          <a:srcRect b="0" l="0" r="0" t="0"/>
          <a:stretch/>
        </p:blipFill>
        <p:spPr>
          <a:xfrm>
            <a:off x="1865009" y="331963"/>
            <a:ext cx="8461981" cy="6194073"/>
          </a:xfrm>
          <a:prstGeom prst="rect">
            <a:avLst/>
          </a:prstGeom>
          <a:noFill/>
          <a:ln>
            <a:noFill/>
          </a:ln>
        </p:spPr>
      </p:pic>
    </p:spTree>
  </p:cSld>
  <p:clrMapOvr>
    <a:masterClrMapping/>
  </p:clrMapOvr>
  <p:transition spd="slow">
    <p:push/>
  </p:transition>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9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87" name="Google Shape;1087;p93"/>
          <p:cNvPicPr preferRelativeResize="0"/>
          <p:nvPr/>
        </p:nvPicPr>
        <p:blipFill rotWithShape="1">
          <a:blip r:embed="rId3">
            <a:alphaModFix/>
          </a:blip>
          <a:srcRect b="0" l="0" r="0" t="0"/>
          <a:stretch/>
        </p:blipFill>
        <p:spPr>
          <a:xfrm>
            <a:off x="1868057" y="335012"/>
            <a:ext cx="8455885" cy="6187976"/>
          </a:xfrm>
          <a:prstGeom prst="rect">
            <a:avLst/>
          </a:prstGeom>
          <a:noFill/>
          <a:ln>
            <a:noFill/>
          </a:ln>
        </p:spPr>
      </p:pic>
    </p:spTree>
  </p:cSld>
  <p:clrMapOvr>
    <a:masterClrMapping/>
  </p:clrMapOvr>
  <p:transition spd="slow">
    <p:push/>
  </p:transition>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93" name="Google Shape;1093;p94"/>
          <p:cNvPicPr preferRelativeResize="0"/>
          <p:nvPr/>
        </p:nvPicPr>
        <p:blipFill rotWithShape="1">
          <a:blip r:embed="rId3">
            <a:alphaModFix/>
          </a:blip>
          <a:srcRect b="0" l="0" r="0" t="0"/>
          <a:stretch/>
        </p:blipFill>
        <p:spPr>
          <a:xfrm>
            <a:off x="1865009" y="335012"/>
            <a:ext cx="8461981" cy="6187976"/>
          </a:xfrm>
          <a:prstGeom prst="rect">
            <a:avLst/>
          </a:prstGeom>
          <a:noFill/>
          <a:ln>
            <a:noFill/>
          </a:ln>
        </p:spPr>
      </p:pic>
    </p:spTree>
  </p:cSld>
  <p:clrMapOvr>
    <a:masterClrMapping/>
  </p:clrMapOvr>
  <p:transition spd="slow">
    <p:push/>
  </p:transition>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9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099" name="Google Shape;1099;p95"/>
          <p:cNvPicPr preferRelativeResize="0"/>
          <p:nvPr/>
        </p:nvPicPr>
        <p:blipFill rotWithShape="1">
          <a:blip r:embed="rId3">
            <a:alphaModFix/>
          </a:blip>
          <a:srcRect b="0" l="0" r="0" t="0"/>
          <a:stretch/>
        </p:blipFill>
        <p:spPr>
          <a:xfrm>
            <a:off x="460806" y="443796"/>
            <a:ext cx="5446497" cy="2985204"/>
          </a:xfrm>
          <a:prstGeom prst="rect">
            <a:avLst/>
          </a:prstGeom>
          <a:noFill/>
          <a:ln>
            <a:noFill/>
          </a:ln>
        </p:spPr>
      </p:pic>
      <p:pic>
        <p:nvPicPr>
          <p:cNvPr id="1100" name="Google Shape;1100;p95"/>
          <p:cNvPicPr preferRelativeResize="0"/>
          <p:nvPr/>
        </p:nvPicPr>
        <p:blipFill rotWithShape="1">
          <a:blip r:embed="rId4">
            <a:alphaModFix/>
          </a:blip>
          <a:srcRect b="0" l="0" r="0" t="0"/>
          <a:stretch/>
        </p:blipFill>
        <p:spPr>
          <a:xfrm>
            <a:off x="5907303" y="443796"/>
            <a:ext cx="5446497" cy="2985204"/>
          </a:xfrm>
          <a:prstGeom prst="rect">
            <a:avLst/>
          </a:prstGeom>
          <a:noFill/>
          <a:ln>
            <a:noFill/>
          </a:ln>
        </p:spPr>
      </p:pic>
      <p:pic>
        <p:nvPicPr>
          <p:cNvPr id="1101" name="Google Shape;1101;p95"/>
          <p:cNvPicPr preferRelativeResize="0"/>
          <p:nvPr/>
        </p:nvPicPr>
        <p:blipFill rotWithShape="1">
          <a:blip r:embed="rId5">
            <a:alphaModFix/>
          </a:blip>
          <a:srcRect b="0" l="0" r="0" t="0"/>
          <a:stretch/>
        </p:blipFill>
        <p:spPr>
          <a:xfrm>
            <a:off x="460805" y="3507671"/>
            <a:ext cx="5446497" cy="2994729"/>
          </a:xfrm>
          <a:prstGeom prst="rect">
            <a:avLst/>
          </a:prstGeom>
          <a:noFill/>
          <a:ln>
            <a:noFill/>
          </a:ln>
        </p:spPr>
      </p:pic>
      <p:pic>
        <p:nvPicPr>
          <p:cNvPr id="1102" name="Google Shape;1102;p95"/>
          <p:cNvPicPr preferRelativeResize="0"/>
          <p:nvPr/>
        </p:nvPicPr>
        <p:blipFill rotWithShape="1">
          <a:blip r:embed="rId6">
            <a:alphaModFix/>
          </a:blip>
          <a:srcRect b="0" l="0" r="0" t="0"/>
          <a:stretch/>
        </p:blipFill>
        <p:spPr>
          <a:xfrm>
            <a:off x="5907303" y="3507671"/>
            <a:ext cx="5446497" cy="2985204"/>
          </a:xfrm>
          <a:prstGeom prst="rect">
            <a:avLst/>
          </a:prstGeom>
          <a:noFill/>
          <a:ln>
            <a:noFill/>
          </a:ln>
        </p:spPr>
      </p:pic>
    </p:spTree>
  </p:cSld>
  <p:clrMapOvr>
    <a:masterClrMapping/>
  </p:clrMapOvr>
  <p:transition spd="slow">
    <p:push/>
  </p:transition>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id="1107" name="Google Shape;1107;p96"/>
          <p:cNvPicPr preferRelativeResize="0"/>
          <p:nvPr/>
        </p:nvPicPr>
        <p:blipFill rotWithShape="1">
          <a:blip r:embed="rId3">
            <a:alphaModFix/>
          </a:blip>
          <a:srcRect b="0" l="0" r="0" t="0"/>
          <a:stretch/>
        </p:blipFill>
        <p:spPr>
          <a:xfrm>
            <a:off x="11665" y="167930"/>
            <a:ext cx="6084335" cy="3328704"/>
          </a:xfrm>
          <a:prstGeom prst="rect">
            <a:avLst/>
          </a:prstGeom>
          <a:noFill/>
          <a:ln>
            <a:noFill/>
          </a:ln>
        </p:spPr>
      </p:pic>
      <p:pic>
        <p:nvPicPr>
          <p:cNvPr id="1108" name="Google Shape;1108;p96"/>
          <p:cNvPicPr preferRelativeResize="0"/>
          <p:nvPr/>
        </p:nvPicPr>
        <p:blipFill rotWithShape="1">
          <a:blip r:embed="rId4">
            <a:alphaModFix/>
          </a:blip>
          <a:srcRect b="0" l="0" r="0" t="0"/>
          <a:stretch/>
        </p:blipFill>
        <p:spPr>
          <a:xfrm>
            <a:off x="6107665" y="170542"/>
            <a:ext cx="6084335" cy="3334801"/>
          </a:xfrm>
          <a:prstGeom prst="rect">
            <a:avLst/>
          </a:prstGeom>
          <a:noFill/>
          <a:ln>
            <a:noFill/>
          </a:ln>
        </p:spPr>
      </p:pic>
      <p:pic>
        <p:nvPicPr>
          <p:cNvPr id="1109" name="Google Shape;1109;p96"/>
          <p:cNvPicPr preferRelativeResize="0"/>
          <p:nvPr/>
        </p:nvPicPr>
        <p:blipFill rotWithShape="1">
          <a:blip r:embed="rId5">
            <a:alphaModFix/>
          </a:blip>
          <a:srcRect b="0" l="0" r="0" t="0"/>
          <a:stretch/>
        </p:blipFill>
        <p:spPr>
          <a:xfrm>
            <a:off x="0" y="3496634"/>
            <a:ext cx="6084335" cy="3334801"/>
          </a:xfrm>
          <a:prstGeom prst="rect">
            <a:avLst/>
          </a:prstGeom>
          <a:noFill/>
          <a:ln>
            <a:noFill/>
          </a:ln>
        </p:spPr>
      </p:pic>
      <p:pic>
        <p:nvPicPr>
          <p:cNvPr id="1110" name="Google Shape;1110;p96"/>
          <p:cNvPicPr preferRelativeResize="0"/>
          <p:nvPr/>
        </p:nvPicPr>
        <p:blipFill rotWithShape="1">
          <a:blip r:embed="rId6">
            <a:alphaModFix/>
          </a:blip>
          <a:srcRect b="0" l="0" r="0" t="0"/>
          <a:stretch/>
        </p:blipFill>
        <p:spPr>
          <a:xfrm>
            <a:off x="6107665" y="3505343"/>
            <a:ext cx="6084335" cy="3328704"/>
          </a:xfrm>
          <a:prstGeom prst="rect">
            <a:avLst/>
          </a:prstGeom>
          <a:noFill/>
          <a:ln>
            <a:noFill/>
          </a:ln>
        </p:spPr>
      </p:pic>
    </p:spTree>
  </p:cSld>
  <p:clrMapOvr>
    <a:masterClrMapping/>
  </p:clrMapOvr>
  <p:transition spd="slow">
    <p:push/>
  </p:transition>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4" name="Shape 1114"/>
        <p:cNvGrpSpPr/>
        <p:nvPr/>
      </p:nvGrpSpPr>
      <p:grpSpPr>
        <a:xfrm>
          <a:off x="0" y="0"/>
          <a:ext cx="0" cy="0"/>
          <a:chOff x="0" y="0"/>
          <a:chExt cx="0" cy="0"/>
        </a:xfrm>
      </p:grpSpPr>
      <p:sp>
        <p:nvSpPr>
          <p:cNvPr id="1115" name="Google Shape;1115;p9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13800"/>
              <a:t> </a:t>
            </a:r>
            <a:r>
              <a:rPr lang="en-US" sz="13800"/>
              <a:t>Particle Size</a:t>
            </a:r>
            <a:endParaRPr/>
          </a:p>
        </p:txBody>
      </p:sp>
    </p:spTree>
  </p:cSld>
  <p:clrMapOvr>
    <a:masterClrMapping/>
  </p:clrMapOvr>
  <p:transition spd="slow">
    <p:push/>
  </p:transition>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9" name="Shape 1119"/>
        <p:cNvGrpSpPr/>
        <p:nvPr/>
      </p:nvGrpSpPr>
      <p:grpSpPr>
        <a:xfrm>
          <a:off x="0" y="0"/>
          <a:ext cx="0" cy="0"/>
          <a:chOff x="0" y="0"/>
          <a:chExt cx="0" cy="0"/>
        </a:xfrm>
      </p:grpSpPr>
      <p:sp>
        <p:nvSpPr>
          <p:cNvPr id="1120" name="Google Shape;1120;p9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21" name="Google Shape;1121;p98"/>
          <p:cNvPicPr preferRelativeResize="0"/>
          <p:nvPr/>
        </p:nvPicPr>
        <p:blipFill rotWithShape="1">
          <a:blip r:embed="rId3">
            <a:alphaModFix/>
          </a:blip>
          <a:srcRect b="0" l="0" r="0" t="0"/>
          <a:stretch/>
        </p:blipFill>
        <p:spPr>
          <a:xfrm>
            <a:off x="1791851" y="14944"/>
            <a:ext cx="8608298" cy="6828112"/>
          </a:xfrm>
          <a:prstGeom prst="rect">
            <a:avLst/>
          </a:prstGeom>
          <a:noFill/>
          <a:ln>
            <a:noFill/>
          </a:ln>
        </p:spPr>
      </p:pic>
    </p:spTree>
  </p:cSld>
  <p:clrMapOvr>
    <a:masterClrMapping/>
  </p:clrMapOvr>
  <p:transition spd="slow">
    <p:push/>
  </p:transition>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9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27" name="Google Shape;1127;p99"/>
          <p:cNvPicPr preferRelativeResize="0"/>
          <p:nvPr/>
        </p:nvPicPr>
        <p:blipFill rotWithShape="1">
          <a:blip r:embed="rId3">
            <a:alphaModFix/>
          </a:blip>
          <a:srcRect b="0" l="0" r="0" t="0"/>
          <a:stretch/>
        </p:blipFill>
        <p:spPr>
          <a:xfrm>
            <a:off x="1861961" y="14944"/>
            <a:ext cx="8468078" cy="6828112"/>
          </a:xfrm>
          <a:prstGeom prst="rect">
            <a:avLst/>
          </a:prstGeom>
          <a:noFill/>
          <a:ln>
            <a:noFill/>
          </a:ln>
        </p:spPr>
      </p:pic>
    </p:spTree>
  </p:cSld>
  <p:clrMapOvr>
    <a:masterClrMapping/>
  </p:clrMapOvr>
  <p:transition spd="slow">
    <p:push/>
  </p:transition>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p10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33" name="Google Shape;1133;p100"/>
          <p:cNvPicPr preferRelativeResize="0"/>
          <p:nvPr/>
        </p:nvPicPr>
        <p:blipFill rotWithShape="1">
          <a:blip r:embed="rId3">
            <a:alphaModFix/>
          </a:blip>
          <a:srcRect b="0" l="0" r="0" t="0"/>
          <a:stretch/>
        </p:blipFill>
        <p:spPr>
          <a:xfrm>
            <a:off x="1794899" y="11896"/>
            <a:ext cx="8602202" cy="6834208"/>
          </a:xfrm>
          <a:prstGeom prst="rect">
            <a:avLst/>
          </a:prstGeom>
          <a:noFill/>
          <a:ln>
            <a:noFill/>
          </a:ln>
        </p:spPr>
      </p:pic>
    </p:spTree>
  </p:cSld>
  <p:clrMapOvr>
    <a:masterClrMapping/>
  </p:clrMapOvr>
  <p:transition spd="slow">
    <p:push/>
  </p:transition>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10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39" name="Google Shape;1139;p101"/>
          <p:cNvPicPr preferRelativeResize="0"/>
          <p:nvPr/>
        </p:nvPicPr>
        <p:blipFill rotWithShape="1">
          <a:blip r:embed="rId3">
            <a:alphaModFix/>
          </a:blip>
          <a:srcRect b="0" l="0" r="0" t="0"/>
          <a:stretch/>
        </p:blipFill>
        <p:spPr>
          <a:xfrm>
            <a:off x="1889395" y="14944"/>
            <a:ext cx="8413209" cy="6828112"/>
          </a:xfrm>
          <a:prstGeom prst="rect">
            <a:avLst/>
          </a:prstGeom>
          <a:noFill/>
          <a:ln>
            <a:noFill/>
          </a:ln>
        </p:spPr>
      </p:pic>
    </p:spTree>
  </p:cSld>
  <p:clrMapOvr>
    <a:masterClrMapping/>
  </p:clrMapOvr>
  <p:transition spd="slow">
    <p:push/>
  </p:transition>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3" name="Shape 1143"/>
        <p:cNvGrpSpPr/>
        <p:nvPr/>
      </p:nvGrpSpPr>
      <p:grpSpPr>
        <a:xfrm>
          <a:off x="0" y="0"/>
          <a:ext cx="0" cy="0"/>
          <a:chOff x="0" y="0"/>
          <a:chExt cx="0" cy="0"/>
        </a:xfrm>
      </p:grpSpPr>
      <p:sp>
        <p:nvSpPr>
          <p:cNvPr id="1144" name="Google Shape;1144;p10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228600" rtl="0" algn="l">
              <a:lnSpc>
                <a:spcPct val="90000"/>
              </a:lnSpc>
              <a:spcBef>
                <a:spcPts val="0"/>
              </a:spcBef>
              <a:spcAft>
                <a:spcPts val="0"/>
              </a:spcAft>
              <a:buNone/>
            </a:pPr>
            <a:r>
              <a:rPr lang="en-US" sz="13800"/>
              <a:t> </a:t>
            </a:r>
            <a:r>
              <a:rPr lang="en-US" sz="13800"/>
              <a:t>Gasifier Type</a:t>
            </a:r>
            <a:endParaRPr/>
          </a:p>
        </p:txBody>
      </p:sp>
    </p:spTree>
  </p:cSld>
  <p:clrMapOvr>
    <a:masterClrMapping/>
  </p:clrMapOvr>
  <p:transition spd="slow">
    <p:push/>
  </p:transition>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10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50" name="Google Shape;1150;p103"/>
          <p:cNvPicPr preferRelativeResize="0"/>
          <p:nvPr/>
        </p:nvPicPr>
        <p:blipFill rotWithShape="1">
          <a:blip r:embed="rId3">
            <a:alphaModFix/>
          </a:blip>
          <a:srcRect b="0" l="0" r="0" t="0"/>
          <a:stretch/>
        </p:blipFill>
        <p:spPr>
          <a:xfrm>
            <a:off x="2279573" y="219178"/>
            <a:ext cx="7632854" cy="6419644"/>
          </a:xfrm>
          <a:prstGeom prst="rect">
            <a:avLst/>
          </a:prstGeom>
          <a:noFill/>
          <a:ln>
            <a:noFill/>
          </a:ln>
        </p:spPr>
      </p:pic>
    </p:spTree>
  </p:cSld>
  <p:clrMapOvr>
    <a:masterClrMapping/>
  </p:clrMapOvr>
  <p:transition spd="slow">
    <p:push/>
  </p:transition>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0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56" name="Google Shape;1156;p104"/>
          <p:cNvPicPr preferRelativeResize="0"/>
          <p:nvPr/>
        </p:nvPicPr>
        <p:blipFill rotWithShape="1">
          <a:blip r:embed="rId3">
            <a:alphaModFix/>
          </a:blip>
          <a:srcRect b="0" l="0" r="0" t="0"/>
          <a:stretch/>
        </p:blipFill>
        <p:spPr>
          <a:xfrm>
            <a:off x="2279573" y="219178"/>
            <a:ext cx="7632854" cy="6419644"/>
          </a:xfrm>
          <a:prstGeom prst="rect">
            <a:avLst/>
          </a:prstGeom>
          <a:noFill/>
          <a:ln>
            <a:noFill/>
          </a:ln>
        </p:spPr>
      </p:pic>
    </p:spTree>
  </p:cSld>
  <p:clrMapOvr>
    <a:masterClrMapping/>
  </p:clrMapOvr>
  <p:transition spd="slow">
    <p:push/>
  </p:transition>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0" name="Shape 1160"/>
        <p:cNvGrpSpPr/>
        <p:nvPr/>
      </p:nvGrpSpPr>
      <p:grpSpPr>
        <a:xfrm>
          <a:off x="0" y="0"/>
          <a:ext cx="0" cy="0"/>
          <a:chOff x="0" y="0"/>
          <a:chExt cx="0" cy="0"/>
        </a:xfrm>
      </p:grpSpPr>
      <p:sp>
        <p:nvSpPr>
          <p:cNvPr id="1161" name="Google Shape;1161;p10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62" name="Google Shape;1162;p105"/>
          <p:cNvPicPr preferRelativeResize="0"/>
          <p:nvPr/>
        </p:nvPicPr>
        <p:blipFill rotWithShape="1">
          <a:blip r:embed="rId3">
            <a:alphaModFix/>
          </a:blip>
          <a:srcRect b="0" l="0" r="0" t="0"/>
          <a:stretch/>
        </p:blipFill>
        <p:spPr>
          <a:xfrm>
            <a:off x="2267380" y="219178"/>
            <a:ext cx="7657240" cy="6419644"/>
          </a:xfrm>
          <a:prstGeom prst="rect">
            <a:avLst/>
          </a:prstGeom>
          <a:noFill/>
          <a:ln>
            <a:noFill/>
          </a:ln>
        </p:spPr>
      </p:pic>
    </p:spTree>
  </p:cSld>
  <p:clrMapOvr>
    <a:masterClrMapping/>
  </p:clrMapOvr>
  <p:transition spd="slow">
    <p:push/>
  </p:transition>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10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68" name="Google Shape;1168;p106"/>
          <p:cNvPicPr preferRelativeResize="0"/>
          <p:nvPr/>
        </p:nvPicPr>
        <p:blipFill rotWithShape="1">
          <a:blip r:embed="rId3">
            <a:alphaModFix/>
          </a:blip>
          <a:srcRect b="0" l="0" r="0" t="0"/>
          <a:stretch/>
        </p:blipFill>
        <p:spPr>
          <a:xfrm>
            <a:off x="2267380" y="222226"/>
            <a:ext cx="7657240" cy="6413548"/>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2018-04-30T19:33:48Z</dcterms:created>
  <dc:creator>Mohsen Dirbaz</dc:creator>
</cp:coreProperties>
</file>